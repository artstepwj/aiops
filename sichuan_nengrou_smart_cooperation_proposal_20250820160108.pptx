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2192000" cy="6857142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50" b="1" i="0">
                <a:solidFill>
                  <a:srgbClr val="2562EB"/>
                </a:solidFill>
                <a:latin typeface="Microsoft JhengHei"/>
                <a:cs typeface="Microsoft JhengHe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50" b="1" i="0">
                <a:solidFill>
                  <a:srgbClr val="2562EB"/>
                </a:solidFill>
                <a:latin typeface="Microsoft JhengHei"/>
                <a:cs typeface="Microsoft JhengHe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19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6857999"/>
                </a:lnTo>
                <a:close/>
              </a:path>
            </a:pathLst>
          </a:custGeom>
          <a:solidFill>
            <a:srgbClr val="F7FAF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1987" y="0"/>
                </a:moveTo>
                <a:lnTo>
                  <a:pt x="7315187" y="0"/>
                </a:lnTo>
                <a:lnTo>
                  <a:pt x="7315187" y="4572000"/>
                </a:lnTo>
                <a:lnTo>
                  <a:pt x="0" y="4572000"/>
                </a:lnTo>
                <a:lnTo>
                  <a:pt x="0" y="6858000"/>
                </a:lnTo>
                <a:lnTo>
                  <a:pt x="7315187" y="6858000"/>
                </a:lnTo>
                <a:lnTo>
                  <a:pt x="12191987" y="6858000"/>
                </a:lnTo>
                <a:lnTo>
                  <a:pt x="12191987" y="0"/>
                </a:lnTo>
                <a:close/>
              </a:path>
            </a:pathLst>
          </a:custGeom>
          <a:solidFill>
            <a:srgbClr val="EFF5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609599" y="1066799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914399" y="38099"/>
                </a:moveTo>
                <a:lnTo>
                  <a:pt x="0" y="38099"/>
                </a:lnTo>
                <a:lnTo>
                  <a:pt x="0" y="0"/>
                </a:lnTo>
                <a:lnTo>
                  <a:pt x="914399" y="0"/>
                </a:lnTo>
                <a:lnTo>
                  <a:pt x="914399" y="38099"/>
                </a:lnTo>
                <a:close/>
              </a:path>
            </a:pathLst>
          </a:custGeom>
          <a:solidFill>
            <a:srgbClr val="3B81F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50" b="1" i="0">
                <a:solidFill>
                  <a:srgbClr val="2562EB"/>
                </a:solidFill>
                <a:latin typeface="Microsoft JhengHei"/>
                <a:cs typeface="Microsoft JhengHe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50" b="1" i="0">
                <a:solidFill>
                  <a:srgbClr val="2562EB"/>
                </a:solidFill>
                <a:latin typeface="Microsoft JhengHei"/>
                <a:cs typeface="Microsoft JhengHe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19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6857999"/>
                </a:lnTo>
                <a:close/>
              </a:path>
            </a:pathLst>
          </a:custGeom>
          <a:solidFill>
            <a:srgbClr val="F7FAF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1987" y="0"/>
                </a:moveTo>
                <a:lnTo>
                  <a:pt x="7315187" y="0"/>
                </a:lnTo>
                <a:lnTo>
                  <a:pt x="7315187" y="4572000"/>
                </a:lnTo>
                <a:lnTo>
                  <a:pt x="0" y="4572000"/>
                </a:lnTo>
                <a:lnTo>
                  <a:pt x="0" y="6858000"/>
                </a:lnTo>
                <a:lnTo>
                  <a:pt x="7315187" y="6858000"/>
                </a:lnTo>
                <a:lnTo>
                  <a:pt x="12191987" y="6858000"/>
                </a:lnTo>
                <a:lnTo>
                  <a:pt x="12191987" y="0"/>
                </a:lnTo>
                <a:close/>
              </a:path>
            </a:pathLst>
          </a:custGeom>
          <a:solidFill>
            <a:srgbClr val="EFF5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96899" y="552323"/>
            <a:ext cx="3111500" cy="4908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50" b="1" i="0">
                <a:solidFill>
                  <a:srgbClr val="2562EB"/>
                </a:solidFill>
                <a:latin typeface="Microsoft JhengHei"/>
                <a:cs typeface="Microsoft JhengHe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10.png"/><Relationship Id="rId9" Type="http://schemas.openxmlformats.org/officeDocument/2006/relationships/image" Target="../media/image11.png"/><Relationship Id="rId10" Type="http://schemas.openxmlformats.org/officeDocument/2006/relationships/image" Target="../media/image12.png"/><Relationship Id="rId11" Type="http://schemas.openxmlformats.org/officeDocument/2006/relationships/image" Target="../media/image13.png"/><Relationship Id="rId1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13.png"/><Relationship Id="rId6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13.png"/><Relationship Id="rId6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13.png"/><Relationship Id="rId6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6.png"/><Relationship Id="rId3" Type="http://schemas.openxmlformats.org/officeDocument/2006/relationships/image" Target="../media/image24.png"/><Relationship Id="rId4" Type="http://schemas.openxmlformats.org/officeDocument/2006/relationships/image" Target="../media/image27.png"/><Relationship Id="rId5" Type="http://schemas.openxmlformats.org/officeDocument/2006/relationships/image" Target="../media/image13.png"/><Relationship Id="rId6" Type="http://schemas.openxmlformats.org/officeDocument/2006/relationships/image" Target="../media/image28.png"/><Relationship Id="rId7" Type="http://schemas.openxmlformats.org/officeDocument/2006/relationships/image" Target="../media/image29.png"/><Relationship Id="rId8" Type="http://schemas.openxmlformats.org/officeDocument/2006/relationships/image" Target="../media/image30.png"/><Relationship Id="rId9" Type="http://schemas.openxmlformats.org/officeDocument/2006/relationships/image" Target="../media/image31.png"/><Relationship Id="rId10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2.png"/><Relationship Id="rId3" Type="http://schemas.openxmlformats.org/officeDocument/2006/relationships/image" Target="../media/image33.png"/><Relationship Id="rId4" Type="http://schemas.openxmlformats.org/officeDocument/2006/relationships/image" Target="../media/image13.png"/><Relationship Id="rId5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image" Target="../media/image13.png"/><Relationship Id="rId6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7.png"/><Relationship Id="rId3" Type="http://schemas.openxmlformats.org/officeDocument/2006/relationships/image" Target="../media/image38.png"/><Relationship Id="rId4" Type="http://schemas.openxmlformats.org/officeDocument/2006/relationships/image" Target="../media/image39.png"/><Relationship Id="rId5" Type="http://schemas.openxmlformats.org/officeDocument/2006/relationships/image" Target="../media/image13.png"/><Relationship Id="rId6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3" Type="http://schemas.openxmlformats.org/officeDocument/2006/relationships/image" Target="../media/image40.png"/><Relationship Id="rId4" Type="http://schemas.openxmlformats.org/officeDocument/2006/relationships/image" Target="../media/image41.png"/><Relationship Id="rId5" Type="http://schemas.openxmlformats.org/officeDocument/2006/relationships/image" Target="../media/image13.png"/><Relationship Id="rId6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2.png"/><Relationship Id="rId3" Type="http://schemas.openxmlformats.org/officeDocument/2006/relationships/image" Target="../media/image43.png"/><Relationship Id="rId4" Type="http://schemas.openxmlformats.org/officeDocument/2006/relationships/image" Target="../media/image44.png"/><Relationship Id="rId5" Type="http://schemas.openxmlformats.org/officeDocument/2006/relationships/image" Target="../media/image13.png"/><Relationship Id="rId6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29487" y="1233487"/>
            <a:ext cx="2867024" cy="2867024"/>
          </a:xfrm>
          <a:prstGeom prst="rect">
            <a:avLst/>
          </a:prstGeom>
        </p:spPr>
      </p:pic>
      <p:grpSp>
        <p:nvGrpSpPr>
          <p:cNvPr id="3" name="object 3" descr=""/>
          <p:cNvGrpSpPr/>
          <p:nvPr/>
        </p:nvGrpSpPr>
        <p:grpSpPr>
          <a:xfrm>
            <a:off x="609599" y="609599"/>
            <a:ext cx="6581775" cy="2209800"/>
            <a:chOff x="609599" y="609599"/>
            <a:chExt cx="6581775" cy="2209800"/>
          </a:xfrm>
        </p:grpSpPr>
        <p:sp>
          <p:nvSpPr>
            <p:cNvPr id="4" name="object 4" descr=""/>
            <p:cNvSpPr/>
            <p:nvPr/>
          </p:nvSpPr>
          <p:spPr>
            <a:xfrm>
              <a:off x="609599" y="609599"/>
              <a:ext cx="6581775" cy="2209800"/>
            </a:xfrm>
            <a:custGeom>
              <a:avLst/>
              <a:gdLst/>
              <a:ahLst/>
              <a:cxnLst/>
              <a:rect l="l" t="t" r="r" b="b"/>
              <a:pathLst>
                <a:path w="6581775" h="2209800">
                  <a:moveTo>
                    <a:pt x="6510577" y="2209799"/>
                  </a:moveTo>
                  <a:lnTo>
                    <a:pt x="71196" y="2209799"/>
                  </a:lnTo>
                  <a:lnTo>
                    <a:pt x="66241" y="2209311"/>
                  </a:lnTo>
                  <a:lnTo>
                    <a:pt x="29705" y="2194177"/>
                  </a:lnTo>
                  <a:lnTo>
                    <a:pt x="3885" y="2158137"/>
                  </a:lnTo>
                  <a:lnTo>
                    <a:pt x="0" y="2138603"/>
                  </a:lnTo>
                  <a:lnTo>
                    <a:pt x="0" y="2133599"/>
                  </a:lnTo>
                  <a:lnTo>
                    <a:pt x="0" y="71196"/>
                  </a:lnTo>
                  <a:lnTo>
                    <a:pt x="15621" y="29705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6510577" y="0"/>
                  </a:lnTo>
                  <a:lnTo>
                    <a:pt x="6552067" y="15621"/>
                  </a:lnTo>
                  <a:lnTo>
                    <a:pt x="6577888" y="51661"/>
                  </a:lnTo>
                  <a:lnTo>
                    <a:pt x="6581774" y="71196"/>
                  </a:lnTo>
                  <a:lnTo>
                    <a:pt x="6581774" y="2138603"/>
                  </a:lnTo>
                  <a:lnTo>
                    <a:pt x="6566151" y="2180094"/>
                  </a:lnTo>
                  <a:lnTo>
                    <a:pt x="6530111" y="2205913"/>
                  </a:lnTo>
                  <a:lnTo>
                    <a:pt x="6515532" y="2209311"/>
                  </a:lnTo>
                  <a:lnTo>
                    <a:pt x="6510577" y="2209799"/>
                  </a:lnTo>
                  <a:close/>
                </a:path>
              </a:pathLst>
            </a:custGeom>
            <a:solidFill>
              <a:srgbClr val="FFFFFF">
                <a:alpha val="7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914399" y="2057399"/>
              <a:ext cx="914400" cy="38100"/>
            </a:xfrm>
            <a:custGeom>
              <a:avLst/>
              <a:gdLst/>
              <a:ahLst/>
              <a:cxnLst/>
              <a:rect l="l" t="t" r="r" b="b"/>
              <a:pathLst>
                <a:path w="914400" h="38100">
                  <a:moveTo>
                    <a:pt x="914399" y="38099"/>
                  </a:moveTo>
                  <a:lnTo>
                    <a:pt x="0" y="38099"/>
                  </a:lnTo>
                  <a:lnTo>
                    <a:pt x="0" y="0"/>
                  </a:lnTo>
                  <a:lnTo>
                    <a:pt x="914399" y="0"/>
                  </a:lnTo>
                  <a:lnTo>
                    <a:pt x="914399" y="38099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901700" y="857122"/>
            <a:ext cx="4598035" cy="10591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3470"/>
              </a:lnSpc>
              <a:spcBef>
                <a:spcPts val="100"/>
              </a:spcBef>
            </a:pPr>
            <a:r>
              <a:rPr dirty="0" spc="-370">
                <a:solidFill>
                  <a:srgbClr val="1F2937"/>
                </a:solidFill>
                <a:latin typeface="BIZ UDPGothic"/>
                <a:cs typeface="BIZ UDPGothic"/>
              </a:rPr>
              <a:t>四川</a:t>
            </a:r>
            <a:r>
              <a:rPr dirty="0" spc="-370">
                <a:solidFill>
                  <a:srgbClr val="1F2937"/>
                </a:solidFill>
              </a:rPr>
              <a:t>能</a:t>
            </a:r>
            <a:r>
              <a:rPr dirty="0" spc="-370">
                <a:solidFill>
                  <a:srgbClr val="1F2937"/>
                </a:solidFill>
                <a:latin typeface="BIZ UDPGothic"/>
                <a:cs typeface="BIZ UDPGothic"/>
              </a:rPr>
              <a:t>投智慧光</a:t>
            </a:r>
            <a:r>
              <a:rPr dirty="0" spc="-420">
                <a:solidFill>
                  <a:srgbClr val="1F2937"/>
                </a:solidFill>
              </a:rPr>
              <a:t>电</a:t>
            </a:r>
          </a:p>
          <a:p>
            <a:pPr marL="12700">
              <a:lnSpc>
                <a:spcPts val="4670"/>
              </a:lnSpc>
            </a:pPr>
            <a:r>
              <a:rPr dirty="0" sz="4050" spc="-490">
                <a:latin typeface="BIZ UDPGothic"/>
                <a:cs typeface="BIZ UDPGothic"/>
              </a:rPr>
              <a:t>智慧</a:t>
            </a:r>
            <a:r>
              <a:rPr dirty="0" sz="4050" spc="-500"/>
              <a:t>产业生态合作方案</a:t>
            </a:r>
            <a:endParaRPr sz="4050">
              <a:latin typeface="BIZ UDPGothic"/>
              <a:cs typeface="BIZ UDPGothic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901700" y="2231961"/>
            <a:ext cx="3275329" cy="2584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00" spc="-150">
                <a:solidFill>
                  <a:srgbClr val="4A5462"/>
                </a:solidFill>
                <a:latin typeface="SimSun"/>
                <a:cs typeface="SimSun"/>
              </a:rPr>
              <a:t>打造</a:t>
            </a:r>
            <a:r>
              <a:rPr dirty="0" sz="1500" spc="-150">
                <a:solidFill>
                  <a:srgbClr val="4A5462"/>
                </a:solidFill>
                <a:latin typeface="Meiryo"/>
                <a:cs typeface="Meiryo"/>
              </a:rPr>
              <a:t>⾼</a:t>
            </a:r>
            <a:r>
              <a:rPr dirty="0" sz="1500" spc="-175">
                <a:solidFill>
                  <a:srgbClr val="4A5462"/>
                </a:solidFill>
                <a:latin typeface="SimSun"/>
                <a:cs typeface="SimSun"/>
              </a:rPr>
              <a:t>品质科创空间 </a:t>
            </a:r>
            <a:r>
              <a:rPr dirty="0" sz="1350">
                <a:solidFill>
                  <a:srgbClr val="4A5462"/>
                </a:solidFill>
                <a:latin typeface="DejaVu Sans"/>
                <a:cs typeface="DejaVu Sans"/>
              </a:rPr>
              <a:t>· </a:t>
            </a:r>
            <a:r>
              <a:rPr dirty="0" sz="1500" spc="-150">
                <a:solidFill>
                  <a:srgbClr val="4A5462"/>
                </a:solidFill>
                <a:latin typeface="SimSun"/>
                <a:cs typeface="SimSun"/>
              </a:rPr>
              <a:t>构建智慧产业新</a:t>
            </a:r>
            <a:r>
              <a:rPr dirty="0" sz="1500" spc="-150">
                <a:solidFill>
                  <a:srgbClr val="4A5462"/>
                </a:solidFill>
                <a:latin typeface="Meiryo"/>
                <a:cs typeface="Meiryo"/>
              </a:rPr>
              <a:t>⽣</a:t>
            </a:r>
            <a:r>
              <a:rPr dirty="0" sz="1500" spc="-85">
                <a:solidFill>
                  <a:srgbClr val="4A5462"/>
                </a:solidFill>
                <a:latin typeface="SimSun"/>
                <a:cs typeface="SimSun"/>
              </a:rPr>
              <a:t>态</a:t>
            </a:r>
            <a:endParaRPr sz="1500">
              <a:latin typeface="SimSun"/>
              <a:cs typeface="SimSun"/>
            </a:endParaRPr>
          </a:p>
        </p:txBody>
      </p:sp>
      <p:sp>
        <p:nvSpPr>
          <p:cNvPr id="8" name="object 8" descr=""/>
          <p:cNvSpPr/>
          <p:nvPr/>
        </p:nvSpPr>
        <p:spPr>
          <a:xfrm>
            <a:off x="609599" y="4914899"/>
            <a:ext cx="4838700" cy="1333500"/>
          </a:xfrm>
          <a:custGeom>
            <a:avLst/>
            <a:gdLst/>
            <a:ahLst/>
            <a:cxnLst/>
            <a:rect l="l" t="t" r="r" b="b"/>
            <a:pathLst>
              <a:path w="4838700" h="1333500">
                <a:moveTo>
                  <a:pt x="4767502" y="1333499"/>
                </a:moveTo>
                <a:lnTo>
                  <a:pt x="71196" y="1333499"/>
                </a:lnTo>
                <a:lnTo>
                  <a:pt x="66241" y="1333011"/>
                </a:lnTo>
                <a:lnTo>
                  <a:pt x="29705" y="1317877"/>
                </a:lnTo>
                <a:lnTo>
                  <a:pt x="3885" y="1281836"/>
                </a:lnTo>
                <a:lnTo>
                  <a:pt x="0" y="1262303"/>
                </a:lnTo>
                <a:lnTo>
                  <a:pt x="0" y="1257299"/>
                </a:lnTo>
                <a:lnTo>
                  <a:pt x="0" y="71196"/>
                </a:lnTo>
                <a:lnTo>
                  <a:pt x="15621" y="29704"/>
                </a:lnTo>
                <a:lnTo>
                  <a:pt x="51661" y="3885"/>
                </a:lnTo>
                <a:lnTo>
                  <a:pt x="71196" y="0"/>
                </a:lnTo>
                <a:lnTo>
                  <a:pt x="4767502" y="0"/>
                </a:lnTo>
                <a:lnTo>
                  <a:pt x="4808993" y="15621"/>
                </a:lnTo>
                <a:lnTo>
                  <a:pt x="4834813" y="51660"/>
                </a:lnTo>
                <a:lnTo>
                  <a:pt x="4838699" y="71196"/>
                </a:lnTo>
                <a:lnTo>
                  <a:pt x="4838699" y="1262303"/>
                </a:lnTo>
                <a:lnTo>
                  <a:pt x="4823077" y="1303793"/>
                </a:lnTo>
                <a:lnTo>
                  <a:pt x="4787037" y="1329612"/>
                </a:lnTo>
                <a:lnTo>
                  <a:pt x="4772457" y="1333011"/>
                </a:lnTo>
                <a:lnTo>
                  <a:pt x="4767502" y="1333499"/>
                </a:lnTo>
                <a:close/>
              </a:path>
            </a:pathLst>
          </a:custGeom>
          <a:solidFill>
            <a:srgbClr val="FFFFFF">
              <a:alpha val="79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 txBox="1"/>
          <p:nvPr/>
        </p:nvSpPr>
        <p:spPr>
          <a:xfrm>
            <a:off x="825500" y="5045958"/>
            <a:ext cx="2311400" cy="658495"/>
          </a:xfrm>
          <a:prstGeom prst="rect">
            <a:avLst/>
          </a:prstGeom>
        </p:spPr>
        <p:txBody>
          <a:bodyPr wrap="square" lIns="0" tIns="876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90"/>
              </a:spcBef>
            </a:pP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合作双</a:t>
            </a:r>
            <a:r>
              <a:rPr dirty="0" sz="1350" spc="-50">
                <a:solidFill>
                  <a:srgbClr val="374050"/>
                </a:solidFill>
                <a:latin typeface="Meiryo"/>
                <a:cs typeface="Meiryo"/>
              </a:rPr>
              <a:t>⽅</a:t>
            </a:r>
            <a:endParaRPr sz="1350">
              <a:latin typeface="Meiryo"/>
              <a:cs typeface="Meiryo"/>
            </a:endParaRPr>
          </a:p>
          <a:p>
            <a:pPr marL="12700">
              <a:lnSpc>
                <a:spcPct val="100000"/>
              </a:lnSpc>
              <a:spcBef>
                <a:spcPts val="730"/>
              </a:spcBef>
            </a:pPr>
            <a:r>
              <a:rPr dirty="0" sz="1700" spc="-210">
                <a:solidFill>
                  <a:srgbClr val="1F2937"/>
                </a:solidFill>
                <a:latin typeface="SimSun"/>
                <a:cs typeface="SimSun"/>
              </a:rPr>
              <a:t>四</a:t>
            </a:r>
            <a:r>
              <a:rPr dirty="0" sz="1700" spc="-210">
                <a:solidFill>
                  <a:srgbClr val="1F2937"/>
                </a:solidFill>
                <a:latin typeface="Meiryo"/>
                <a:cs typeface="Meiryo"/>
              </a:rPr>
              <a:t>川</a:t>
            </a:r>
            <a:r>
              <a:rPr dirty="0" sz="1700" spc="-204">
                <a:solidFill>
                  <a:srgbClr val="1F2937"/>
                </a:solidFill>
                <a:latin typeface="SimSun"/>
                <a:cs typeface="SimSun"/>
              </a:rPr>
              <a:t>能投智慧光电有限公司</a:t>
            </a:r>
            <a:endParaRPr sz="1700">
              <a:latin typeface="SimSun"/>
              <a:cs typeface="SimSun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825500" y="5725159"/>
            <a:ext cx="4406900" cy="2838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700" spc="-210">
                <a:solidFill>
                  <a:srgbClr val="1F2937"/>
                </a:solidFill>
                <a:latin typeface="SimSun"/>
                <a:cs typeface="SimSun"/>
              </a:rPr>
              <a:t>电</a:t>
            </a:r>
            <a:r>
              <a:rPr dirty="0" sz="1700" spc="-210">
                <a:solidFill>
                  <a:srgbClr val="1F2937"/>
                </a:solidFill>
                <a:latin typeface="Meiryo"/>
                <a:cs typeface="Meiryo"/>
              </a:rPr>
              <a:t>⼦</a:t>
            </a:r>
            <a:r>
              <a:rPr dirty="0" sz="1700" spc="-210">
                <a:solidFill>
                  <a:srgbClr val="1F2937"/>
                </a:solidFill>
                <a:latin typeface="SimSun"/>
                <a:cs typeface="SimSun"/>
              </a:rPr>
              <a:t>科</a:t>
            </a:r>
            <a:r>
              <a:rPr dirty="0" sz="1700" spc="-210">
                <a:solidFill>
                  <a:srgbClr val="1F2937"/>
                </a:solidFill>
                <a:latin typeface="Meiryo"/>
                <a:cs typeface="Meiryo"/>
              </a:rPr>
              <a:t>⼤</a:t>
            </a:r>
            <a:r>
              <a:rPr dirty="0" sz="1700" spc="-210">
                <a:solidFill>
                  <a:srgbClr val="1F2937"/>
                </a:solidFill>
                <a:latin typeface="SimSun"/>
                <a:cs typeface="SimSun"/>
              </a:rPr>
              <a:t>科技园（菁蓉基地）</a:t>
            </a:r>
            <a:r>
              <a:rPr dirty="0" sz="1700" spc="-210">
                <a:solidFill>
                  <a:srgbClr val="1F2937"/>
                </a:solidFill>
                <a:latin typeface="Meiryo"/>
                <a:cs typeface="Meiryo"/>
              </a:rPr>
              <a:t>⼈⼯</a:t>
            </a:r>
            <a:r>
              <a:rPr dirty="0" sz="1700" spc="-210">
                <a:solidFill>
                  <a:srgbClr val="1F2937"/>
                </a:solidFill>
                <a:latin typeface="SimSun"/>
                <a:cs typeface="SimSun"/>
              </a:rPr>
              <a:t>智能概</a:t>
            </a:r>
            <a:r>
              <a:rPr dirty="0" sz="1700" spc="-210">
                <a:solidFill>
                  <a:srgbClr val="1F2937"/>
                </a:solidFill>
                <a:latin typeface="Meiryo"/>
                <a:cs typeface="Meiryo"/>
              </a:rPr>
              <a:t>念</a:t>
            </a:r>
            <a:r>
              <a:rPr dirty="0" sz="1700" spc="-210">
                <a:solidFill>
                  <a:srgbClr val="1F2937"/>
                </a:solidFill>
                <a:latin typeface="SimSun"/>
                <a:cs typeface="SimSun"/>
              </a:rPr>
              <a:t>验证中</a:t>
            </a:r>
            <a:r>
              <a:rPr dirty="0" sz="1700" spc="-70">
                <a:solidFill>
                  <a:srgbClr val="1F2937"/>
                </a:solidFill>
                <a:latin typeface="Meiryo"/>
                <a:cs typeface="Meiryo"/>
              </a:rPr>
              <a:t>⼼</a:t>
            </a:r>
            <a:endParaRPr sz="1700">
              <a:latin typeface="Meiryo"/>
              <a:cs typeface="Meiryo"/>
            </a:endParaRPr>
          </a:p>
        </p:txBody>
      </p:sp>
      <p:sp>
        <p:nvSpPr>
          <p:cNvPr id="11" name="object 11" descr=""/>
          <p:cNvSpPr/>
          <p:nvPr/>
        </p:nvSpPr>
        <p:spPr>
          <a:xfrm>
            <a:off x="10229847" y="5676899"/>
            <a:ext cx="1352550" cy="571500"/>
          </a:xfrm>
          <a:custGeom>
            <a:avLst/>
            <a:gdLst/>
            <a:ahLst/>
            <a:cxnLst/>
            <a:rect l="l" t="t" r="r" b="b"/>
            <a:pathLst>
              <a:path w="1352550" h="571500">
                <a:moveTo>
                  <a:pt x="1281354" y="571499"/>
                </a:moveTo>
                <a:lnTo>
                  <a:pt x="71197" y="571499"/>
                </a:lnTo>
                <a:lnTo>
                  <a:pt x="66241" y="571011"/>
                </a:lnTo>
                <a:lnTo>
                  <a:pt x="29705" y="555877"/>
                </a:lnTo>
                <a:lnTo>
                  <a:pt x="3885" y="519836"/>
                </a:lnTo>
                <a:lnTo>
                  <a:pt x="0" y="500303"/>
                </a:lnTo>
                <a:lnTo>
                  <a:pt x="1" y="495299"/>
                </a:lnTo>
                <a:lnTo>
                  <a:pt x="0" y="71196"/>
                </a:lnTo>
                <a:lnTo>
                  <a:pt x="15621" y="29705"/>
                </a:lnTo>
                <a:lnTo>
                  <a:pt x="51660" y="3885"/>
                </a:lnTo>
                <a:lnTo>
                  <a:pt x="71197" y="0"/>
                </a:lnTo>
                <a:lnTo>
                  <a:pt x="1281354" y="0"/>
                </a:lnTo>
                <a:lnTo>
                  <a:pt x="1322843" y="15621"/>
                </a:lnTo>
                <a:lnTo>
                  <a:pt x="1348662" y="51661"/>
                </a:lnTo>
                <a:lnTo>
                  <a:pt x="1352549" y="71196"/>
                </a:lnTo>
                <a:lnTo>
                  <a:pt x="1352549" y="500303"/>
                </a:lnTo>
                <a:lnTo>
                  <a:pt x="1336927" y="541793"/>
                </a:lnTo>
                <a:lnTo>
                  <a:pt x="1300887" y="567612"/>
                </a:lnTo>
                <a:lnTo>
                  <a:pt x="1286308" y="571011"/>
                </a:lnTo>
                <a:lnTo>
                  <a:pt x="1281354" y="571499"/>
                </a:lnTo>
                <a:close/>
              </a:path>
            </a:pathLst>
          </a:custGeom>
          <a:solidFill>
            <a:srgbClr val="2562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 txBox="1"/>
          <p:nvPr/>
        </p:nvSpPr>
        <p:spPr>
          <a:xfrm>
            <a:off x="10373418" y="5798311"/>
            <a:ext cx="1069340" cy="28765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500" b="1">
                <a:solidFill>
                  <a:srgbClr val="FFFFFF"/>
                </a:solidFill>
                <a:latin typeface="DejaVu Sans"/>
                <a:cs typeface="DejaVu Sans"/>
              </a:rPr>
              <a:t>2025</a:t>
            </a:r>
            <a:r>
              <a:rPr dirty="0" sz="1700" spc="-210">
                <a:solidFill>
                  <a:srgbClr val="FFFFFF"/>
                </a:solidFill>
                <a:latin typeface="SimSun"/>
                <a:cs typeface="SimSun"/>
              </a:rPr>
              <a:t>年</a:t>
            </a:r>
            <a:r>
              <a:rPr dirty="0" sz="1500" b="1">
                <a:solidFill>
                  <a:srgbClr val="FFFFFF"/>
                </a:solidFill>
                <a:latin typeface="DejaVu Sans"/>
                <a:cs typeface="DejaVu Sans"/>
              </a:rPr>
              <a:t>8</a:t>
            </a:r>
            <a:r>
              <a:rPr dirty="0" sz="1700" spc="-120">
                <a:solidFill>
                  <a:srgbClr val="FFFFFF"/>
                </a:solidFill>
                <a:latin typeface="Meiryo"/>
                <a:cs typeface="Meiryo"/>
              </a:rPr>
              <a:t>⽉</a:t>
            </a:r>
            <a:endParaRPr sz="1700">
              <a:latin typeface="Meiryo"/>
              <a:cs typeface="Meiryo"/>
            </a:endParaRPr>
          </a:p>
        </p:txBody>
      </p:sp>
      <p:grpSp>
        <p:nvGrpSpPr>
          <p:cNvPr id="13" name="object 13" descr=""/>
          <p:cNvGrpSpPr/>
          <p:nvPr/>
        </p:nvGrpSpPr>
        <p:grpSpPr>
          <a:xfrm>
            <a:off x="609599" y="2438399"/>
            <a:ext cx="4924425" cy="762000"/>
            <a:chOff x="609599" y="2438399"/>
            <a:chExt cx="4924425" cy="762000"/>
          </a:xfrm>
        </p:grpSpPr>
        <p:sp>
          <p:nvSpPr>
            <p:cNvPr id="14" name="object 14" descr=""/>
            <p:cNvSpPr/>
            <p:nvPr/>
          </p:nvSpPr>
          <p:spPr>
            <a:xfrm>
              <a:off x="609599" y="2438399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690803" y="761999"/>
                  </a:moveTo>
                  <a:lnTo>
                    <a:pt x="71196" y="761999"/>
                  </a:lnTo>
                  <a:lnTo>
                    <a:pt x="66241" y="761511"/>
                  </a:lnTo>
                  <a:lnTo>
                    <a:pt x="29705" y="746377"/>
                  </a:lnTo>
                  <a:lnTo>
                    <a:pt x="3885" y="710337"/>
                  </a:lnTo>
                  <a:lnTo>
                    <a:pt x="0" y="690803"/>
                  </a:lnTo>
                  <a:lnTo>
                    <a:pt x="0" y="685799"/>
                  </a:lnTo>
                  <a:lnTo>
                    <a:pt x="0" y="71196"/>
                  </a:lnTo>
                  <a:lnTo>
                    <a:pt x="15621" y="29705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690803" y="0"/>
                  </a:lnTo>
                  <a:lnTo>
                    <a:pt x="732294" y="15621"/>
                  </a:lnTo>
                  <a:lnTo>
                    <a:pt x="758114" y="51661"/>
                  </a:lnTo>
                  <a:lnTo>
                    <a:pt x="761999" y="71196"/>
                  </a:lnTo>
                  <a:lnTo>
                    <a:pt x="761999" y="690803"/>
                  </a:lnTo>
                  <a:lnTo>
                    <a:pt x="746378" y="732293"/>
                  </a:lnTo>
                  <a:lnTo>
                    <a:pt x="710337" y="758113"/>
                  </a:lnTo>
                  <a:lnTo>
                    <a:pt x="695758" y="761511"/>
                  </a:lnTo>
                  <a:lnTo>
                    <a:pt x="690803" y="761999"/>
                  </a:lnTo>
                  <a:close/>
                </a:path>
              </a:pathLst>
            </a:custGeom>
            <a:solidFill>
              <a:srgbClr val="DAE9FE">
                <a:alpha val="5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76299" y="2705099"/>
              <a:ext cx="228600" cy="228600"/>
            </a:xfrm>
            <a:prstGeom prst="rect">
              <a:avLst/>
            </a:prstGeom>
          </p:spPr>
        </p:pic>
        <p:sp>
          <p:nvSpPr>
            <p:cNvPr id="16" name="object 16" descr=""/>
            <p:cNvSpPr/>
            <p:nvPr/>
          </p:nvSpPr>
          <p:spPr>
            <a:xfrm>
              <a:off x="2695574" y="2438399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690803" y="761999"/>
                  </a:moveTo>
                  <a:lnTo>
                    <a:pt x="71196" y="761999"/>
                  </a:lnTo>
                  <a:lnTo>
                    <a:pt x="66241" y="761511"/>
                  </a:lnTo>
                  <a:lnTo>
                    <a:pt x="29704" y="746377"/>
                  </a:lnTo>
                  <a:lnTo>
                    <a:pt x="3885" y="710337"/>
                  </a:lnTo>
                  <a:lnTo>
                    <a:pt x="0" y="690803"/>
                  </a:lnTo>
                  <a:lnTo>
                    <a:pt x="0" y="685799"/>
                  </a:lnTo>
                  <a:lnTo>
                    <a:pt x="0" y="71196"/>
                  </a:lnTo>
                  <a:lnTo>
                    <a:pt x="15621" y="29705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690803" y="0"/>
                  </a:lnTo>
                  <a:lnTo>
                    <a:pt x="732294" y="15621"/>
                  </a:lnTo>
                  <a:lnTo>
                    <a:pt x="758113" y="51661"/>
                  </a:lnTo>
                  <a:lnTo>
                    <a:pt x="761999" y="71196"/>
                  </a:lnTo>
                  <a:lnTo>
                    <a:pt x="761999" y="690803"/>
                  </a:lnTo>
                  <a:lnTo>
                    <a:pt x="746377" y="732293"/>
                  </a:lnTo>
                  <a:lnTo>
                    <a:pt x="710337" y="758113"/>
                  </a:lnTo>
                  <a:lnTo>
                    <a:pt x="695758" y="761511"/>
                  </a:lnTo>
                  <a:lnTo>
                    <a:pt x="690803" y="761999"/>
                  </a:lnTo>
                  <a:close/>
                </a:path>
              </a:pathLst>
            </a:custGeom>
            <a:solidFill>
              <a:srgbClr val="D0FAE4">
                <a:alpha val="5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2937405" y="2705099"/>
              <a:ext cx="278765" cy="228600"/>
            </a:xfrm>
            <a:custGeom>
              <a:avLst/>
              <a:gdLst/>
              <a:ahLst/>
              <a:cxnLst/>
              <a:rect l="l" t="t" r="r" b="b"/>
              <a:pathLst>
                <a:path w="278764" h="228600">
                  <a:moveTo>
                    <a:pt x="250343" y="171450"/>
                  </a:moveTo>
                  <a:lnTo>
                    <a:pt x="27994" y="171450"/>
                  </a:lnTo>
                  <a:lnTo>
                    <a:pt x="15514" y="168592"/>
                  </a:lnTo>
                  <a:lnTo>
                    <a:pt x="5910" y="160979"/>
                  </a:lnTo>
                  <a:lnTo>
                    <a:pt x="349" y="150052"/>
                  </a:lnTo>
                  <a:lnTo>
                    <a:pt x="0" y="137249"/>
                  </a:lnTo>
                  <a:lnTo>
                    <a:pt x="22860" y="22949"/>
                  </a:lnTo>
                  <a:lnTo>
                    <a:pt x="26449" y="13731"/>
                  </a:lnTo>
                  <a:lnTo>
                    <a:pt x="32755" y="6468"/>
                  </a:lnTo>
                  <a:lnTo>
                    <a:pt x="41112" y="1708"/>
                  </a:lnTo>
                  <a:lnTo>
                    <a:pt x="50854" y="0"/>
                  </a:lnTo>
                  <a:lnTo>
                    <a:pt x="227483" y="0"/>
                  </a:lnTo>
                  <a:lnTo>
                    <a:pt x="256085" y="25762"/>
                  </a:lnTo>
                  <a:lnTo>
                    <a:pt x="241458" y="25762"/>
                  </a:lnTo>
                  <a:lnTo>
                    <a:pt x="227439" y="28575"/>
                  </a:lnTo>
                  <a:lnTo>
                    <a:pt x="50854" y="28575"/>
                  </a:lnTo>
                  <a:lnTo>
                    <a:pt x="41567" y="75009"/>
                  </a:lnTo>
                  <a:lnTo>
                    <a:pt x="265935" y="75009"/>
                  </a:lnTo>
                  <a:lnTo>
                    <a:pt x="270221" y="96440"/>
                  </a:lnTo>
                  <a:lnTo>
                    <a:pt x="37281" y="96440"/>
                  </a:lnTo>
                  <a:lnTo>
                    <a:pt x="27994" y="142875"/>
                  </a:lnTo>
                  <a:lnTo>
                    <a:pt x="278226" y="142875"/>
                  </a:lnTo>
                  <a:lnTo>
                    <a:pt x="278027" y="150052"/>
                  </a:lnTo>
                  <a:lnTo>
                    <a:pt x="272458" y="160979"/>
                  </a:lnTo>
                  <a:lnTo>
                    <a:pt x="262838" y="168592"/>
                  </a:lnTo>
                  <a:lnTo>
                    <a:pt x="250343" y="171450"/>
                  </a:lnTo>
                  <a:close/>
                </a:path>
                <a:path w="278764" h="228600">
                  <a:moveTo>
                    <a:pt x="265935" y="75009"/>
                  </a:moveTo>
                  <a:lnTo>
                    <a:pt x="236770" y="75009"/>
                  </a:lnTo>
                  <a:lnTo>
                    <a:pt x="227483" y="28575"/>
                  </a:lnTo>
                  <a:lnTo>
                    <a:pt x="241458" y="25762"/>
                  </a:lnTo>
                  <a:lnTo>
                    <a:pt x="256085" y="25762"/>
                  </a:lnTo>
                  <a:lnTo>
                    <a:pt x="265935" y="75009"/>
                  </a:lnTo>
                  <a:close/>
                </a:path>
                <a:path w="278764" h="228600">
                  <a:moveTo>
                    <a:pt x="108138" y="75009"/>
                  </a:moveTo>
                  <a:lnTo>
                    <a:pt x="86617" y="75009"/>
                  </a:lnTo>
                  <a:lnTo>
                    <a:pt x="91216" y="28575"/>
                  </a:lnTo>
                  <a:lnTo>
                    <a:pt x="112781" y="28575"/>
                  </a:lnTo>
                  <a:lnTo>
                    <a:pt x="108138" y="75009"/>
                  </a:lnTo>
                  <a:close/>
                </a:path>
                <a:path w="278764" h="228600">
                  <a:moveTo>
                    <a:pt x="191720" y="75009"/>
                  </a:moveTo>
                  <a:lnTo>
                    <a:pt x="170199" y="75009"/>
                  </a:lnTo>
                  <a:lnTo>
                    <a:pt x="165556" y="28575"/>
                  </a:lnTo>
                  <a:lnTo>
                    <a:pt x="187076" y="28575"/>
                  </a:lnTo>
                  <a:lnTo>
                    <a:pt x="191720" y="75009"/>
                  </a:lnTo>
                  <a:close/>
                </a:path>
                <a:path w="278764" h="228600">
                  <a:moveTo>
                    <a:pt x="101351" y="142875"/>
                  </a:moveTo>
                  <a:lnTo>
                    <a:pt x="79831" y="142875"/>
                  </a:lnTo>
                  <a:lnTo>
                    <a:pt x="84474" y="96440"/>
                  </a:lnTo>
                  <a:lnTo>
                    <a:pt x="105995" y="96440"/>
                  </a:lnTo>
                  <a:lnTo>
                    <a:pt x="101351" y="142875"/>
                  </a:lnTo>
                  <a:close/>
                </a:path>
                <a:path w="278764" h="228600">
                  <a:moveTo>
                    <a:pt x="198551" y="142875"/>
                  </a:moveTo>
                  <a:lnTo>
                    <a:pt x="176986" y="142875"/>
                  </a:lnTo>
                  <a:lnTo>
                    <a:pt x="172342" y="96440"/>
                  </a:lnTo>
                  <a:lnTo>
                    <a:pt x="193863" y="96440"/>
                  </a:lnTo>
                  <a:lnTo>
                    <a:pt x="198551" y="142875"/>
                  </a:lnTo>
                  <a:close/>
                </a:path>
                <a:path w="278764" h="228600">
                  <a:moveTo>
                    <a:pt x="278226" y="142875"/>
                  </a:moveTo>
                  <a:lnTo>
                    <a:pt x="250343" y="142875"/>
                  </a:lnTo>
                  <a:lnTo>
                    <a:pt x="241056" y="96440"/>
                  </a:lnTo>
                  <a:lnTo>
                    <a:pt x="270221" y="96440"/>
                  </a:lnTo>
                  <a:lnTo>
                    <a:pt x="278383" y="137249"/>
                  </a:lnTo>
                  <a:lnTo>
                    <a:pt x="278226" y="142875"/>
                  </a:lnTo>
                  <a:close/>
                </a:path>
                <a:path w="278764" h="228600">
                  <a:moveTo>
                    <a:pt x="153456" y="200025"/>
                  </a:moveTo>
                  <a:lnTo>
                    <a:pt x="124881" y="200025"/>
                  </a:lnTo>
                  <a:lnTo>
                    <a:pt x="124881" y="171450"/>
                  </a:lnTo>
                  <a:lnTo>
                    <a:pt x="153456" y="171450"/>
                  </a:lnTo>
                  <a:lnTo>
                    <a:pt x="153456" y="200025"/>
                  </a:lnTo>
                  <a:close/>
                </a:path>
                <a:path w="278764" h="228600">
                  <a:moveTo>
                    <a:pt x="189934" y="228600"/>
                  </a:moveTo>
                  <a:lnTo>
                    <a:pt x="88403" y="228600"/>
                  </a:lnTo>
                  <a:lnTo>
                    <a:pt x="82019" y="222215"/>
                  </a:lnTo>
                  <a:lnTo>
                    <a:pt x="82019" y="206409"/>
                  </a:lnTo>
                  <a:lnTo>
                    <a:pt x="88403" y="200025"/>
                  </a:lnTo>
                  <a:lnTo>
                    <a:pt x="189934" y="200025"/>
                  </a:lnTo>
                  <a:lnTo>
                    <a:pt x="196319" y="206409"/>
                  </a:lnTo>
                  <a:lnTo>
                    <a:pt x="196319" y="222215"/>
                  </a:lnTo>
                  <a:lnTo>
                    <a:pt x="189934" y="228600"/>
                  </a:lnTo>
                  <a:close/>
                </a:path>
              </a:pathLst>
            </a:custGeom>
            <a:solidFill>
              <a:srgbClr val="0FB98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4772024" y="2438399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690802" y="761999"/>
                  </a:moveTo>
                  <a:lnTo>
                    <a:pt x="71196" y="761999"/>
                  </a:lnTo>
                  <a:lnTo>
                    <a:pt x="66241" y="761511"/>
                  </a:lnTo>
                  <a:lnTo>
                    <a:pt x="29705" y="746377"/>
                  </a:lnTo>
                  <a:lnTo>
                    <a:pt x="3885" y="710337"/>
                  </a:lnTo>
                  <a:lnTo>
                    <a:pt x="0" y="690803"/>
                  </a:lnTo>
                  <a:lnTo>
                    <a:pt x="0" y="685799"/>
                  </a:lnTo>
                  <a:lnTo>
                    <a:pt x="0" y="71196"/>
                  </a:lnTo>
                  <a:lnTo>
                    <a:pt x="15621" y="29705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690802" y="0"/>
                  </a:lnTo>
                  <a:lnTo>
                    <a:pt x="732294" y="15621"/>
                  </a:lnTo>
                  <a:lnTo>
                    <a:pt x="758113" y="51661"/>
                  </a:lnTo>
                  <a:lnTo>
                    <a:pt x="761999" y="71196"/>
                  </a:lnTo>
                  <a:lnTo>
                    <a:pt x="761999" y="690803"/>
                  </a:lnTo>
                  <a:lnTo>
                    <a:pt x="746377" y="732293"/>
                  </a:lnTo>
                  <a:lnTo>
                    <a:pt x="710337" y="758113"/>
                  </a:lnTo>
                  <a:lnTo>
                    <a:pt x="695758" y="761511"/>
                  </a:lnTo>
                  <a:lnTo>
                    <a:pt x="690802" y="761999"/>
                  </a:lnTo>
                  <a:close/>
                </a:path>
              </a:pathLst>
            </a:custGeom>
            <a:solidFill>
              <a:srgbClr val="DFE7FF">
                <a:alpha val="5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5010149" y="2705099"/>
              <a:ext cx="285750" cy="228600"/>
            </a:xfrm>
            <a:custGeom>
              <a:avLst/>
              <a:gdLst/>
              <a:ahLst/>
              <a:cxnLst/>
              <a:rect l="l" t="t" r="r" b="b"/>
              <a:pathLst>
                <a:path w="285750" h="228600">
                  <a:moveTo>
                    <a:pt x="50006" y="42862"/>
                  </a:moveTo>
                  <a:lnTo>
                    <a:pt x="28575" y="42862"/>
                  </a:lnTo>
                  <a:lnTo>
                    <a:pt x="28575" y="4777"/>
                  </a:lnTo>
                  <a:lnTo>
                    <a:pt x="33352" y="0"/>
                  </a:lnTo>
                  <a:lnTo>
                    <a:pt x="45228" y="0"/>
                  </a:lnTo>
                  <a:lnTo>
                    <a:pt x="50006" y="4777"/>
                  </a:lnTo>
                  <a:lnTo>
                    <a:pt x="50006" y="42862"/>
                  </a:lnTo>
                  <a:close/>
                </a:path>
                <a:path w="285750" h="228600">
                  <a:moveTo>
                    <a:pt x="100012" y="42862"/>
                  </a:moveTo>
                  <a:lnTo>
                    <a:pt x="78581" y="42862"/>
                  </a:lnTo>
                  <a:lnTo>
                    <a:pt x="78581" y="4777"/>
                  </a:lnTo>
                  <a:lnTo>
                    <a:pt x="83358" y="0"/>
                  </a:lnTo>
                  <a:lnTo>
                    <a:pt x="95235" y="0"/>
                  </a:lnTo>
                  <a:lnTo>
                    <a:pt x="100012" y="4777"/>
                  </a:lnTo>
                  <a:lnTo>
                    <a:pt x="100012" y="42862"/>
                  </a:lnTo>
                  <a:close/>
                </a:path>
                <a:path w="285750" h="228600">
                  <a:moveTo>
                    <a:pt x="264318" y="228600"/>
                  </a:moveTo>
                  <a:lnTo>
                    <a:pt x="21431" y="228600"/>
                  </a:lnTo>
                  <a:lnTo>
                    <a:pt x="13091" y="226915"/>
                  </a:lnTo>
                  <a:lnTo>
                    <a:pt x="6278" y="222321"/>
                  </a:lnTo>
                  <a:lnTo>
                    <a:pt x="1684" y="215508"/>
                  </a:lnTo>
                  <a:lnTo>
                    <a:pt x="0" y="207168"/>
                  </a:lnTo>
                  <a:lnTo>
                    <a:pt x="0" y="64293"/>
                  </a:lnTo>
                  <a:lnTo>
                    <a:pt x="1684" y="55953"/>
                  </a:lnTo>
                  <a:lnTo>
                    <a:pt x="6278" y="49141"/>
                  </a:lnTo>
                  <a:lnTo>
                    <a:pt x="13091" y="44547"/>
                  </a:lnTo>
                  <a:lnTo>
                    <a:pt x="21431" y="42862"/>
                  </a:lnTo>
                  <a:lnTo>
                    <a:pt x="128587" y="42862"/>
                  </a:lnTo>
                  <a:lnTo>
                    <a:pt x="128587" y="21431"/>
                  </a:lnTo>
                  <a:lnTo>
                    <a:pt x="130272" y="13091"/>
                  </a:lnTo>
                  <a:lnTo>
                    <a:pt x="134866" y="6278"/>
                  </a:lnTo>
                  <a:lnTo>
                    <a:pt x="141678" y="1684"/>
                  </a:lnTo>
                  <a:lnTo>
                    <a:pt x="150018" y="0"/>
                  </a:lnTo>
                  <a:lnTo>
                    <a:pt x="192881" y="0"/>
                  </a:lnTo>
                  <a:lnTo>
                    <a:pt x="201221" y="1684"/>
                  </a:lnTo>
                  <a:lnTo>
                    <a:pt x="208033" y="6278"/>
                  </a:lnTo>
                  <a:lnTo>
                    <a:pt x="212627" y="13091"/>
                  </a:lnTo>
                  <a:lnTo>
                    <a:pt x="214312" y="21431"/>
                  </a:lnTo>
                  <a:lnTo>
                    <a:pt x="214312" y="28575"/>
                  </a:lnTo>
                  <a:lnTo>
                    <a:pt x="160377" y="28575"/>
                  </a:lnTo>
                  <a:lnTo>
                    <a:pt x="157162" y="31789"/>
                  </a:lnTo>
                  <a:lnTo>
                    <a:pt x="157162" y="53935"/>
                  </a:lnTo>
                  <a:lnTo>
                    <a:pt x="160377" y="57150"/>
                  </a:lnTo>
                  <a:lnTo>
                    <a:pt x="214312" y="57150"/>
                  </a:lnTo>
                  <a:lnTo>
                    <a:pt x="214312" y="71437"/>
                  </a:lnTo>
                  <a:lnTo>
                    <a:pt x="31789" y="71437"/>
                  </a:lnTo>
                  <a:lnTo>
                    <a:pt x="28575" y="74652"/>
                  </a:lnTo>
                  <a:lnTo>
                    <a:pt x="28575" y="96797"/>
                  </a:lnTo>
                  <a:lnTo>
                    <a:pt x="31789" y="100012"/>
                  </a:lnTo>
                  <a:lnTo>
                    <a:pt x="284306" y="100012"/>
                  </a:lnTo>
                  <a:lnTo>
                    <a:pt x="285750" y="107156"/>
                  </a:lnTo>
                  <a:lnTo>
                    <a:pt x="285750" y="114300"/>
                  </a:lnTo>
                  <a:lnTo>
                    <a:pt x="31789" y="114300"/>
                  </a:lnTo>
                  <a:lnTo>
                    <a:pt x="28575" y="117514"/>
                  </a:lnTo>
                  <a:lnTo>
                    <a:pt x="28575" y="139660"/>
                  </a:lnTo>
                  <a:lnTo>
                    <a:pt x="31789" y="142875"/>
                  </a:lnTo>
                  <a:lnTo>
                    <a:pt x="285750" y="142875"/>
                  </a:lnTo>
                  <a:lnTo>
                    <a:pt x="285750" y="157162"/>
                  </a:lnTo>
                  <a:lnTo>
                    <a:pt x="31789" y="157162"/>
                  </a:lnTo>
                  <a:lnTo>
                    <a:pt x="28575" y="160377"/>
                  </a:lnTo>
                  <a:lnTo>
                    <a:pt x="28575" y="182522"/>
                  </a:lnTo>
                  <a:lnTo>
                    <a:pt x="31789" y="185737"/>
                  </a:lnTo>
                  <a:lnTo>
                    <a:pt x="285750" y="185737"/>
                  </a:lnTo>
                  <a:lnTo>
                    <a:pt x="285750" y="207168"/>
                  </a:lnTo>
                  <a:lnTo>
                    <a:pt x="284065" y="215508"/>
                  </a:lnTo>
                  <a:lnTo>
                    <a:pt x="279471" y="222321"/>
                  </a:lnTo>
                  <a:lnTo>
                    <a:pt x="272658" y="226915"/>
                  </a:lnTo>
                  <a:lnTo>
                    <a:pt x="264318" y="228600"/>
                  </a:lnTo>
                  <a:close/>
                </a:path>
                <a:path w="285750" h="228600">
                  <a:moveTo>
                    <a:pt x="214312" y="57150"/>
                  </a:moveTo>
                  <a:lnTo>
                    <a:pt x="182522" y="57150"/>
                  </a:lnTo>
                  <a:lnTo>
                    <a:pt x="185737" y="53935"/>
                  </a:lnTo>
                  <a:lnTo>
                    <a:pt x="185737" y="31789"/>
                  </a:lnTo>
                  <a:lnTo>
                    <a:pt x="182522" y="28575"/>
                  </a:lnTo>
                  <a:lnTo>
                    <a:pt x="214312" y="28575"/>
                  </a:lnTo>
                  <a:lnTo>
                    <a:pt x="214312" y="57150"/>
                  </a:lnTo>
                  <a:close/>
                </a:path>
                <a:path w="285750" h="228600">
                  <a:moveTo>
                    <a:pt x="88939" y="100012"/>
                  </a:moveTo>
                  <a:lnTo>
                    <a:pt x="53935" y="100012"/>
                  </a:lnTo>
                  <a:lnTo>
                    <a:pt x="57150" y="96797"/>
                  </a:lnTo>
                  <a:lnTo>
                    <a:pt x="57150" y="74652"/>
                  </a:lnTo>
                  <a:lnTo>
                    <a:pt x="53935" y="71437"/>
                  </a:lnTo>
                  <a:lnTo>
                    <a:pt x="88939" y="71437"/>
                  </a:lnTo>
                  <a:lnTo>
                    <a:pt x="85725" y="74652"/>
                  </a:lnTo>
                  <a:lnTo>
                    <a:pt x="85725" y="96797"/>
                  </a:lnTo>
                  <a:lnTo>
                    <a:pt x="88939" y="100012"/>
                  </a:lnTo>
                  <a:close/>
                </a:path>
                <a:path w="285750" h="228600">
                  <a:moveTo>
                    <a:pt x="160377" y="100012"/>
                  </a:moveTo>
                  <a:lnTo>
                    <a:pt x="111085" y="100012"/>
                  </a:lnTo>
                  <a:lnTo>
                    <a:pt x="114300" y="96797"/>
                  </a:lnTo>
                  <a:lnTo>
                    <a:pt x="114300" y="74652"/>
                  </a:lnTo>
                  <a:lnTo>
                    <a:pt x="111085" y="71437"/>
                  </a:lnTo>
                  <a:lnTo>
                    <a:pt x="160377" y="71437"/>
                  </a:lnTo>
                  <a:lnTo>
                    <a:pt x="157162" y="74652"/>
                  </a:lnTo>
                  <a:lnTo>
                    <a:pt x="157162" y="96797"/>
                  </a:lnTo>
                  <a:lnTo>
                    <a:pt x="160377" y="100012"/>
                  </a:lnTo>
                  <a:close/>
                </a:path>
                <a:path w="285750" h="228600">
                  <a:moveTo>
                    <a:pt x="284306" y="100012"/>
                  </a:moveTo>
                  <a:lnTo>
                    <a:pt x="182522" y="100012"/>
                  </a:lnTo>
                  <a:lnTo>
                    <a:pt x="185737" y="96797"/>
                  </a:lnTo>
                  <a:lnTo>
                    <a:pt x="185737" y="74652"/>
                  </a:lnTo>
                  <a:lnTo>
                    <a:pt x="182522" y="71437"/>
                  </a:lnTo>
                  <a:lnTo>
                    <a:pt x="214312" y="71437"/>
                  </a:lnTo>
                  <a:lnTo>
                    <a:pt x="214312" y="85725"/>
                  </a:lnTo>
                  <a:lnTo>
                    <a:pt x="264318" y="85725"/>
                  </a:lnTo>
                  <a:lnTo>
                    <a:pt x="272658" y="87409"/>
                  </a:lnTo>
                  <a:lnTo>
                    <a:pt x="279471" y="92003"/>
                  </a:lnTo>
                  <a:lnTo>
                    <a:pt x="284065" y="98816"/>
                  </a:lnTo>
                  <a:lnTo>
                    <a:pt x="284306" y="100012"/>
                  </a:lnTo>
                  <a:close/>
                </a:path>
                <a:path w="285750" h="228600">
                  <a:moveTo>
                    <a:pt x="88939" y="142875"/>
                  </a:moveTo>
                  <a:lnTo>
                    <a:pt x="53935" y="142875"/>
                  </a:lnTo>
                  <a:lnTo>
                    <a:pt x="57150" y="139660"/>
                  </a:lnTo>
                  <a:lnTo>
                    <a:pt x="57150" y="117514"/>
                  </a:lnTo>
                  <a:lnTo>
                    <a:pt x="53935" y="114300"/>
                  </a:lnTo>
                  <a:lnTo>
                    <a:pt x="88939" y="114300"/>
                  </a:lnTo>
                  <a:lnTo>
                    <a:pt x="85725" y="117514"/>
                  </a:lnTo>
                  <a:lnTo>
                    <a:pt x="85725" y="139660"/>
                  </a:lnTo>
                  <a:lnTo>
                    <a:pt x="88939" y="142875"/>
                  </a:lnTo>
                  <a:close/>
                </a:path>
                <a:path w="285750" h="228600">
                  <a:moveTo>
                    <a:pt x="160377" y="142875"/>
                  </a:moveTo>
                  <a:lnTo>
                    <a:pt x="111085" y="142875"/>
                  </a:lnTo>
                  <a:lnTo>
                    <a:pt x="114300" y="139660"/>
                  </a:lnTo>
                  <a:lnTo>
                    <a:pt x="114300" y="117514"/>
                  </a:lnTo>
                  <a:lnTo>
                    <a:pt x="111085" y="114300"/>
                  </a:lnTo>
                  <a:lnTo>
                    <a:pt x="160377" y="114300"/>
                  </a:lnTo>
                  <a:lnTo>
                    <a:pt x="157162" y="117514"/>
                  </a:lnTo>
                  <a:lnTo>
                    <a:pt x="157162" y="139660"/>
                  </a:lnTo>
                  <a:lnTo>
                    <a:pt x="160377" y="142875"/>
                  </a:lnTo>
                  <a:close/>
                </a:path>
                <a:path w="285750" h="228600">
                  <a:moveTo>
                    <a:pt x="231814" y="142875"/>
                  </a:moveTo>
                  <a:lnTo>
                    <a:pt x="182522" y="142875"/>
                  </a:lnTo>
                  <a:lnTo>
                    <a:pt x="185737" y="139660"/>
                  </a:lnTo>
                  <a:lnTo>
                    <a:pt x="185737" y="117514"/>
                  </a:lnTo>
                  <a:lnTo>
                    <a:pt x="182522" y="114300"/>
                  </a:lnTo>
                  <a:lnTo>
                    <a:pt x="231814" y="114300"/>
                  </a:lnTo>
                  <a:lnTo>
                    <a:pt x="228600" y="117514"/>
                  </a:lnTo>
                  <a:lnTo>
                    <a:pt x="228600" y="139660"/>
                  </a:lnTo>
                  <a:lnTo>
                    <a:pt x="231814" y="142875"/>
                  </a:lnTo>
                  <a:close/>
                </a:path>
                <a:path w="285750" h="228600">
                  <a:moveTo>
                    <a:pt x="285750" y="142875"/>
                  </a:moveTo>
                  <a:lnTo>
                    <a:pt x="253960" y="142875"/>
                  </a:lnTo>
                  <a:lnTo>
                    <a:pt x="257175" y="139660"/>
                  </a:lnTo>
                  <a:lnTo>
                    <a:pt x="257175" y="117514"/>
                  </a:lnTo>
                  <a:lnTo>
                    <a:pt x="253960" y="114300"/>
                  </a:lnTo>
                  <a:lnTo>
                    <a:pt x="285750" y="114300"/>
                  </a:lnTo>
                  <a:lnTo>
                    <a:pt x="285750" y="142875"/>
                  </a:lnTo>
                  <a:close/>
                </a:path>
                <a:path w="285750" h="228600">
                  <a:moveTo>
                    <a:pt x="88939" y="185737"/>
                  </a:moveTo>
                  <a:lnTo>
                    <a:pt x="53935" y="185737"/>
                  </a:lnTo>
                  <a:lnTo>
                    <a:pt x="57150" y="182522"/>
                  </a:lnTo>
                  <a:lnTo>
                    <a:pt x="57150" y="160377"/>
                  </a:lnTo>
                  <a:lnTo>
                    <a:pt x="53935" y="157162"/>
                  </a:lnTo>
                  <a:lnTo>
                    <a:pt x="88939" y="157162"/>
                  </a:lnTo>
                  <a:lnTo>
                    <a:pt x="85725" y="160377"/>
                  </a:lnTo>
                  <a:lnTo>
                    <a:pt x="85725" y="182522"/>
                  </a:lnTo>
                  <a:lnTo>
                    <a:pt x="88939" y="185737"/>
                  </a:lnTo>
                  <a:close/>
                </a:path>
                <a:path w="285750" h="228600">
                  <a:moveTo>
                    <a:pt x="231814" y="185737"/>
                  </a:moveTo>
                  <a:lnTo>
                    <a:pt x="111085" y="185737"/>
                  </a:lnTo>
                  <a:lnTo>
                    <a:pt x="114300" y="182522"/>
                  </a:lnTo>
                  <a:lnTo>
                    <a:pt x="114300" y="160377"/>
                  </a:lnTo>
                  <a:lnTo>
                    <a:pt x="111085" y="157162"/>
                  </a:lnTo>
                  <a:lnTo>
                    <a:pt x="231814" y="157162"/>
                  </a:lnTo>
                  <a:lnTo>
                    <a:pt x="228600" y="160377"/>
                  </a:lnTo>
                  <a:lnTo>
                    <a:pt x="228600" y="182522"/>
                  </a:lnTo>
                  <a:lnTo>
                    <a:pt x="231814" y="185737"/>
                  </a:lnTo>
                  <a:close/>
                </a:path>
                <a:path w="285750" h="228600">
                  <a:moveTo>
                    <a:pt x="285750" y="185737"/>
                  </a:moveTo>
                  <a:lnTo>
                    <a:pt x="253960" y="185737"/>
                  </a:lnTo>
                  <a:lnTo>
                    <a:pt x="257175" y="182522"/>
                  </a:lnTo>
                  <a:lnTo>
                    <a:pt x="257175" y="160377"/>
                  </a:lnTo>
                  <a:lnTo>
                    <a:pt x="253960" y="157162"/>
                  </a:lnTo>
                  <a:lnTo>
                    <a:pt x="285750" y="157162"/>
                  </a:lnTo>
                  <a:lnTo>
                    <a:pt x="285750" y="185737"/>
                  </a:lnTo>
                  <a:close/>
                </a:path>
              </a:pathLst>
            </a:custGeom>
            <a:solidFill>
              <a:srgbClr val="6266F1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0" name="object 20" descr=""/>
          <p:cNvGrpSpPr/>
          <p:nvPr/>
        </p:nvGrpSpPr>
        <p:grpSpPr>
          <a:xfrm>
            <a:off x="10620374" y="6343649"/>
            <a:ext cx="1381125" cy="323850"/>
            <a:chOff x="10620374" y="6343649"/>
            <a:chExt cx="1381125" cy="323850"/>
          </a:xfrm>
        </p:grpSpPr>
        <p:sp>
          <p:nvSpPr>
            <p:cNvPr id="21" name="object 21" descr=""/>
            <p:cNvSpPr/>
            <p:nvPr/>
          </p:nvSpPr>
          <p:spPr>
            <a:xfrm>
              <a:off x="10620374" y="6343649"/>
              <a:ext cx="1381125" cy="323850"/>
            </a:xfrm>
            <a:custGeom>
              <a:avLst/>
              <a:gdLst/>
              <a:ahLst/>
              <a:cxnLst/>
              <a:rect l="l" t="t" r="r" b="b"/>
              <a:pathLst>
                <a:path w="1381125" h="323850">
                  <a:moveTo>
                    <a:pt x="1348077" y="323849"/>
                  </a:moveTo>
                  <a:lnTo>
                    <a:pt x="33047" y="323849"/>
                  </a:lnTo>
                  <a:lnTo>
                    <a:pt x="28187" y="322883"/>
                  </a:lnTo>
                  <a:lnTo>
                    <a:pt x="966" y="295662"/>
                  </a:lnTo>
                  <a:lnTo>
                    <a:pt x="0" y="290802"/>
                  </a:lnTo>
                  <a:lnTo>
                    <a:pt x="0" y="28574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1348077" y="0"/>
                  </a:lnTo>
                  <a:lnTo>
                    <a:pt x="1380157" y="28187"/>
                  </a:lnTo>
                  <a:lnTo>
                    <a:pt x="1381124" y="33047"/>
                  </a:lnTo>
                  <a:lnTo>
                    <a:pt x="1381124" y="290802"/>
                  </a:lnTo>
                  <a:lnTo>
                    <a:pt x="1352937" y="322883"/>
                  </a:lnTo>
                  <a:lnTo>
                    <a:pt x="1348077" y="323849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2" name="object 22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734674" y="6438899"/>
              <a:ext cx="133349" cy="133349"/>
            </a:xfrm>
            <a:prstGeom prst="rect">
              <a:avLst/>
            </a:prstGeom>
          </p:spPr>
        </p:pic>
      </p:grpSp>
      <p:sp>
        <p:nvSpPr>
          <p:cNvPr id="23" name="object 23" descr=""/>
          <p:cNvSpPr txBox="1"/>
          <p:nvPr/>
        </p:nvSpPr>
        <p:spPr>
          <a:xfrm>
            <a:off x="10912176" y="6401815"/>
            <a:ext cx="988060" cy="18097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000" spc="-160">
                <a:solidFill>
                  <a:srgbClr val="FFFFFF"/>
                </a:solidFill>
                <a:latin typeface="SimSun"/>
                <a:cs typeface="SimSun"/>
              </a:rPr>
              <a:t>由 </a:t>
            </a:r>
            <a:r>
              <a:rPr dirty="0" sz="900">
                <a:solidFill>
                  <a:srgbClr val="FFFFFF"/>
                </a:solidFill>
                <a:latin typeface="DejaVu Sans"/>
                <a:cs typeface="DejaVu Sans"/>
              </a:rPr>
              <a:t>Genspark</a:t>
            </a:r>
            <a:r>
              <a:rPr dirty="0" sz="900" spc="-45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000" spc="-75">
                <a:solidFill>
                  <a:srgbClr val="FFFFFF"/>
                </a:solidFill>
                <a:latin typeface="SimSun"/>
                <a:cs typeface="SimSun"/>
              </a:rPr>
              <a:t>制作</a:t>
            </a:r>
            <a:endParaRPr sz="1000">
              <a:latin typeface="SimSun"/>
              <a:cs typeface="SimSu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609599" y="1066799"/>
            <a:ext cx="609600" cy="38100"/>
          </a:xfrm>
          <a:custGeom>
            <a:avLst/>
            <a:gdLst/>
            <a:ahLst/>
            <a:cxnLst/>
            <a:rect l="l" t="t" r="r" b="b"/>
            <a:pathLst>
              <a:path w="609600" h="38100">
                <a:moveTo>
                  <a:pt x="609599" y="38099"/>
                </a:moveTo>
                <a:lnTo>
                  <a:pt x="0" y="38099"/>
                </a:lnTo>
                <a:lnTo>
                  <a:pt x="0" y="0"/>
                </a:lnTo>
                <a:lnTo>
                  <a:pt x="609599" y="0"/>
                </a:lnTo>
                <a:lnTo>
                  <a:pt x="609599" y="38099"/>
                </a:lnTo>
                <a:close/>
              </a:path>
            </a:pathLst>
          </a:custGeom>
          <a:solidFill>
            <a:srgbClr val="3B81F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96899" y="552323"/>
            <a:ext cx="711200" cy="4908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370">
                <a:latin typeface="BIZ UDPGothic"/>
                <a:cs typeface="BIZ UDPGothic"/>
              </a:rPr>
              <a:t>目</a:t>
            </a:r>
            <a:r>
              <a:rPr dirty="0" spc="-420"/>
              <a:t>录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596899" y="1241361"/>
            <a:ext cx="2425700" cy="2584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00" spc="-150">
                <a:solidFill>
                  <a:srgbClr val="4A5462"/>
                </a:solidFill>
                <a:latin typeface="SimSun"/>
                <a:cs typeface="SimSun"/>
              </a:rPr>
              <a:t>智慧产业</a:t>
            </a:r>
            <a:r>
              <a:rPr dirty="0" sz="1500" spc="-150">
                <a:solidFill>
                  <a:srgbClr val="4A5462"/>
                </a:solidFill>
                <a:latin typeface="Meiryo"/>
                <a:cs typeface="Meiryo"/>
              </a:rPr>
              <a:t>⽣</a:t>
            </a:r>
            <a:r>
              <a:rPr dirty="0" sz="1500" spc="-150">
                <a:solidFill>
                  <a:srgbClr val="4A5462"/>
                </a:solidFill>
                <a:latin typeface="SimSun"/>
                <a:cs typeface="SimSun"/>
              </a:rPr>
              <a:t>态合作</a:t>
            </a:r>
            <a:r>
              <a:rPr dirty="0" sz="1500" spc="-150">
                <a:solidFill>
                  <a:srgbClr val="4A5462"/>
                </a:solidFill>
                <a:latin typeface="Meiryo"/>
                <a:cs typeface="Meiryo"/>
              </a:rPr>
              <a:t>⽅</a:t>
            </a:r>
            <a:r>
              <a:rPr dirty="0" sz="1500" spc="-140">
                <a:solidFill>
                  <a:srgbClr val="4A5462"/>
                </a:solidFill>
                <a:latin typeface="SimSun"/>
                <a:cs typeface="SimSun"/>
              </a:rPr>
              <a:t>案主要内容</a:t>
            </a:r>
            <a:endParaRPr sz="1500">
              <a:latin typeface="SimSun"/>
              <a:cs typeface="SimSun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609599" y="1828799"/>
            <a:ext cx="3505200" cy="1066800"/>
            <a:chOff x="609599" y="1828799"/>
            <a:chExt cx="3505200" cy="1066800"/>
          </a:xfrm>
        </p:grpSpPr>
        <p:sp>
          <p:nvSpPr>
            <p:cNvPr id="6" name="object 6" descr=""/>
            <p:cNvSpPr/>
            <p:nvPr/>
          </p:nvSpPr>
          <p:spPr>
            <a:xfrm>
              <a:off x="628649" y="1828799"/>
              <a:ext cx="3486150" cy="1066800"/>
            </a:xfrm>
            <a:custGeom>
              <a:avLst/>
              <a:gdLst/>
              <a:ahLst/>
              <a:cxnLst/>
              <a:rect l="l" t="t" r="r" b="b"/>
              <a:pathLst>
                <a:path w="3486150" h="1066800">
                  <a:moveTo>
                    <a:pt x="3414952" y="1066799"/>
                  </a:moveTo>
                  <a:lnTo>
                    <a:pt x="53397" y="1066799"/>
                  </a:lnTo>
                  <a:lnTo>
                    <a:pt x="49680" y="1066311"/>
                  </a:lnTo>
                  <a:lnTo>
                    <a:pt x="14085" y="1040943"/>
                  </a:lnTo>
                  <a:lnTo>
                    <a:pt x="366" y="1000558"/>
                  </a:lnTo>
                  <a:lnTo>
                    <a:pt x="0" y="995603"/>
                  </a:lnTo>
                  <a:lnTo>
                    <a:pt x="0" y="990599"/>
                  </a:lnTo>
                  <a:lnTo>
                    <a:pt x="0" y="71196"/>
                  </a:lnTo>
                  <a:lnTo>
                    <a:pt x="11716" y="29705"/>
                  </a:lnTo>
                  <a:lnTo>
                    <a:pt x="42320" y="2440"/>
                  </a:lnTo>
                  <a:lnTo>
                    <a:pt x="53397" y="0"/>
                  </a:lnTo>
                  <a:lnTo>
                    <a:pt x="3414952" y="0"/>
                  </a:lnTo>
                  <a:lnTo>
                    <a:pt x="3456443" y="15621"/>
                  </a:lnTo>
                  <a:lnTo>
                    <a:pt x="3482263" y="51661"/>
                  </a:lnTo>
                  <a:lnTo>
                    <a:pt x="3486149" y="71196"/>
                  </a:lnTo>
                  <a:lnTo>
                    <a:pt x="3486149" y="995603"/>
                  </a:lnTo>
                  <a:lnTo>
                    <a:pt x="3470527" y="1037094"/>
                  </a:lnTo>
                  <a:lnTo>
                    <a:pt x="3434486" y="1062913"/>
                  </a:lnTo>
                  <a:lnTo>
                    <a:pt x="3419908" y="1066311"/>
                  </a:lnTo>
                  <a:lnTo>
                    <a:pt x="3414952" y="1066799"/>
                  </a:lnTo>
                  <a:close/>
                </a:path>
              </a:pathLst>
            </a:custGeom>
            <a:solidFill>
              <a:srgbClr val="FFFFFF">
                <a:alpha val="901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609599" y="1829077"/>
              <a:ext cx="70485" cy="1066800"/>
            </a:xfrm>
            <a:custGeom>
              <a:avLst/>
              <a:gdLst/>
              <a:ahLst/>
              <a:cxnLst/>
              <a:rect l="l" t="t" r="r" b="b"/>
              <a:pathLst>
                <a:path w="70484" h="1066800">
                  <a:moveTo>
                    <a:pt x="70449" y="1066244"/>
                  </a:moveTo>
                  <a:lnTo>
                    <a:pt x="33857" y="1053691"/>
                  </a:lnTo>
                  <a:lnTo>
                    <a:pt x="5800" y="1019482"/>
                  </a:lnTo>
                  <a:lnTo>
                    <a:pt x="0" y="990322"/>
                  </a:lnTo>
                  <a:lnTo>
                    <a:pt x="0" y="75922"/>
                  </a:lnTo>
                  <a:lnTo>
                    <a:pt x="12830" y="33579"/>
                  </a:lnTo>
                  <a:lnTo>
                    <a:pt x="47039" y="5522"/>
                  </a:lnTo>
                  <a:lnTo>
                    <a:pt x="70449" y="0"/>
                  </a:lnTo>
                  <a:lnTo>
                    <a:pt x="66287" y="1655"/>
                  </a:lnTo>
                  <a:lnTo>
                    <a:pt x="56951" y="9389"/>
                  </a:lnTo>
                  <a:lnTo>
                    <a:pt x="41000" y="46761"/>
                  </a:lnTo>
                  <a:lnTo>
                    <a:pt x="38100" y="75922"/>
                  </a:lnTo>
                  <a:lnTo>
                    <a:pt x="38100" y="990322"/>
                  </a:lnTo>
                  <a:lnTo>
                    <a:pt x="44514" y="1032664"/>
                  </a:lnTo>
                  <a:lnTo>
                    <a:pt x="66287" y="1064588"/>
                  </a:lnTo>
                  <a:lnTo>
                    <a:pt x="70449" y="1066244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838199" y="2019299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90499" y="380999"/>
                  </a:moveTo>
                  <a:lnTo>
                    <a:pt x="144200" y="375289"/>
                  </a:lnTo>
                  <a:lnTo>
                    <a:pt x="100697" y="358507"/>
                  </a:lnTo>
                  <a:lnTo>
                    <a:pt x="62575" y="331659"/>
                  </a:lnTo>
                  <a:lnTo>
                    <a:pt x="32105" y="296335"/>
                  </a:lnTo>
                  <a:lnTo>
                    <a:pt x="11130" y="254666"/>
                  </a:lnTo>
                  <a:lnTo>
                    <a:pt x="915" y="209172"/>
                  </a:lnTo>
                  <a:lnTo>
                    <a:pt x="0" y="190499"/>
                  </a:lnTo>
                  <a:lnTo>
                    <a:pt x="228" y="181141"/>
                  </a:lnTo>
                  <a:lnTo>
                    <a:pt x="8200" y="135199"/>
                  </a:lnTo>
                  <a:lnTo>
                    <a:pt x="27095" y="92572"/>
                  </a:lnTo>
                  <a:lnTo>
                    <a:pt x="55796" y="55795"/>
                  </a:lnTo>
                  <a:lnTo>
                    <a:pt x="92572" y="27095"/>
                  </a:lnTo>
                  <a:lnTo>
                    <a:pt x="135200" y="8200"/>
                  </a:lnTo>
                  <a:lnTo>
                    <a:pt x="181141" y="228"/>
                  </a:lnTo>
                  <a:lnTo>
                    <a:pt x="190499" y="0"/>
                  </a:lnTo>
                  <a:lnTo>
                    <a:pt x="199858" y="228"/>
                  </a:lnTo>
                  <a:lnTo>
                    <a:pt x="245799" y="8200"/>
                  </a:lnTo>
                  <a:lnTo>
                    <a:pt x="288427" y="27095"/>
                  </a:lnTo>
                  <a:lnTo>
                    <a:pt x="325203" y="55795"/>
                  </a:lnTo>
                  <a:lnTo>
                    <a:pt x="353904" y="92571"/>
                  </a:lnTo>
                  <a:lnTo>
                    <a:pt x="372799" y="135199"/>
                  </a:lnTo>
                  <a:lnTo>
                    <a:pt x="380771" y="181141"/>
                  </a:lnTo>
                  <a:lnTo>
                    <a:pt x="380999" y="190499"/>
                  </a:lnTo>
                  <a:lnTo>
                    <a:pt x="380771" y="199858"/>
                  </a:lnTo>
                  <a:lnTo>
                    <a:pt x="372799" y="245799"/>
                  </a:lnTo>
                  <a:lnTo>
                    <a:pt x="353904" y="288427"/>
                  </a:lnTo>
                  <a:lnTo>
                    <a:pt x="325203" y="325203"/>
                  </a:lnTo>
                  <a:lnTo>
                    <a:pt x="288427" y="353903"/>
                  </a:lnTo>
                  <a:lnTo>
                    <a:pt x="245799" y="372799"/>
                  </a:lnTo>
                  <a:lnTo>
                    <a:pt x="199858" y="380771"/>
                  </a:lnTo>
                  <a:lnTo>
                    <a:pt x="190499" y="380999"/>
                  </a:lnTo>
                  <a:close/>
                </a:path>
              </a:pathLst>
            </a:custGeom>
            <a:solidFill>
              <a:srgbClr val="DAE9F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52499" y="2143124"/>
              <a:ext cx="152399" cy="133349"/>
            </a:xfrm>
            <a:prstGeom prst="rect">
              <a:avLst/>
            </a:prstGeom>
          </p:spPr>
        </p:pic>
      </p:grpSp>
      <p:sp>
        <p:nvSpPr>
          <p:cNvPr id="10" name="object 10" descr=""/>
          <p:cNvSpPr txBox="1"/>
          <p:nvPr/>
        </p:nvSpPr>
        <p:spPr>
          <a:xfrm>
            <a:off x="1320799" y="2048510"/>
            <a:ext cx="1029969" cy="2838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500">
                <a:solidFill>
                  <a:srgbClr val="1F2937"/>
                </a:solidFill>
                <a:latin typeface="DejaVu Sans"/>
                <a:cs typeface="DejaVu Sans"/>
              </a:rPr>
              <a:t>1.</a:t>
            </a:r>
            <a:r>
              <a:rPr dirty="0" sz="1500" spc="15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dirty="0" sz="1700" spc="-195">
                <a:solidFill>
                  <a:srgbClr val="1F2937"/>
                </a:solidFill>
                <a:latin typeface="SimSun"/>
                <a:cs typeface="SimSun"/>
              </a:rPr>
              <a:t>合作背景</a:t>
            </a:r>
            <a:endParaRPr sz="1700">
              <a:latin typeface="SimSun"/>
              <a:cs typeface="SimSun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825500" y="2494089"/>
            <a:ext cx="1892300" cy="206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-110">
                <a:solidFill>
                  <a:srgbClr val="4A5462"/>
                </a:solidFill>
                <a:latin typeface="Meiryo"/>
                <a:cs typeface="Meiryo"/>
              </a:rPr>
              <a:t>数</a:t>
            </a:r>
            <a:r>
              <a:rPr dirty="0" sz="1150" spc="-110">
                <a:solidFill>
                  <a:srgbClr val="4A5462"/>
                </a:solidFill>
                <a:latin typeface="SimSun"/>
                <a:cs typeface="SimSun"/>
              </a:rPr>
              <a:t>字经济与智慧产业发展</a:t>
            </a:r>
            <a:r>
              <a:rPr dirty="0" sz="1150" spc="-110">
                <a:solidFill>
                  <a:srgbClr val="4A5462"/>
                </a:solidFill>
                <a:latin typeface="Meiryo"/>
                <a:cs typeface="Meiryo"/>
              </a:rPr>
              <a:t>新</a:t>
            </a:r>
            <a:r>
              <a:rPr dirty="0" sz="1150" spc="-80">
                <a:solidFill>
                  <a:srgbClr val="4A5462"/>
                </a:solidFill>
                <a:latin typeface="SimSun"/>
                <a:cs typeface="SimSun"/>
              </a:rPr>
              <a:t>机遇</a:t>
            </a:r>
            <a:endParaRPr sz="1150">
              <a:latin typeface="SimSun"/>
              <a:cs typeface="SimSun"/>
            </a:endParaRPr>
          </a:p>
        </p:txBody>
      </p:sp>
      <p:pic>
        <p:nvPicPr>
          <p:cNvPr id="12" name="object 12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343399" y="1233487"/>
            <a:ext cx="7238998" cy="2957511"/>
          </a:xfrm>
          <a:prstGeom prst="rect">
            <a:avLst/>
          </a:prstGeom>
        </p:spPr>
      </p:pic>
      <p:sp>
        <p:nvSpPr>
          <p:cNvPr id="13" name="object 13" descr=""/>
          <p:cNvSpPr txBox="1"/>
          <p:nvPr/>
        </p:nvSpPr>
        <p:spPr>
          <a:xfrm>
            <a:off x="5054599" y="2048510"/>
            <a:ext cx="1029969" cy="2838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500">
                <a:solidFill>
                  <a:srgbClr val="1F2937"/>
                </a:solidFill>
                <a:latin typeface="DejaVu Sans"/>
                <a:cs typeface="DejaVu Sans"/>
              </a:rPr>
              <a:t>2.</a:t>
            </a:r>
            <a:r>
              <a:rPr dirty="0" sz="1500" spc="15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dirty="0" sz="1700" spc="-195">
                <a:solidFill>
                  <a:srgbClr val="1F2937"/>
                </a:solidFill>
                <a:latin typeface="SimSun"/>
                <a:cs typeface="SimSun"/>
              </a:rPr>
              <a:t>政策环境</a:t>
            </a:r>
            <a:endParaRPr sz="1700">
              <a:latin typeface="SimSun"/>
              <a:cs typeface="SimSun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4559300" y="2494089"/>
            <a:ext cx="1537335" cy="206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-110">
                <a:solidFill>
                  <a:srgbClr val="4A5462"/>
                </a:solidFill>
                <a:latin typeface="SimSun"/>
                <a:cs typeface="SimSun"/>
              </a:rPr>
              <a:t>国家与四川</a:t>
            </a:r>
            <a:r>
              <a:rPr dirty="0" sz="1050">
                <a:solidFill>
                  <a:srgbClr val="4A5462"/>
                </a:solidFill>
                <a:latin typeface="DejaVu Sans"/>
                <a:cs typeface="DejaVu Sans"/>
              </a:rPr>
              <a:t>/</a:t>
            </a:r>
            <a:r>
              <a:rPr dirty="0" sz="1150" spc="-110">
                <a:solidFill>
                  <a:srgbClr val="4A5462"/>
                </a:solidFill>
                <a:latin typeface="SimSun"/>
                <a:cs typeface="SimSun"/>
              </a:rPr>
              <a:t>成都</a:t>
            </a:r>
            <a:r>
              <a:rPr dirty="0" sz="1150" spc="-110">
                <a:solidFill>
                  <a:srgbClr val="4A5462"/>
                </a:solidFill>
                <a:latin typeface="Meiryo"/>
                <a:cs typeface="Meiryo"/>
              </a:rPr>
              <a:t>⽀</a:t>
            </a:r>
            <a:r>
              <a:rPr dirty="0" sz="1150" spc="-110">
                <a:solidFill>
                  <a:srgbClr val="4A5462"/>
                </a:solidFill>
                <a:latin typeface="SimSun"/>
                <a:cs typeface="SimSun"/>
              </a:rPr>
              <a:t>持</a:t>
            </a:r>
            <a:r>
              <a:rPr dirty="0" sz="1150" spc="-110">
                <a:solidFill>
                  <a:srgbClr val="4A5462"/>
                </a:solidFill>
                <a:latin typeface="Meiryo"/>
                <a:cs typeface="Meiryo"/>
              </a:rPr>
              <a:t>重</a:t>
            </a:r>
            <a:r>
              <a:rPr dirty="0" sz="1150" spc="-50">
                <a:solidFill>
                  <a:srgbClr val="4A5462"/>
                </a:solidFill>
                <a:latin typeface="SimSun"/>
                <a:cs typeface="SimSun"/>
              </a:rPr>
              <a:t>点</a:t>
            </a:r>
            <a:endParaRPr sz="1150">
              <a:latin typeface="SimSun"/>
              <a:cs typeface="SimSun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8788400" y="2048510"/>
            <a:ext cx="1410970" cy="2838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500">
                <a:solidFill>
                  <a:srgbClr val="1F2937"/>
                </a:solidFill>
                <a:latin typeface="DejaVu Sans"/>
                <a:cs typeface="DejaVu Sans"/>
              </a:rPr>
              <a:t>3.</a:t>
            </a:r>
            <a:r>
              <a:rPr dirty="0" sz="1500" spc="3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dirty="0" sz="1700" spc="-200">
                <a:solidFill>
                  <a:srgbClr val="1F2937"/>
                </a:solidFill>
                <a:latin typeface="SimSun"/>
                <a:cs typeface="SimSun"/>
              </a:rPr>
              <a:t>合作主体介绍</a:t>
            </a:r>
            <a:endParaRPr sz="1700">
              <a:latin typeface="SimSun"/>
              <a:cs typeface="SimSun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8293100" y="2494089"/>
            <a:ext cx="1225550" cy="206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-110">
                <a:solidFill>
                  <a:srgbClr val="4A5462"/>
                </a:solidFill>
                <a:latin typeface="SimSun"/>
                <a:cs typeface="SimSun"/>
              </a:rPr>
              <a:t>双</a:t>
            </a:r>
            <a:r>
              <a:rPr dirty="0" sz="1150" spc="-110">
                <a:solidFill>
                  <a:srgbClr val="4A5462"/>
                </a:solidFill>
                <a:latin typeface="Meiryo"/>
                <a:cs typeface="Meiryo"/>
              </a:rPr>
              <a:t>⽅</a:t>
            </a:r>
            <a:r>
              <a:rPr dirty="0" sz="1150" spc="-110">
                <a:solidFill>
                  <a:srgbClr val="4A5462"/>
                </a:solidFill>
                <a:latin typeface="SimSun"/>
                <a:cs typeface="SimSun"/>
              </a:rPr>
              <a:t>优</a:t>
            </a:r>
            <a:r>
              <a:rPr dirty="0" sz="1150" spc="-110">
                <a:solidFill>
                  <a:srgbClr val="4A5462"/>
                </a:solidFill>
                <a:latin typeface="Microsoft JhengHei"/>
                <a:cs typeface="Microsoft JhengHei"/>
              </a:rPr>
              <a:t>势</a:t>
            </a:r>
            <a:r>
              <a:rPr dirty="0" sz="1150" spc="-100">
                <a:solidFill>
                  <a:srgbClr val="4A5462"/>
                </a:solidFill>
                <a:latin typeface="SimSun"/>
                <a:cs typeface="SimSun"/>
              </a:rPr>
              <a:t>与资源互补</a:t>
            </a:r>
            <a:endParaRPr sz="1150">
              <a:latin typeface="SimSun"/>
              <a:cs typeface="SimSun"/>
            </a:endParaRPr>
          </a:p>
        </p:txBody>
      </p:sp>
      <p:grpSp>
        <p:nvGrpSpPr>
          <p:cNvPr id="17" name="object 17" descr=""/>
          <p:cNvGrpSpPr/>
          <p:nvPr/>
        </p:nvGrpSpPr>
        <p:grpSpPr>
          <a:xfrm>
            <a:off x="609599" y="3124199"/>
            <a:ext cx="3505200" cy="1066800"/>
            <a:chOff x="609599" y="3124199"/>
            <a:chExt cx="3505200" cy="1066800"/>
          </a:xfrm>
        </p:grpSpPr>
        <p:sp>
          <p:nvSpPr>
            <p:cNvPr id="18" name="object 18" descr=""/>
            <p:cNvSpPr/>
            <p:nvPr/>
          </p:nvSpPr>
          <p:spPr>
            <a:xfrm>
              <a:off x="628649" y="3124199"/>
              <a:ext cx="3486150" cy="1066800"/>
            </a:xfrm>
            <a:custGeom>
              <a:avLst/>
              <a:gdLst/>
              <a:ahLst/>
              <a:cxnLst/>
              <a:rect l="l" t="t" r="r" b="b"/>
              <a:pathLst>
                <a:path w="3486150" h="1066800">
                  <a:moveTo>
                    <a:pt x="3414952" y="1066799"/>
                  </a:moveTo>
                  <a:lnTo>
                    <a:pt x="53397" y="1066799"/>
                  </a:lnTo>
                  <a:lnTo>
                    <a:pt x="49680" y="1066311"/>
                  </a:lnTo>
                  <a:lnTo>
                    <a:pt x="14085" y="1040943"/>
                  </a:lnTo>
                  <a:lnTo>
                    <a:pt x="366" y="1000558"/>
                  </a:lnTo>
                  <a:lnTo>
                    <a:pt x="0" y="995602"/>
                  </a:lnTo>
                  <a:lnTo>
                    <a:pt x="0" y="990599"/>
                  </a:lnTo>
                  <a:lnTo>
                    <a:pt x="0" y="71196"/>
                  </a:lnTo>
                  <a:lnTo>
                    <a:pt x="11716" y="29705"/>
                  </a:lnTo>
                  <a:lnTo>
                    <a:pt x="42320" y="2440"/>
                  </a:lnTo>
                  <a:lnTo>
                    <a:pt x="53397" y="0"/>
                  </a:lnTo>
                  <a:lnTo>
                    <a:pt x="3414952" y="0"/>
                  </a:lnTo>
                  <a:lnTo>
                    <a:pt x="3456443" y="15621"/>
                  </a:lnTo>
                  <a:lnTo>
                    <a:pt x="3482263" y="51661"/>
                  </a:lnTo>
                  <a:lnTo>
                    <a:pt x="3486149" y="71196"/>
                  </a:lnTo>
                  <a:lnTo>
                    <a:pt x="3486149" y="995602"/>
                  </a:lnTo>
                  <a:lnTo>
                    <a:pt x="3470527" y="1037093"/>
                  </a:lnTo>
                  <a:lnTo>
                    <a:pt x="3434486" y="1062913"/>
                  </a:lnTo>
                  <a:lnTo>
                    <a:pt x="3419908" y="1066311"/>
                  </a:lnTo>
                  <a:lnTo>
                    <a:pt x="3414952" y="1066799"/>
                  </a:lnTo>
                  <a:close/>
                </a:path>
              </a:pathLst>
            </a:custGeom>
            <a:solidFill>
              <a:srgbClr val="FFFFFF">
                <a:alpha val="901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609599" y="3124477"/>
              <a:ext cx="70485" cy="1066800"/>
            </a:xfrm>
            <a:custGeom>
              <a:avLst/>
              <a:gdLst/>
              <a:ahLst/>
              <a:cxnLst/>
              <a:rect l="l" t="t" r="r" b="b"/>
              <a:pathLst>
                <a:path w="70484" h="1066800">
                  <a:moveTo>
                    <a:pt x="70450" y="1066244"/>
                  </a:moveTo>
                  <a:lnTo>
                    <a:pt x="33857" y="1053691"/>
                  </a:lnTo>
                  <a:lnTo>
                    <a:pt x="5800" y="1019482"/>
                  </a:lnTo>
                  <a:lnTo>
                    <a:pt x="0" y="990322"/>
                  </a:lnTo>
                  <a:lnTo>
                    <a:pt x="0" y="75922"/>
                  </a:lnTo>
                  <a:lnTo>
                    <a:pt x="12830" y="33579"/>
                  </a:lnTo>
                  <a:lnTo>
                    <a:pt x="47039" y="5522"/>
                  </a:lnTo>
                  <a:lnTo>
                    <a:pt x="70449" y="0"/>
                  </a:lnTo>
                  <a:lnTo>
                    <a:pt x="66287" y="1655"/>
                  </a:lnTo>
                  <a:lnTo>
                    <a:pt x="56951" y="9389"/>
                  </a:lnTo>
                  <a:lnTo>
                    <a:pt x="41000" y="46761"/>
                  </a:lnTo>
                  <a:lnTo>
                    <a:pt x="38100" y="75922"/>
                  </a:lnTo>
                  <a:lnTo>
                    <a:pt x="38100" y="990322"/>
                  </a:lnTo>
                  <a:lnTo>
                    <a:pt x="44514" y="1032664"/>
                  </a:lnTo>
                  <a:lnTo>
                    <a:pt x="66287" y="1064587"/>
                  </a:lnTo>
                  <a:lnTo>
                    <a:pt x="70450" y="1066244"/>
                  </a:lnTo>
                  <a:close/>
                </a:path>
              </a:pathLst>
            </a:custGeom>
            <a:solidFill>
              <a:srgbClr val="0FB98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838199" y="3314699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90499" y="380999"/>
                  </a:moveTo>
                  <a:lnTo>
                    <a:pt x="144200" y="375289"/>
                  </a:lnTo>
                  <a:lnTo>
                    <a:pt x="100697" y="358507"/>
                  </a:lnTo>
                  <a:lnTo>
                    <a:pt x="62575" y="331659"/>
                  </a:lnTo>
                  <a:lnTo>
                    <a:pt x="32105" y="296335"/>
                  </a:lnTo>
                  <a:lnTo>
                    <a:pt x="11130" y="254666"/>
                  </a:lnTo>
                  <a:lnTo>
                    <a:pt x="915" y="209172"/>
                  </a:lnTo>
                  <a:lnTo>
                    <a:pt x="0" y="190499"/>
                  </a:lnTo>
                  <a:lnTo>
                    <a:pt x="228" y="181141"/>
                  </a:lnTo>
                  <a:lnTo>
                    <a:pt x="8200" y="135199"/>
                  </a:lnTo>
                  <a:lnTo>
                    <a:pt x="27095" y="92571"/>
                  </a:lnTo>
                  <a:lnTo>
                    <a:pt x="55796" y="55795"/>
                  </a:lnTo>
                  <a:lnTo>
                    <a:pt x="92572" y="27095"/>
                  </a:lnTo>
                  <a:lnTo>
                    <a:pt x="135200" y="8200"/>
                  </a:lnTo>
                  <a:lnTo>
                    <a:pt x="181141" y="228"/>
                  </a:lnTo>
                  <a:lnTo>
                    <a:pt x="190499" y="0"/>
                  </a:lnTo>
                  <a:lnTo>
                    <a:pt x="199858" y="228"/>
                  </a:lnTo>
                  <a:lnTo>
                    <a:pt x="245799" y="8200"/>
                  </a:lnTo>
                  <a:lnTo>
                    <a:pt x="288427" y="27095"/>
                  </a:lnTo>
                  <a:lnTo>
                    <a:pt x="325203" y="55795"/>
                  </a:lnTo>
                  <a:lnTo>
                    <a:pt x="353904" y="92571"/>
                  </a:lnTo>
                  <a:lnTo>
                    <a:pt x="372799" y="135199"/>
                  </a:lnTo>
                  <a:lnTo>
                    <a:pt x="380771" y="181141"/>
                  </a:lnTo>
                  <a:lnTo>
                    <a:pt x="380999" y="190499"/>
                  </a:lnTo>
                  <a:lnTo>
                    <a:pt x="380771" y="199858"/>
                  </a:lnTo>
                  <a:lnTo>
                    <a:pt x="372799" y="245799"/>
                  </a:lnTo>
                  <a:lnTo>
                    <a:pt x="353904" y="288427"/>
                  </a:lnTo>
                  <a:lnTo>
                    <a:pt x="325203" y="325203"/>
                  </a:lnTo>
                  <a:lnTo>
                    <a:pt x="288427" y="353903"/>
                  </a:lnTo>
                  <a:lnTo>
                    <a:pt x="245799" y="372798"/>
                  </a:lnTo>
                  <a:lnTo>
                    <a:pt x="199858" y="380771"/>
                  </a:lnTo>
                  <a:lnTo>
                    <a:pt x="190499" y="380999"/>
                  </a:lnTo>
                  <a:close/>
                </a:path>
              </a:pathLst>
            </a:custGeom>
            <a:solidFill>
              <a:srgbClr val="D0FAE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42974" y="3438524"/>
              <a:ext cx="171449" cy="133349"/>
            </a:xfrm>
            <a:prstGeom prst="rect">
              <a:avLst/>
            </a:prstGeom>
          </p:spPr>
        </p:pic>
      </p:grpSp>
      <p:sp>
        <p:nvSpPr>
          <p:cNvPr id="22" name="object 22" descr=""/>
          <p:cNvSpPr txBox="1"/>
          <p:nvPr/>
        </p:nvSpPr>
        <p:spPr>
          <a:xfrm>
            <a:off x="1320799" y="3343909"/>
            <a:ext cx="1410970" cy="2838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500">
                <a:solidFill>
                  <a:srgbClr val="1F2937"/>
                </a:solidFill>
                <a:latin typeface="DejaVu Sans"/>
                <a:cs typeface="DejaVu Sans"/>
              </a:rPr>
              <a:t>4.</a:t>
            </a:r>
            <a:r>
              <a:rPr dirty="0" sz="1500" spc="3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dirty="0" sz="1700" spc="-200">
                <a:solidFill>
                  <a:srgbClr val="1F2937"/>
                </a:solidFill>
                <a:latin typeface="SimSun"/>
                <a:cs typeface="SimSun"/>
              </a:rPr>
              <a:t>合作总体思路</a:t>
            </a:r>
            <a:endParaRPr sz="1700">
              <a:latin typeface="SimSun"/>
              <a:cs typeface="SimSun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825500" y="3789489"/>
            <a:ext cx="1225550" cy="206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-110">
                <a:solidFill>
                  <a:srgbClr val="4A5462"/>
                </a:solidFill>
                <a:latin typeface="SimSun"/>
                <a:cs typeface="SimSun"/>
              </a:rPr>
              <a:t>战</a:t>
            </a:r>
            <a:r>
              <a:rPr dirty="0" sz="1150" spc="-110">
                <a:solidFill>
                  <a:srgbClr val="4A5462"/>
                </a:solidFill>
                <a:latin typeface="Meiryo"/>
                <a:cs typeface="Meiryo"/>
              </a:rPr>
              <a:t>略</a:t>
            </a:r>
            <a:r>
              <a:rPr dirty="0" sz="1150" spc="-105">
                <a:solidFill>
                  <a:srgbClr val="4A5462"/>
                </a:solidFill>
                <a:latin typeface="SimSun"/>
                <a:cs typeface="SimSun"/>
              </a:rPr>
              <a:t>协同与未来愿景</a:t>
            </a:r>
            <a:endParaRPr sz="1150">
              <a:latin typeface="SimSun"/>
              <a:cs typeface="SimSun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5054599" y="3343909"/>
            <a:ext cx="1982470" cy="2838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500">
                <a:solidFill>
                  <a:srgbClr val="1F2937"/>
                </a:solidFill>
                <a:latin typeface="DejaVu Sans"/>
                <a:cs typeface="DejaVu Sans"/>
              </a:rPr>
              <a:t>5.</a:t>
            </a:r>
            <a:r>
              <a:rPr dirty="0" sz="1500" spc="45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dirty="0" sz="1700" spc="-200">
                <a:solidFill>
                  <a:srgbClr val="1F2937"/>
                </a:solidFill>
                <a:latin typeface="SimSun"/>
                <a:cs typeface="SimSun"/>
              </a:rPr>
              <a:t>联合运营与平台建设</a:t>
            </a:r>
            <a:endParaRPr sz="1700">
              <a:latin typeface="SimSun"/>
              <a:cs typeface="SimSun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4559300" y="3789489"/>
            <a:ext cx="1225550" cy="206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-110">
                <a:solidFill>
                  <a:srgbClr val="4A5462"/>
                </a:solidFill>
                <a:latin typeface="SimSun"/>
                <a:cs typeface="SimSun"/>
              </a:rPr>
              <a:t>平台赋能与</a:t>
            </a:r>
            <a:r>
              <a:rPr dirty="0" sz="1150" spc="-110">
                <a:solidFill>
                  <a:srgbClr val="4A5462"/>
                </a:solidFill>
                <a:latin typeface="Meiryo"/>
                <a:cs typeface="Meiryo"/>
              </a:rPr>
              <a:t>⽣</a:t>
            </a:r>
            <a:r>
              <a:rPr dirty="0" sz="1150" spc="-90">
                <a:solidFill>
                  <a:srgbClr val="4A5462"/>
                </a:solidFill>
                <a:latin typeface="SimSun"/>
                <a:cs typeface="SimSun"/>
              </a:rPr>
              <a:t>态培育</a:t>
            </a:r>
            <a:endParaRPr sz="1150">
              <a:latin typeface="SimSun"/>
              <a:cs typeface="SimSun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8788400" y="3343909"/>
            <a:ext cx="1791970" cy="2838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500">
                <a:solidFill>
                  <a:srgbClr val="1F2937"/>
                </a:solidFill>
                <a:latin typeface="DejaVu Sans"/>
                <a:cs typeface="DejaVu Sans"/>
              </a:rPr>
              <a:t>6.</a:t>
            </a:r>
            <a:r>
              <a:rPr dirty="0" sz="1500" spc="4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dirty="0" sz="1700" spc="-210">
                <a:solidFill>
                  <a:srgbClr val="1F2937"/>
                </a:solidFill>
                <a:latin typeface="SimSun"/>
                <a:cs typeface="SimSun"/>
              </a:rPr>
              <a:t>智慧</a:t>
            </a:r>
            <a:r>
              <a:rPr dirty="0" sz="1700" spc="-210">
                <a:solidFill>
                  <a:srgbClr val="1F2937"/>
                </a:solidFill>
                <a:latin typeface="Meiryo"/>
                <a:cs typeface="Meiryo"/>
              </a:rPr>
              <a:t>⼯</a:t>
            </a:r>
            <a:r>
              <a:rPr dirty="0" sz="1700" spc="-195">
                <a:solidFill>
                  <a:srgbClr val="1F2937"/>
                </a:solidFill>
                <a:latin typeface="SimSun"/>
                <a:cs typeface="SimSun"/>
              </a:rPr>
              <a:t>地系统开发</a:t>
            </a:r>
            <a:endParaRPr sz="1700">
              <a:latin typeface="SimSun"/>
              <a:cs typeface="SimSun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8293100" y="3789489"/>
            <a:ext cx="1223010" cy="206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050">
                <a:solidFill>
                  <a:srgbClr val="4A5462"/>
                </a:solidFill>
                <a:latin typeface="DejaVu Sans"/>
                <a:cs typeface="DejaVu Sans"/>
              </a:rPr>
              <a:t>AI</a:t>
            </a:r>
            <a:r>
              <a:rPr dirty="0" sz="1150" spc="-105">
                <a:solidFill>
                  <a:srgbClr val="4A5462"/>
                </a:solidFill>
                <a:latin typeface="SimSun"/>
                <a:cs typeface="SimSun"/>
              </a:rPr>
              <a:t>赋能建筑安全管理</a:t>
            </a:r>
            <a:endParaRPr sz="1150">
              <a:latin typeface="SimSun"/>
              <a:cs typeface="SimSun"/>
            </a:endParaRPr>
          </a:p>
        </p:txBody>
      </p:sp>
      <p:grpSp>
        <p:nvGrpSpPr>
          <p:cNvPr id="28" name="object 28" descr=""/>
          <p:cNvGrpSpPr/>
          <p:nvPr/>
        </p:nvGrpSpPr>
        <p:grpSpPr>
          <a:xfrm>
            <a:off x="609599" y="4419599"/>
            <a:ext cx="3505200" cy="1066800"/>
            <a:chOff x="609599" y="4419599"/>
            <a:chExt cx="3505200" cy="1066800"/>
          </a:xfrm>
        </p:grpSpPr>
        <p:sp>
          <p:nvSpPr>
            <p:cNvPr id="29" name="object 29" descr=""/>
            <p:cNvSpPr/>
            <p:nvPr/>
          </p:nvSpPr>
          <p:spPr>
            <a:xfrm>
              <a:off x="628649" y="4419599"/>
              <a:ext cx="3486150" cy="1066800"/>
            </a:xfrm>
            <a:custGeom>
              <a:avLst/>
              <a:gdLst/>
              <a:ahLst/>
              <a:cxnLst/>
              <a:rect l="l" t="t" r="r" b="b"/>
              <a:pathLst>
                <a:path w="3486150" h="1066800">
                  <a:moveTo>
                    <a:pt x="3414952" y="1066799"/>
                  </a:moveTo>
                  <a:lnTo>
                    <a:pt x="53397" y="1066799"/>
                  </a:lnTo>
                  <a:lnTo>
                    <a:pt x="49680" y="1066310"/>
                  </a:lnTo>
                  <a:lnTo>
                    <a:pt x="14085" y="1040942"/>
                  </a:lnTo>
                  <a:lnTo>
                    <a:pt x="366" y="1000558"/>
                  </a:lnTo>
                  <a:lnTo>
                    <a:pt x="0" y="995603"/>
                  </a:lnTo>
                  <a:lnTo>
                    <a:pt x="0" y="990599"/>
                  </a:lnTo>
                  <a:lnTo>
                    <a:pt x="0" y="71196"/>
                  </a:lnTo>
                  <a:lnTo>
                    <a:pt x="11716" y="29704"/>
                  </a:lnTo>
                  <a:lnTo>
                    <a:pt x="42320" y="2439"/>
                  </a:lnTo>
                  <a:lnTo>
                    <a:pt x="53397" y="0"/>
                  </a:lnTo>
                  <a:lnTo>
                    <a:pt x="3414952" y="0"/>
                  </a:lnTo>
                  <a:lnTo>
                    <a:pt x="3456443" y="15621"/>
                  </a:lnTo>
                  <a:lnTo>
                    <a:pt x="3482263" y="51661"/>
                  </a:lnTo>
                  <a:lnTo>
                    <a:pt x="3486149" y="71196"/>
                  </a:lnTo>
                  <a:lnTo>
                    <a:pt x="3486149" y="995603"/>
                  </a:lnTo>
                  <a:lnTo>
                    <a:pt x="3470527" y="1037093"/>
                  </a:lnTo>
                  <a:lnTo>
                    <a:pt x="3434486" y="1062913"/>
                  </a:lnTo>
                  <a:lnTo>
                    <a:pt x="3419908" y="1066310"/>
                  </a:lnTo>
                  <a:lnTo>
                    <a:pt x="3414952" y="1066799"/>
                  </a:lnTo>
                  <a:close/>
                </a:path>
              </a:pathLst>
            </a:custGeom>
            <a:solidFill>
              <a:srgbClr val="FFFFFF">
                <a:alpha val="901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609599" y="4419877"/>
              <a:ext cx="70485" cy="1066800"/>
            </a:xfrm>
            <a:custGeom>
              <a:avLst/>
              <a:gdLst/>
              <a:ahLst/>
              <a:cxnLst/>
              <a:rect l="l" t="t" r="r" b="b"/>
              <a:pathLst>
                <a:path w="70484" h="1066800">
                  <a:moveTo>
                    <a:pt x="70450" y="1066244"/>
                  </a:moveTo>
                  <a:lnTo>
                    <a:pt x="33857" y="1053691"/>
                  </a:lnTo>
                  <a:lnTo>
                    <a:pt x="5800" y="1019482"/>
                  </a:lnTo>
                  <a:lnTo>
                    <a:pt x="0" y="990322"/>
                  </a:lnTo>
                  <a:lnTo>
                    <a:pt x="0" y="75922"/>
                  </a:lnTo>
                  <a:lnTo>
                    <a:pt x="12830" y="33579"/>
                  </a:lnTo>
                  <a:lnTo>
                    <a:pt x="47038" y="5522"/>
                  </a:lnTo>
                  <a:lnTo>
                    <a:pt x="70449" y="0"/>
                  </a:lnTo>
                  <a:lnTo>
                    <a:pt x="66287" y="1655"/>
                  </a:lnTo>
                  <a:lnTo>
                    <a:pt x="56951" y="9389"/>
                  </a:lnTo>
                  <a:lnTo>
                    <a:pt x="41000" y="46761"/>
                  </a:lnTo>
                  <a:lnTo>
                    <a:pt x="38100" y="75922"/>
                  </a:lnTo>
                  <a:lnTo>
                    <a:pt x="38100" y="990322"/>
                  </a:lnTo>
                  <a:lnTo>
                    <a:pt x="44514" y="1032664"/>
                  </a:lnTo>
                  <a:lnTo>
                    <a:pt x="66287" y="1064588"/>
                  </a:lnTo>
                  <a:lnTo>
                    <a:pt x="70450" y="1066244"/>
                  </a:lnTo>
                  <a:close/>
                </a:path>
              </a:pathLst>
            </a:custGeom>
            <a:solidFill>
              <a:srgbClr val="F59D0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838199" y="4610099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90499" y="380999"/>
                  </a:moveTo>
                  <a:lnTo>
                    <a:pt x="144200" y="375288"/>
                  </a:lnTo>
                  <a:lnTo>
                    <a:pt x="100697" y="358507"/>
                  </a:lnTo>
                  <a:lnTo>
                    <a:pt x="62575" y="331658"/>
                  </a:lnTo>
                  <a:lnTo>
                    <a:pt x="32105" y="296335"/>
                  </a:lnTo>
                  <a:lnTo>
                    <a:pt x="11130" y="254666"/>
                  </a:lnTo>
                  <a:lnTo>
                    <a:pt x="915" y="209172"/>
                  </a:lnTo>
                  <a:lnTo>
                    <a:pt x="0" y="190499"/>
                  </a:lnTo>
                  <a:lnTo>
                    <a:pt x="228" y="181141"/>
                  </a:lnTo>
                  <a:lnTo>
                    <a:pt x="8200" y="135199"/>
                  </a:lnTo>
                  <a:lnTo>
                    <a:pt x="27095" y="92572"/>
                  </a:lnTo>
                  <a:lnTo>
                    <a:pt x="55796" y="55796"/>
                  </a:lnTo>
                  <a:lnTo>
                    <a:pt x="92572" y="27095"/>
                  </a:lnTo>
                  <a:lnTo>
                    <a:pt x="135200" y="8200"/>
                  </a:lnTo>
                  <a:lnTo>
                    <a:pt x="181141" y="228"/>
                  </a:lnTo>
                  <a:lnTo>
                    <a:pt x="190499" y="0"/>
                  </a:lnTo>
                  <a:lnTo>
                    <a:pt x="199858" y="228"/>
                  </a:lnTo>
                  <a:lnTo>
                    <a:pt x="245799" y="8200"/>
                  </a:lnTo>
                  <a:lnTo>
                    <a:pt x="288427" y="27095"/>
                  </a:lnTo>
                  <a:lnTo>
                    <a:pt x="325203" y="55796"/>
                  </a:lnTo>
                  <a:lnTo>
                    <a:pt x="353904" y="92572"/>
                  </a:lnTo>
                  <a:lnTo>
                    <a:pt x="372799" y="135199"/>
                  </a:lnTo>
                  <a:lnTo>
                    <a:pt x="380771" y="181141"/>
                  </a:lnTo>
                  <a:lnTo>
                    <a:pt x="380999" y="190499"/>
                  </a:lnTo>
                  <a:lnTo>
                    <a:pt x="380771" y="199858"/>
                  </a:lnTo>
                  <a:lnTo>
                    <a:pt x="372799" y="245799"/>
                  </a:lnTo>
                  <a:lnTo>
                    <a:pt x="353904" y="288426"/>
                  </a:lnTo>
                  <a:lnTo>
                    <a:pt x="325203" y="325203"/>
                  </a:lnTo>
                  <a:lnTo>
                    <a:pt x="288427" y="353903"/>
                  </a:lnTo>
                  <a:lnTo>
                    <a:pt x="245799" y="372798"/>
                  </a:lnTo>
                  <a:lnTo>
                    <a:pt x="199858" y="380770"/>
                  </a:lnTo>
                  <a:lnTo>
                    <a:pt x="190499" y="380999"/>
                  </a:lnTo>
                  <a:close/>
                </a:path>
              </a:pathLst>
            </a:custGeom>
            <a:solidFill>
              <a:srgbClr val="FEF2C7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2" name="object 32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42974" y="4752974"/>
              <a:ext cx="171449" cy="95249"/>
            </a:xfrm>
            <a:prstGeom prst="rect">
              <a:avLst/>
            </a:prstGeom>
          </p:spPr>
        </p:pic>
      </p:grpSp>
      <p:sp>
        <p:nvSpPr>
          <p:cNvPr id="33" name="object 33" descr=""/>
          <p:cNvSpPr txBox="1"/>
          <p:nvPr/>
        </p:nvSpPr>
        <p:spPr>
          <a:xfrm>
            <a:off x="1320799" y="4639309"/>
            <a:ext cx="1951355" cy="2838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500">
                <a:solidFill>
                  <a:srgbClr val="1F2937"/>
                </a:solidFill>
                <a:latin typeface="DejaVu Sans"/>
                <a:cs typeface="DejaVu Sans"/>
              </a:rPr>
              <a:t>7.</a:t>
            </a:r>
            <a:r>
              <a:rPr dirty="0" sz="1500" spc="45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dirty="0" sz="1700" spc="-210">
                <a:solidFill>
                  <a:srgbClr val="1F2937"/>
                </a:solidFill>
                <a:latin typeface="SimSun"/>
                <a:cs typeface="SimSun"/>
              </a:rPr>
              <a:t>储能</a:t>
            </a:r>
            <a:r>
              <a:rPr dirty="0" sz="1500" spc="-20">
                <a:solidFill>
                  <a:srgbClr val="1F2937"/>
                </a:solidFill>
                <a:latin typeface="DejaVu Sans"/>
                <a:cs typeface="DejaVu Sans"/>
              </a:rPr>
              <a:t>+</a:t>
            </a:r>
            <a:r>
              <a:rPr dirty="0" sz="1700" spc="-210">
                <a:solidFill>
                  <a:srgbClr val="1F2937"/>
                </a:solidFill>
                <a:latin typeface="SimSun"/>
                <a:cs typeface="SimSun"/>
              </a:rPr>
              <a:t>边缘计算</a:t>
            </a:r>
            <a:r>
              <a:rPr dirty="0" sz="1700" spc="-210">
                <a:solidFill>
                  <a:srgbClr val="1F2937"/>
                </a:solidFill>
                <a:latin typeface="Meiryo"/>
                <a:cs typeface="Meiryo"/>
              </a:rPr>
              <a:t>⽰</a:t>
            </a:r>
            <a:r>
              <a:rPr dirty="0" sz="1700" spc="-114">
                <a:solidFill>
                  <a:srgbClr val="1F2937"/>
                </a:solidFill>
                <a:latin typeface="SimSun"/>
                <a:cs typeface="SimSun"/>
              </a:rPr>
              <a:t>范</a:t>
            </a:r>
            <a:endParaRPr sz="1700">
              <a:latin typeface="SimSun"/>
              <a:cs typeface="SimSun"/>
            </a:endParaRPr>
          </a:p>
        </p:txBody>
      </p:sp>
      <p:sp>
        <p:nvSpPr>
          <p:cNvPr id="34" name="object 34" descr=""/>
          <p:cNvSpPr txBox="1"/>
          <p:nvPr/>
        </p:nvSpPr>
        <p:spPr>
          <a:xfrm>
            <a:off x="825500" y="5084889"/>
            <a:ext cx="1225550" cy="206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-110">
                <a:solidFill>
                  <a:srgbClr val="4A5462"/>
                </a:solidFill>
                <a:latin typeface="SimSun"/>
                <a:cs typeface="SimSun"/>
              </a:rPr>
              <a:t>能源与算</a:t>
            </a:r>
            <a:r>
              <a:rPr dirty="0" sz="1150" spc="-110">
                <a:solidFill>
                  <a:srgbClr val="4A5462"/>
                </a:solidFill>
                <a:latin typeface="Microsoft JhengHei"/>
                <a:cs typeface="Microsoft JhengHei"/>
              </a:rPr>
              <a:t>⼒</a:t>
            </a:r>
            <a:r>
              <a:rPr dirty="0" sz="1150" spc="-110">
                <a:solidFill>
                  <a:srgbClr val="4A5462"/>
                </a:solidFill>
                <a:latin typeface="SimSun"/>
                <a:cs typeface="SimSun"/>
              </a:rPr>
              <a:t>融合创</a:t>
            </a:r>
            <a:r>
              <a:rPr dirty="0" sz="1150" spc="-50">
                <a:solidFill>
                  <a:srgbClr val="4A5462"/>
                </a:solidFill>
                <a:latin typeface="Meiryo"/>
                <a:cs typeface="Meiryo"/>
              </a:rPr>
              <a:t>新</a:t>
            </a:r>
            <a:endParaRPr sz="1150">
              <a:latin typeface="Meiryo"/>
              <a:cs typeface="Meiryo"/>
            </a:endParaRPr>
          </a:p>
        </p:txBody>
      </p:sp>
      <p:grpSp>
        <p:nvGrpSpPr>
          <p:cNvPr id="35" name="object 35" descr=""/>
          <p:cNvGrpSpPr/>
          <p:nvPr/>
        </p:nvGrpSpPr>
        <p:grpSpPr>
          <a:xfrm>
            <a:off x="4343399" y="4419599"/>
            <a:ext cx="3505200" cy="1066800"/>
            <a:chOff x="4343399" y="4419599"/>
            <a:chExt cx="3505200" cy="1066800"/>
          </a:xfrm>
        </p:grpSpPr>
        <p:sp>
          <p:nvSpPr>
            <p:cNvPr id="36" name="object 36" descr=""/>
            <p:cNvSpPr/>
            <p:nvPr/>
          </p:nvSpPr>
          <p:spPr>
            <a:xfrm>
              <a:off x="4362449" y="4419599"/>
              <a:ext cx="3486150" cy="1066800"/>
            </a:xfrm>
            <a:custGeom>
              <a:avLst/>
              <a:gdLst/>
              <a:ahLst/>
              <a:cxnLst/>
              <a:rect l="l" t="t" r="r" b="b"/>
              <a:pathLst>
                <a:path w="3486150" h="1066800">
                  <a:moveTo>
                    <a:pt x="3414952" y="1066799"/>
                  </a:moveTo>
                  <a:lnTo>
                    <a:pt x="53397" y="1066799"/>
                  </a:lnTo>
                  <a:lnTo>
                    <a:pt x="49680" y="1066310"/>
                  </a:lnTo>
                  <a:lnTo>
                    <a:pt x="14084" y="1040942"/>
                  </a:lnTo>
                  <a:lnTo>
                    <a:pt x="365" y="1000558"/>
                  </a:lnTo>
                  <a:lnTo>
                    <a:pt x="0" y="995603"/>
                  </a:lnTo>
                  <a:lnTo>
                    <a:pt x="0" y="990599"/>
                  </a:lnTo>
                  <a:lnTo>
                    <a:pt x="0" y="71196"/>
                  </a:lnTo>
                  <a:lnTo>
                    <a:pt x="11715" y="29704"/>
                  </a:lnTo>
                  <a:lnTo>
                    <a:pt x="42319" y="2439"/>
                  </a:lnTo>
                  <a:lnTo>
                    <a:pt x="53397" y="0"/>
                  </a:lnTo>
                  <a:lnTo>
                    <a:pt x="3414952" y="0"/>
                  </a:lnTo>
                  <a:lnTo>
                    <a:pt x="3456444" y="15621"/>
                  </a:lnTo>
                  <a:lnTo>
                    <a:pt x="3482263" y="51661"/>
                  </a:lnTo>
                  <a:lnTo>
                    <a:pt x="3486149" y="71196"/>
                  </a:lnTo>
                  <a:lnTo>
                    <a:pt x="3486149" y="995603"/>
                  </a:lnTo>
                  <a:lnTo>
                    <a:pt x="3470527" y="1037093"/>
                  </a:lnTo>
                  <a:lnTo>
                    <a:pt x="3434486" y="1062913"/>
                  </a:lnTo>
                  <a:lnTo>
                    <a:pt x="3419907" y="1066310"/>
                  </a:lnTo>
                  <a:lnTo>
                    <a:pt x="3414952" y="1066799"/>
                  </a:lnTo>
                  <a:close/>
                </a:path>
              </a:pathLst>
            </a:custGeom>
            <a:solidFill>
              <a:srgbClr val="FFFFFF">
                <a:alpha val="901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4343399" y="4419877"/>
              <a:ext cx="70485" cy="1066800"/>
            </a:xfrm>
            <a:custGeom>
              <a:avLst/>
              <a:gdLst/>
              <a:ahLst/>
              <a:cxnLst/>
              <a:rect l="l" t="t" r="r" b="b"/>
              <a:pathLst>
                <a:path w="70485" h="1066800">
                  <a:moveTo>
                    <a:pt x="70449" y="1066244"/>
                  </a:moveTo>
                  <a:lnTo>
                    <a:pt x="33857" y="1053691"/>
                  </a:lnTo>
                  <a:lnTo>
                    <a:pt x="5800" y="1019482"/>
                  </a:lnTo>
                  <a:lnTo>
                    <a:pt x="0" y="990322"/>
                  </a:lnTo>
                  <a:lnTo>
                    <a:pt x="0" y="75922"/>
                  </a:lnTo>
                  <a:lnTo>
                    <a:pt x="12829" y="33579"/>
                  </a:lnTo>
                  <a:lnTo>
                    <a:pt x="47038" y="5522"/>
                  </a:lnTo>
                  <a:lnTo>
                    <a:pt x="70449" y="0"/>
                  </a:lnTo>
                  <a:lnTo>
                    <a:pt x="66287" y="1655"/>
                  </a:lnTo>
                  <a:lnTo>
                    <a:pt x="56951" y="9389"/>
                  </a:lnTo>
                  <a:lnTo>
                    <a:pt x="41000" y="46761"/>
                  </a:lnTo>
                  <a:lnTo>
                    <a:pt x="38100" y="75922"/>
                  </a:lnTo>
                  <a:lnTo>
                    <a:pt x="38100" y="990322"/>
                  </a:lnTo>
                  <a:lnTo>
                    <a:pt x="44515" y="1032664"/>
                  </a:lnTo>
                  <a:lnTo>
                    <a:pt x="66287" y="1064588"/>
                  </a:lnTo>
                  <a:lnTo>
                    <a:pt x="70449" y="1066244"/>
                  </a:lnTo>
                  <a:close/>
                </a:path>
              </a:pathLst>
            </a:custGeom>
            <a:solidFill>
              <a:srgbClr val="E4E7E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8" name="object 38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667726" y="4726900"/>
              <a:ext cx="187523" cy="149363"/>
            </a:xfrm>
            <a:prstGeom prst="rect">
              <a:avLst/>
            </a:prstGeom>
          </p:spPr>
        </p:pic>
      </p:grpSp>
      <p:sp>
        <p:nvSpPr>
          <p:cNvPr id="39" name="object 39" descr=""/>
          <p:cNvSpPr txBox="1"/>
          <p:nvPr/>
        </p:nvSpPr>
        <p:spPr>
          <a:xfrm>
            <a:off x="5054599" y="4639309"/>
            <a:ext cx="1601470" cy="2838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500">
                <a:solidFill>
                  <a:srgbClr val="1F2937"/>
                </a:solidFill>
                <a:latin typeface="DejaVu Sans"/>
                <a:cs typeface="DejaVu Sans"/>
              </a:rPr>
              <a:t>8.</a:t>
            </a:r>
            <a:r>
              <a:rPr dirty="0" sz="1500" spc="35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dirty="0" sz="1700" spc="-200">
                <a:solidFill>
                  <a:srgbClr val="1F2937"/>
                </a:solidFill>
                <a:latin typeface="SimSun"/>
                <a:cs typeface="SimSun"/>
              </a:rPr>
              <a:t>运营策略与机制</a:t>
            </a:r>
            <a:endParaRPr sz="1700">
              <a:latin typeface="SimSun"/>
              <a:cs typeface="SimSun"/>
            </a:endParaRPr>
          </a:p>
        </p:txBody>
      </p:sp>
      <p:sp>
        <p:nvSpPr>
          <p:cNvPr id="40" name="object 40" descr=""/>
          <p:cNvSpPr txBox="1"/>
          <p:nvPr/>
        </p:nvSpPr>
        <p:spPr>
          <a:xfrm>
            <a:off x="4559300" y="5084889"/>
            <a:ext cx="1225550" cy="206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-105">
                <a:solidFill>
                  <a:srgbClr val="4A5462"/>
                </a:solidFill>
                <a:latin typeface="SimSun"/>
                <a:cs typeface="SimSun"/>
              </a:rPr>
              <a:t>组织协同与利益分配</a:t>
            </a:r>
            <a:endParaRPr sz="1150">
              <a:latin typeface="SimSun"/>
              <a:cs typeface="SimSun"/>
            </a:endParaRPr>
          </a:p>
        </p:txBody>
      </p:sp>
      <p:grpSp>
        <p:nvGrpSpPr>
          <p:cNvPr id="41" name="object 41" descr=""/>
          <p:cNvGrpSpPr/>
          <p:nvPr/>
        </p:nvGrpSpPr>
        <p:grpSpPr>
          <a:xfrm>
            <a:off x="8077199" y="4419599"/>
            <a:ext cx="3505200" cy="1066800"/>
            <a:chOff x="8077199" y="4419599"/>
            <a:chExt cx="3505200" cy="1066800"/>
          </a:xfrm>
        </p:grpSpPr>
        <p:sp>
          <p:nvSpPr>
            <p:cNvPr id="42" name="object 42" descr=""/>
            <p:cNvSpPr/>
            <p:nvPr/>
          </p:nvSpPr>
          <p:spPr>
            <a:xfrm>
              <a:off x="8096249" y="4419599"/>
              <a:ext cx="3486150" cy="1066800"/>
            </a:xfrm>
            <a:custGeom>
              <a:avLst/>
              <a:gdLst/>
              <a:ahLst/>
              <a:cxnLst/>
              <a:rect l="l" t="t" r="r" b="b"/>
              <a:pathLst>
                <a:path w="3486150" h="1066800">
                  <a:moveTo>
                    <a:pt x="3414952" y="1066799"/>
                  </a:moveTo>
                  <a:lnTo>
                    <a:pt x="53397" y="1066799"/>
                  </a:lnTo>
                  <a:lnTo>
                    <a:pt x="49680" y="1066310"/>
                  </a:lnTo>
                  <a:lnTo>
                    <a:pt x="14084" y="1040942"/>
                  </a:lnTo>
                  <a:lnTo>
                    <a:pt x="365" y="1000558"/>
                  </a:lnTo>
                  <a:lnTo>
                    <a:pt x="0" y="995603"/>
                  </a:lnTo>
                  <a:lnTo>
                    <a:pt x="0" y="990599"/>
                  </a:lnTo>
                  <a:lnTo>
                    <a:pt x="0" y="71196"/>
                  </a:lnTo>
                  <a:lnTo>
                    <a:pt x="11714" y="29704"/>
                  </a:lnTo>
                  <a:lnTo>
                    <a:pt x="42318" y="2439"/>
                  </a:lnTo>
                  <a:lnTo>
                    <a:pt x="53397" y="0"/>
                  </a:lnTo>
                  <a:lnTo>
                    <a:pt x="3414952" y="0"/>
                  </a:lnTo>
                  <a:lnTo>
                    <a:pt x="3456442" y="15621"/>
                  </a:lnTo>
                  <a:lnTo>
                    <a:pt x="3482261" y="51661"/>
                  </a:lnTo>
                  <a:lnTo>
                    <a:pt x="3486148" y="71196"/>
                  </a:lnTo>
                  <a:lnTo>
                    <a:pt x="3486148" y="995603"/>
                  </a:lnTo>
                  <a:lnTo>
                    <a:pt x="3470526" y="1037093"/>
                  </a:lnTo>
                  <a:lnTo>
                    <a:pt x="3434486" y="1062913"/>
                  </a:lnTo>
                  <a:lnTo>
                    <a:pt x="3419907" y="1066310"/>
                  </a:lnTo>
                  <a:lnTo>
                    <a:pt x="3414952" y="1066799"/>
                  </a:lnTo>
                  <a:close/>
                </a:path>
              </a:pathLst>
            </a:custGeom>
            <a:solidFill>
              <a:srgbClr val="FFFFFF">
                <a:alpha val="901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 descr=""/>
            <p:cNvSpPr/>
            <p:nvPr/>
          </p:nvSpPr>
          <p:spPr>
            <a:xfrm>
              <a:off x="8077199" y="4419877"/>
              <a:ext cx="70485" cy="1066800"/>
            </a:xfrm>
            <a:custGeom>
              <a:avLst/>
              <a:gdLst/>
              <a:ahLst/>
              <a:cxnLst/>
              <a:rect l="l" t="t" r="r" b="b"/>
              <a:pathLst>
                <a:path w="70484" h="1066800">
                  <a:moveTo>
                    <a:pt x="70450" y="1066244"/>
                  </a:moveTo>
                  <a:lnTo>
                    <a:pt x="33857" y="1053691"/>
                  </a:lnTo>
                  <a:lnTo>
                    <a:pt x="5799" y="1019482"/>
                  </a:lnTo>
                  <a:lnTo>
                    <a:pt x="0" y="990322"/>
                  </a:lnTo>
                  <a:lnTo>
                    <a:pt x="0" y="75922"/>
                  </a:lnTo>
                  <a:lnTo>
                    <a:pt x="12829" y="33579"/>
                  </a:lnTo>
                  <a:lnTo>
                    <a:pt x="47038" y="5522"/>
                  </a:lnTo>
                  <a:lnTo>
                    <a:pt x="70449" y="0"/>
                  </a:lnTo>
                  <a:lnTo>
                    <a:pt x="66287" y="1655"/>
                  </a:lnTo>
                  <a:lnTo>
                    <a:pt x="56951" y="9389"/>
                  </a:lnTo>
                  <a:lnTo>
                    <a:pt x="41000" y="46761"/>
                  </a:lnTo>
                  <a:lnTo>
                    <a:pt x="38100" y="75922"/>
                  </a:lnTo>
                  <a:lnTo>
                    <a:pt x="38100" y="990322"/>
                  </a:lnTo>
                  <a:lnTo>
                    <a:pt x="44514" y="1032664"/>
                  </a:lnTo>
                  <a:lnTo>
                    <a:pt x="66287" y="1064588"/>
                  </a:lnTo>
                  <a:lnTo>
                    <a:pt x="70450" y="1066244"/>
                  </a:lnTo>
                  <a:close/>
                </a:path>
              </a:pathLst>
            </a:custGeom>
            <a:solidFill>
              <a:srgbClr val="EF444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 descr=""/>
            <p:cNvSpPr/>
            <p:nvPr/>
          </p:nvSpPr>
          <p:spPr>
            <a:xfrm>
              <a:off x="8305799" y="4610099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90499" y="380999"/>
                  </a:moveTo>
                  <a:lnTo>
                    <a:pt x="144200" y="375288"/>
                  </a:lnTo>
                  <a:lnTo>
                    <a:pt x="100697" y="358507"/>
                  </a:lnTo>
                  <a:lnTo>
                    <a:pt x="62575" y="331658"/>
                  </a:lnTo>
                  <a:lnTo>
                    <a:pt x="32104" y="296335"/>
                  </a:lnTo>
                  <a:lnTo>
                    <a:pt x="11130" y="254666"/>
                  </a:lnTo>
                  <a:lnTo>
                    <a:pt x="915" y="209172"/>
                  </a:lnTo>
                  <a:lnTo>
                    <a:pt x="0" y="190499"/>
                  </a:lnTo>
                  <a:lnTo>
                    <a:pt x="229" y="181141"/>
                  </a:lnTo>
                  <a:lnTo>
                    <a:pt x="8200" y="135199"/>
                  </a:lnTo>
                  <a:lnTo>
                    <a:pt x="27095" y="92572"/>
                  </a:lnTo>
                  <a:lnTo>
                    <a:pt x="55796" y="55796"/>
                  </a:lnTo>
                  <a:lnTo>
                    <a:pt x="92571" y="27095"/>
                  </a:lnTo>
                  <a:lnTo>
                    <a:pt x="135199" y="8200"/>
                  </a:lnTo>
                  <a:lnTo>
                    <a:pt x="181141" y="228"/>
                  </a:lnTo>
                  <a:lnTo>
                    <a:pt x="190499" y="0"/>
                  </a:lnTo>
                  <a:lnTo>
                    <a:pt x="199858" y="228"/>
                  </a:lnTo>
                  <a:lnTo>
                    <a:pt x="245798" y="8200"/>
                  </a:lnTo>
                  <a:lnTo>
                    <a:pt x="288426" y="27095"/>
                  </a:lnTo>
                  <a:lnTo>
                    <a:pt x="325202" y="55796"/>
                  </a:lnTo>
                  <a:lnTo>
                    <a:pt x="353903" y="92572"/>
                  </a:lnTo>
                  <a:lnTo>
                    <a:pt x="372798" y="135199"/>
                  </a:lnTo>
                  <a:lnTo>
                    <a:pt x="380770" y="181141"/>
                  </a:lnTo>
                  <a:lnTo>
                    <a:pt x="380999" y="190499"/>
                  </a:lnTo>
                  <a:lnTo>
                    <a:pt x="380770" y="199858"/>
                  </a:lnTo>
                  <a:lnTo>
                    <a:pt x="372798" y="245799"/>
                  </a:lnTo>
                  <a:lnTo>
                    <a:pt x="353903" y="288426"/>
                  </a:lnTo>
                  <a:lnTo>
                    <a:pt x="325202" y="325203"/>
                  </a:lnTo>
                  <a:lnTo>
                    <a:pt x="288426" y="353903"/>
                  </a:lnTo>
                  <a:lnTo>
                    <a:pt x="245798" y="372798"/>
                  </a:lnTo>
                  <a:lnTo>
                    <a:pt x="199858" y="380770"/>
                  </a:lnTo>
                  <a:lnTo>
                    <a:pt x="190499" y="380999"/>
                  </a:lnTo>
                  <a:close/>
                </a:path>
              </a:pathLst>
            </a:custGeom>
            <a:solidFill>
              <a:srgbClr val="FEE2E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5" name="object 45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420099" y="4724399"/>
              <a:ext cx="161627" cy="152399"/>
            </a:xfrm>
            <a:prstGeom prst="rect">
              <a:avLst/>
            </a:prstGeom>
          </p:spPr>
        </p:pic>
      </p:grpSp>
      <p:sp>
        <p:nvSpPr>
          <p:cNvPr id="46" name="object 46" descr=""/>
          <p:cNvSpPr txBox="1"/>
          <p:nvPr/>
        </p:nvSpPr>
        <p:spPr>
          <a:xfrm>
            <a:off x="8788400" y="4639309"/>
            <a:ext cx="1601470" cy="2838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500">
                <a:solidFill>
                  <a:srgbClr val="1F2937"/>
                </a:solidFill>
                <a:latin typeface="DejaVu Sans"/>
                <a:cs typeface="DejaVu Sans"/>
              </a:rPr>
              <a:t>9.</a:t>
            </a:r>
            <a:r>
              <a:rPr dirty="0" sz="1500" spc="35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dirty="0" sz="1700" spc="-210">
                <a:solidFill>
                  <a:srgbClr val="1F2937"/>
                </a:solidFill>
                <a:latin typeface="SimSun"/>
                <a:cs typeface="SimSun"/>
              </a:rPr>
              <a:t>商业价值与效</a:t>
            </a:r>
            <a:r>
              <a:rPr dirty="0" sz="1700" spc="-125">
                <a:solidFill>
                  <a:srgbClr val="1F2937"/>
                </a:solidFill>
                <a:latin typeface="Meiryo"/>
                <a:cs typeface="Meiryo"/>
              </a:rPr>
              <a:t>益</a:t>
            </a:r>
            <a:endParaRPr sz="1700">
              <a:latin typeface="Meiryo"/>
              <a:cs typeface="Meiryo"/>
            </a:endParaRPr>
          </a:p>
        </p:txBody>
      </p:sp>
      <p:sp>
        <p:nvSpPr>
          <p:cNvPr id="47" name="object 47" descr=""/>
          <p:cNvSpPr txBox="1"/>
          <p:nvPr/>
        </p:nvSpPr>
        <p:spPr>
          <a:xfrm>
            <a:off x="8293100" y="5084889"/>
            <a:ext cx="1225550" cy="206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-110">
                <a:solidFill>
                  <a:srgbClr val="4A5462"/>
                </a:solidFill>
                <a:latin typeface="SimSun"/>
                <a:cs typeface="SimSun"/>
              </a:rPr>
              <a:t>短期与</a:t>
            </a:r>
            <a:r>
              <a:rPr dirty="0" sz="1150" spc="-110">
                <a:solidFill>
                  <a:srgbClr val="4A5462"/>
                </a:solidFill>
                <a:latin typeface="Meiryo"/>
                <a:cs typeface="Meiryo"/>
              </a:rPr>
              <a:t>⻓</a:t>
            </a:r>
            <a:r>
              <a:rPr dirty="0" sz="1150" spc="-110">
                <a:solidFill>
                  <a:srgbClr val="4A5462"/>
                </a:solidFill>
                <a:latin typeface="SimSun"/>
                <a:cs typeface="SimSun"/>
              </a:rPr>
              <a:t>期</a:t>
            </a:r>
            <a:r>
              <a:rPr dirty="0" sz="1150" spc="-110">
                <a:solidFill>
                  <a:srgbClr val="4A5462"/>
                </a:solidFill>
                <a:latin typeface="Meiryo"/>
                <a:cs typeface="Meiryo"/>
              </a:rPr>
              <a:t>收</a:t>
            </a:r>
            <a:r>
              <a:rPr dirty="0" sz="1150" spc="-90">
                <a:solidFill>
                  <a:srgbClr val="4A5462"/>
                </a:solidFill>
                <a:latin typeface="SimSun"/>
                <a:cs typeface="SimSun"/>
              </a:rPr>
              <a:t>益分析</a:t>
            </a:r>
            <a:endParaRPr sz="1150">
              <a:latin typeface="SimSun"/>
              <a:cs typeface="SimSun"/>
            </a:endParaRPr>
          </a:p>
        </p:txBody>
      </p:sp>
      <p:grpSp>
        <p:nvGrpSpPr>
          <p:cNvPr id="48" name="object 48" descr=""/>
          <p:cNvGrpSpPr/>
          <p:nvPr/>
        </p:nvGrpSpPr>
        <p:grpSpPr>
          <a:xfrm>
            <a:off x="609599" y="5714999"/>
            <a:ext cx="3505200" cy="1066800"/>
            <a:chOff x="609599" y="5714999"/>
            <a:chExt cx="3505200" cy="1066800"/>
          </a:xfrm>
        </p:grpSpPr>
        <p:sp>
          <p:nvSpPr>
            <p:cNvPr id="49" name="object 49" descr=""/>
            <p:cNvSpPr/>
            <p:nvPr/>
          </p:nvSpPr>
          <p:spPr>
            <a:xfrm>
              <a:off x="628649" y="5714999"/>
              <a:ext cx="3486150" cy="1066800"/>
            </a:xfrm>
            <a:custGeom>
              <a:avLst/>
              <a:gdLst/>
              <a:ahLst/>
              <a:cxnLst/>
              <a:rect l="l" t="t" r="r" b="b"/>
              <a:pathLst>
                <a:path w="3486150" h="1066800">
                  <a:moveTo>
                    <a:pt x="3414952" y="1066799"/>
                  </a:moveTo>
                  <a:lnTo>
                    <a:pt x="53397" y="1066799"/>
                  </a:lnTo>
                  <a:lnTo>
                    <a:pt x="49680" y="1066311"/>
                  </a:lnTo>
                  <a:lnTo>
                    <a:pt x="14085" y="1040942"/>
                  </a:lnTo>
                  <a:lnTo>
                    <a:pt x="366" y="1000558"/>
                  </a:lnTo>
                  <a:lnTo>
                    <a:pt x="0" y="995602"/>
                  </a:lnTo>
                  <a:lnTo>
                    <a:pt x="0" y="990599"/>
                  </a:lnTo>
                  <a:lnTo>
                    <a:pt x="0" y="71196"/>
                  </a:lnTo>
                  <a:lnTo>
                    <a:pt x="11716" y="29704"/>
                  </a:lnTo>
                  <a:lnTo>
                    <a:pt x="42320" y="2439"/>
                  </a:lnTo>
                  <a:lnTo>
                    <a:pt x="53397" y="0"/>
                  </a:lnTo>
                  <a:lnTo>
                    <a:pt x="3414952" y="0"/>
                  </a:lnTo>
                  <a:lnTo>
                    <a:pt x="3456443" y="15621"/>
                  </a:lnTo>
                  <a:lnTo>
                    <a:pt x="3482263" y="51660"/>
                  </a:lnTo>
                  <a:lnTo>
                    <a:pt x="3486149" y="71196"/>
                  </a:lnTo>
                  <a:lnTo>
                    <a:pt x="3486149" y="995602"/>
                  </a:lnTo>
                  <a:lnTo>
                    <a:pt x="3470527" y="1037093"/>
                  </a:lnTo>
                  <a:lnTo>
                    <a:pt x="3434486" y="1062912"/>
                  </a:lnTo>
                  <a:lnTo>
                    <a:pt x="3419908" y="1066311"/>
                  </a:lnTo>
                  <a:lnTo>
                    <a:pt x="3414952" y="1066799"/>
                  </a:lnTo>
                  <a:close/>
                </a:path>
              </a:pathLst>
            </a:custGeom>
            <a:solidFill>
              <a:srgbClr val="FFFFFF">
                <a:alpha val="901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 descr=""/>
            <p:cNvSpPr/>
            <p:nvPr/>
          </p:nvSpPr>
          <p:spPr>
            <a:xfrm>
              <a:off x="609599" y="5715277"/>
              <a:ext cx="70485" cy="1066800"/>
            </a:xfrm>
            <a:custGeom>
              <a:avLst/>
              <a:gdLst/>
              <a:ahLst/>
              <a:cxnLst/>
              <a:rect l="l" t="t" r="r" b="b"/>
              <a:pathLst>
                <a:path w="70484" h="1066800">
                  <a:moveTo>
                    <a:pt x="70450" y="1066244"/>
                  </a:moveTo>
                  <a:lnTo>
                    <a:pt x="33857" y="1053691"/>
                  </a:lnTo>
                  <a:lnTo>
                    <a:pt x="5800" y="1019482"/>
                  </a:lnTo>
                  <a:lnTo>
                    <a:pt x="0" y="990322"/>
                  </a:lnTo>
                  <a:lnTo>
                    <a:pt x="0" y="75922"/>
                  </a:lnTo>
                  <a:lnTo>
                    <a:pt x="12830" y="33579"/>
                  </a:lnTo>
                  <a:lnTo>
                    <a:pt x="47039" y="5522"/>
                  </a:lnTo>
                  <a:lnTo>
                    <a:pt x="70449" y="0"/>
                  </a:lnTo>
                  <a:lnTo>
                    <a:pt x="66287" y="1655"/>
                  </a:lnTo>
                  <a:lnTo>
                    <a:pt x="56951" y="9389"/>
                  </a:lnTo>
                  <a:lnTo>
                    <a:pt x="41000" y="46761"/>
                  </a:lnTo>
                  <a:lnTo>
                    <a:pt x="38100" y="75922"/>
                  </a:lnTo>
                  <a:lnTo>
                    <a:pt x="38100" y="990322"/>
                  </a:lnTo>
                  <a:lnTo>
                    <a:pt x="44514" y="1032663"/>
                  </a:lnTo>
                  <a:lnTo>
                    <a:pt x="66287" y="1064588"/>
                  </a:lnTo>
                  <a:lnTo>
                    <a:pt x="70450" y="1066244"/>
                  </a:lnTo>
                  <a:close/>
                </a:path>
              </a:pathLst>
            </a:custGeom>
            <a:solidFill>
              <a:srgbClr val="EC48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 descr=""/>
            <p:cNvSpPr/>
            <p:nvPr/>
          </p:nvSpPr>
          <p:spPr>
            <a:xfrm>
              <a:off x="838199" y="5905499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90499" y="380999"/>
                  </a:moveTo>
                  <a:lnTo>
                    <a:pt x="144200" y="375288"/>
                  </a:lnTo>
                  <a:lnTo>
                    <a:pt x="100697" y="358507"/>
                  </a:lnTo>
                  <a:lnTo>
                    <a:pt x="62575" y="331659"/>
                  </a:lnTo>
                  <a:lnTo>
                    <a:pt x="32105" y="296334"/>
                  </a:lnTo>
                  <a:lnTo>
                    <a:pt x="11130" y="254666"/>
                  </a:lnTo>
                  <a:lnTo>
                    <a:pt x="915" y="209171"/>
                  </a:lnTo>
                  <a:lnTo>
                    <a:pt x="0" y="190499"/>
                  </a:lnTo>
                  <a:lnTo>
                    <a:pt x="228" y="181141"/>
                  </a:lnTo>
                  <a:lnTo>
                    <a:pt x="8200" y="135199"/>
                  </a:lnTo>
                  <a:lnTo>
                    <a:pt x="27095" y="92571"/>
                  </a:lnTo>
                  <a:lnTo>
                    <a:pt x="55796" y="55796"/>
                  </a:lnTo>
                  <a:lnTo>
                    <a:pt x="92572" y="27094"/>
                  </a:lnTo>
                  <a:lnTo>
                    <a:pt x="135200" y="8200"/>
                  </a:lnTo>
                  <a:lnTo>
                    <a:pt x="181141" y="228"/>
                  </a:lnTo>
                  <a:lnTo>
                    <a:pt x="190499" y="0"/>
                  </a:lnTo>
                  <a:lnTo>
                    <a:pt x="199858" y="228"/>
                  </a:lnTo>
                  <a:lnTo>
                    <a:pt x="245799" y="8200"/>
                  </a:lnTo>
                  <a:lnTo>
                    <a:pt x="288427" y="27095"/>
                  </a:lnTo>
                  <a:lnTo>
                    <a:pt x="325203" y="55796"/>
                  </a:lnTo>
                  <a:lnTo>
                    <a:pt x="353904" y="92571"/>
                  </a:lnTo>
                  <a:lnTo>
                    <a:pt x="372799" y="135199"/>
                  </a:lnTo>
                  <a:lnTo>
                    <a:pt x="380771" y="181141"/>
                  </a:lnTo>
                  <a:lnTo>
                    <a:pt x="380999" y="190499"/>
                  </a:lnTo>
                  <a:lnTo>
                    <a:pt x="380771" y="199858"/>
                  </a:lnTo>
                  <a:lnTo>
                    <a:pt x="372799" y="245798"/>
                  </a:lnTo>
                  <a:lnTo>
                    <a:pt x="353904" y="288426"/>
                  </a:lnTo>
                  <a:lnTo>
                    <a:pt x="325203" y="325203"/>
                  </a:lnTo>
                  <a:lnTo>
                    <a:pt x="288427" y="353903"/>
                  </a:lnTo>
                  <a:lnTo>
                    <a:pt x="245799" y="372798"/>
                  </a:lnTo>
                  <a:lnTo>
                    <a:pt x="199858" y="380770"/>
                  </a:lnTo>
                  <a:lnTo>
                    <a:pt x="190499" y="380999"/>
                  </a:lnTo>
                  <a:close/>
                </a:path>
              </a:pathLst>
            </a:custGeom>
            <a:solidFill>
              <a:srgbClr val="FBE7F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2" name="object 52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51785" y="6028491"/>
              <a:ext cx="153114" cy="129420"/>
            </a:xfrm>
            <a:prstGeom prst="rect">
              <a:avLst/>
            </a:prstGeom>
          </p:spPr>
        </p:pic>
      </p:grpSp>
      <p:sp>
        <p:nvSpPr>
          <p:cNvPr id="53" name="object 53" descr=""/>
          <p:cNvSpPr txBox="1"/>
          <p:nvPr/>
        </p:nvSpPr>
        <p:spPr>
          <a:xfrm>
            <a:off x="1320799" y="5934709"/>
            <a:ext cx="1151255" cy="2838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500">
                <a:solidFill>
                  <a:srgbClr val="1F2937"/>
                </a:solidFill>
                <a:latin typeface="DejaVu Sans"/>
                <a:cs typeface="DejaVu Sans"/>
              </a:rPr>
              <a:t>10.</a:t>
            </a:r>
            <a:r>
              <a:rPr dirty="0" sz="1500" spc="15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dirty="0" sz="1700" spc="-195">
                <a:solidFill>
                  <a:srgbClr val="1F2937"/>
                </a:solidFill>
                <a:latin typeface="SimSun"/>
                <a:cs typeface="SimSun"/>
              </a:rPr>
              <a:t>实施计划</a:t>
            </a:r>
            <a:endParaRPr sz="1700">
              <a:latin typeface="SimSun"/>
              <a:cs typeface="SimSun"/>
            </a:endParaRPr>
          </a:p>
        </p:txBody>
      </p:sp>
      <p:sp>
        <p:nvSpPr>
          <p:cNvPr id="54" name="object 54" descr=""/>
          <p:cNvSpPr txBox="1"/>
          <p:nvPr/>
        </p:nvSpPr>
        <p:spPr>
          <a:xfrm>
            <a:off x="825500" y="6380289"/>
            <a:ext cx="1092200" cy="206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-110">
                <a:solidFill>
                  <a:srgbClr val="4A5462"/>
                </a:solidFill>
                <a:latin typeface="SimSun"/>
                <a:cs typeface="SimSun"/>
              </a:rPr>
              <a:t>阶段推进与</a:t>
            </a:r>
            <a:r>
              <a:rPr dirty="0" sz="1150" spc="-110">
                <a:solidFill>
                  <a:srgbClr val="4A5462"/>
                </a:solidFill>
                <a:latin typeface="Meiryo"/>
                <a:cs typeface="Meiryo"/>
              </a:rPr>
              <a:t>⾥</a:t>
            </a:r>
            <a:r>
              <a:rPr dirty="0" sz="1150" spc="-80">
                <a:solidFill>
                  <a:srgbClr val="4A5462"/>
                </a:solidFill>
                <a:latin typeface="SimSun"/>
                <a:cs typeface="SimSun"/>
              </a:rPr>
              <a:t>程碑</a:t>
            </a:r>
            <a:endParaRPr sz="1150">
              <a:latin typeface="SimSun"/>
              <a:cs typeface="SimSun"/>
            </a:endParaRPr>
          </a:p>
        </p:txBody>
      </p:sp>
      <p:grpSp>
        <p:nvGrpSpPr>
          <p:cNvPr id="55" name="object 55" descr=""/>
          <p:cNvGrpSpPr/>
          <p:nvPr/>
        </p:nvGrpSpPr>
        <p:grpSpPr>
          <a:xfrm>
            <a:off x="4343399" y="5714999"/>
            <a:ext cx="3505200" cy="1066800"/>
            <a:chOff x="4343399" y="5714999"/>
            <a:chExt cx="3505200" cy="1066800"/>
          </a:xfrm>
        </p:grpSpPr>
        <p:sp>
          <p:nvSpPr>
            <p:cNvPr id="56" name="object 56" descr=""/>
            <p:cNvSpPr/>
            <p:nvPr/>
          </p:nvSpPr>
          <p:spPr>
            <a:xfrm>
              <a:off x="4362449" y="5714999"/>
              <a:ext cx="3486150" cy="1066800"/>
            </a:xfrm>
            <a:custGeom>
              <a:avLst/>
              <a:gdLst/>
              <a:ahLst/>
              <a:cxnLst/>
              <a:rect l="l" t="t" r="r" b="b"/>
              <a:pathLst>
                <a:path w="3486150" h="1066800">
                  <a:moveTo>
                    <a:pt x="3414952" y="1066799"/>
                  </a:moveTo>
                  <a:lnTo>
                    <a:pt x="53397" y="1066799"/>
                  </a:lnTo>
                  <a:lnTo>
                    <a:pt x="49680" y="1066311"/>
                  </a:lnTo>
                  <a:lnTo>
                    <a:pt x="14084" y="1040942"/>
                  </a:lnTo>
                  <a:lnTo>
                    <a:pt x="365" y="1000558"/>
                  </a:lnTo>
                  <a:lnTo>
                    <a:pt x="0" y="995602"/>
                  </a:lnTo>
                  <a:lnTo>
                    <a:pt x="0" y="990599"/>
                  </a:lnTo>
                  <a:lnTo>
                    <a:pt x="0" y="71196"/>
                  </a:lnTo>
                  <a:lnTo>
                    <a:pt x="11715" y="29704"/>
                  </a:lnTo>
                  <a:lnTo>
                    <a:pt x="42319" y="2439"/>
                  </a:lnTo>
                  <a:lnTo>
                    <a:pt x="53397" y="0"/>
                  </a:lnTo>
                  <a:lnTo>
                    <a:pt x="3414952" y="0"/>
                  </a:lnTo>
                  <a:lnTo>
                    <a:pt x="3456444" y="15621"/>
                  </a:lnTo>
                  <a:lnTo>
                    <a:pt x="3482263" y="51660"/>
                  </a:lnTo>
                  <a:lnTo>
                    <a:pt x="3486149" y="71196"/>
                  </a:lnTo>
                  <a:lnTo>
                    <a:pt x="3486149" y="995602"/>
                  </a:lnTo>
                  <a:lnTo>
                    <a:pt x="3470527" y="1037093"/>
                  </a:lnTo>
                  <a:lnTo>
                    <a:pt x="3434486" y="1062912"/>
                  </a:lnTo>
                  <a:lnTo>
                    <a:pt x="3419907" y="1066311"/>
                  </a:lnTo>
                  <a:lnTo>
                    <a:pt x="3414952" y="1066799"/>
                  </a:lnTo>
                  <a:close/>
                </a:path>
              </a:pathLst>
            </a:custGeom>
            <a:solidFill>
              <a:srgbClr val="FFFFFF">
                <a:alpha val="901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 descr=""/>
            <p:cNvSpPr/>
            <p:nvPr/>
          </p:nvSpPr>
          <p:spPr>
            <a:xfrm>
              <a:off x="4343399" y="5715277"/>
              <a:ext cx="70485" cy="1066800"/>
            </a:xfrm>
            <a:custGeom>
              <a:avLst/>
              <a:gdLst/>
              <a:ahLst/>
              <a:cxnLst/>
              <a:rect l="l" t="t" r="r" b="b"/>
              <a:pathLst>
                <a:path w="70485" h="1066800">
                  <a:moveTo>
                    <a:pt x="70450" y="1066244"/>
                  </a:moveTo>
                  <a:lnTo>
                    <a:pt x="33857" y="1053691"/>
                  </a:lnTo>
                  <a:lnTo>
                    <a:pt x="5800" y="1019482"/>
                  </a:lnTo>
                  <a:lnTo>
                    <a:pt x="0" y="990322"/>
                  </a:lnTo>
                  <a:lnTo>
                    <a:pt x="0" y="75922"/>
                  </a:lnTo>
                  <a:lnTo>
                    <a:pt x="12829" y="33579"/>
                  </a:lnTo>
                  <a:lnTo>
                    <a:pt x="47039" y="5522"/>
                  </a:lnTo>
                  <a:lnTo>
                    <a:pt x="70449" y="0"/>
                  </a:lnTo>
                  <a:lnTo>
                    <a:pt x="66287" y="1655"/>
                  </a:lnTo>
                  <a:lnTo>
                    <a:pt x="56951" y="9389"/>
                  </a:lnTo>
                  <a:lnTo>
                    <a:pt x="41000" y="46761"/>
                  </a:lnTo>
                  <a:lnTo>
                    <a:pt x="38100" y="75922"/>
                  </a:lnTo>
                  <a:lnTo>
                    <a:pt x="38100" y="990322"/>
                  </a:lnTo>
                  <a:lnTo>
                    <a:pt x="44515" y="1032663"/>
                  </a:lnTo>
                  <a:lnTo>
                    <a:pt x="66287" y="1064588"/>
                  </a:lnTo>
                  <a:lnTo>
                    <a:pt x="70450" y="1066244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 descr=""/>
            <p:cNvSpPr/>
            <p:nvPr/>
          </p:nvSpPr>
          <p:spPr>
            <a:xfrm>
              <a:off x="4571999" y="5905499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90499" y="380999"/>
                  </a:moveTo>
                  <a:lnTo>
                    <a:pt x="144200" y="375288"/>
                  </a:lnTo>
                  <a:lnTo>
                    <a:pt x="100697" y="358507"/>
                  </a:lnTo>
                  <a:lnTo>
                    <a:pt x="62575" y="331659"/>
                  </a:lnTo>
                  <a:lnTo>
                    <a:pt x="32104" y="296334"/>
                  </a:lnTo>
                  <a:lnTo>
                    <a:pt x="11130" y="254666"/>
                  </a:lnTo>
                  <a:lnTo>
                    <a:pt x="914" y="209171"/>
                  </a:lnTo>
                  <a:lnTo>
                    <a:pt x="0" y="190499"/>
                  </a:lnTo>
                  <a:lnTo>
                    <a:pt x="228" y="181141"/>
                  </a:lnTo>
                  <a:lnTo>
                    <a:pt x="8200" y="135199"/>
                  </a:lnTo>
                  <a:lnTo>
                    <a:pt x="27095" y="92571"/>
                  </a:lnTo>
                  <a:lnTo>
                    <a:pt x="55796" y="55796"/>
                  </a:lnTo>
                  <a:lnTo>
                    <a:pt x="92571" y="27094"/>
                  </a:lnTo>
                  <a:lnTo>
                    <a:pt x="135199" y="8200"/>
                  </a:lnTo>
                  <a:lnTo>
                    <a:pt x="181141" y="228"/>
                  </a:lnTo>
                  <a:lnTo>
                    <a:pt x="190499" y="0"/>
                  </a:lnTo>
                  <a:lnTo>
                    <a:pt x="199858" y="228"/>
                  </a:lnTo>
                  <a:lnTo>
                    <a:pt x="245799" y="8200"/>
                  </a:lnTo>
                  <a:lnTo>
                    <a:pt x="288427" y="27095"/>
                  </a:lnTo>
                  <a:lnTo>
                    <a:pt x="325203" y="55796"/>
                  </a:lnTo>
                  <a:lnTo>
                    <a:pt x="353903" y="92571"/>
                  </a:lnTo>
                  <a:lnTo>
                    <a:pt x="372798" y="135199"/>
                  </a:lnTo>
                  <a:lnTo>
                    <a:pt x="380770" y="181141"/>
                  </a:lnTo>
                  <a:lnTo>
                    <a:pt x="380999" y="190499"/>
                  </a:lnTo>
                  <a:lnTo>
                    <a:pt x="380770" y="199858"/>
                  </a:lnTo>
                  <a:lnTo>
                    <a:pt x="372798" y="245798"/>
                  </a:lnTo>
                  <a:lnTo>
                    <a:pt x="353903" y="288426"/>
                  </a:lnTo>
                  <a:lnTo>
                    <a:pt x="325203" y="325203"/>
                  </a:lnTo>
                  <a:lnTo>
                    <a:pt x="288427" y="353903"/>
                  </a:lnTo>
                  <a:lnTo>
                    <a:pt x="245799" y="372798"/>
                  </a:lnTo>
                  <a:lnTo>
                    <a:pt x="199858" y="380770"/>
                  </a:lnTo>
                  <a:lnTo>
                    <a:pt x="190499" y="380999"/>
                  </a:lnTo>
                  <a:close/>
                </a:path>
              </a:pathLst>
            </a:custGeom>
            <a:solidFill>
              <a:srgbClr val="DAE9F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9" name="object 59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710112" y="6019799"/>
              <a:ext cx="104768" cy="152399"/>
            </a:xfrm>
            <a:prstGeom prst="rect">
              <a:avLst/>
            </a:prstGeom>
          </p:spPr>
        </p:pic>
      </p:grpSp>
      <p:sp>
        <p:nvSpPr>
          <p:cNvPr id="60" name="object 60" descr=""/>
          <p:cNvSpPr txBox="1"/>
          <p:nvPr/>
        </p:nvSpPr>
        <p:spPr>
          <a:xfrm>
            <a:off x="5054599" y="5934709"/>
            <a:ext cx="1722755" cy="2838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500">
                <a:solidFill>
                  <a:srgbClr val="1F2937"/>
                </a:solidFill>
                <a:latin typeface="DejaVu Sans"/>
                <a:cs typeface="DejaVu Sans"/>
              </a:rPr>
              <a:t>11.</a:t>
            </a:r>
            <a:r>
              <a:rPr dirty="0" sz="1500" spc="35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dirty="0" sz="1700" spc="-200">
                <a:solidFill>
                  <a:srgbClr val="1F2937"/>
                </a:solidFill>
                <a:latin typeface="SimSun"/>
                <a:cs typeface="SimSun"/>
              </a:rPr>
              <a:t>合作亮点与图解</a:t>
            </a:r>
            <a:endParaRPr sz="1700">
              <a:latin typeface="SimSun"/>
              <a:cs typeface="SimSun"/>
            </a:endParaRPr>
          </a:p>
        </p:txBody>
      </p:sp>
      <p:sp>
        <p:nvSpPr>
          <p:cNvPr id="61" name="object 61" descr=""/>
          <p:cNvSpPr txBox="1"/>
          <p:nvPr/>
        </p:nvSpPr>
        <p:spPr>
          <a:xfrm>
            <a:off x="4559300" y="6380289"/>
            <a:ext cx="1225550" cy="206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-110">
                <a:solidFill>
                  <a:srgbClr val="4A5462"/>
                </a:solidFill>
                <a:latin typeface="SimSun"/>
                <a:cs typeface="SimSun"/>
              </a:rPr>
              <a:t>技术创</a:t>
            </a:r>
            <a:r>
              <a:rPr dirty="0" sz="1150" spc="-110">
                <a:solidFill>
                  <a:srgbClr val="4A5462"/>
                </a:solidFill>
                <a:latin typeface="Meiryo"/>
                <a:cs typeface="Meiryo"/>
              </a:rPr>
              <a:t>新</a:t>
            </a:r>
            <a:r>
              <a:rPr dirty="0" sz="1150" spc="-100">
                <a:solidFill>
                  <a:srgbClr val="4A5462"/>
                </a:solidFill>
                <a:latin typeface="SimSun"/>
                <a:cs typeface="SimSun"/>
              </a:rPr>
              <a:t>与商业模式</a:t>
            </a:r>
            <a:endParaRPr sz="1150">
              <a:latin typeface="SimSun"/>
              <a:cs typeface="SimSun"/>
            </a:endParaRPr>
          </a:p>
        </p:txBody>
      </p:sp>
      <p:grpSp>
        <p:nvGrpSpPr>
          <p:cNvPr id="62" name="object 62" descr=""/>
          <p:cNvGrpSpPr/>
          <p:nvPr/>
        </p:nvGrpSpPr>
        <p:grpSpPr>
          <a:xfrm>
            <a:off x="8077199" y="5714999"/>
            <a:ext cx="3505200" cy="1066800"/>
            <a:chOff x="8077199" y="5714999"/>
            <a:chExt cx="3505200" cy="1066800"/>
          </a:xfrm>
        </p:grpSpPr>
        <p:sp>
          <p:nvSpPr>
            <p:cNvPr id="63" name="object 63" descr=""/>
            <p:cNvSpPr/>
            <p:nvPr/>
          </p:nvSpPr>
          <p:spPr>
            <a:xfrm>
              <a:off x="8096249" y="5714999"/>
              <a:ext cx="3486150" cy="1066800"/>
            </a:xfrm>
            <a:custGeom>
              <a:avLst/>
              <a:gdLst/>
              <a:ahLst/>
              <a:cxnLst/>
              <a:rect l="l" t="t" r="r" b="b"/>
              <a:pathLst>
                <a:path w="3486150" h="1066800">
                  <a:moveTo>
                    <a:pt x="3414952" y="1066799"/>
                  </a:moveTo>
                  <a:lnTo>
                    <a:pt x="53397" y="1066799"/>
                  </a:lnTo>
                  <a:lnTo>
                    <a:pt x="49680" y="1066311"/>
                  </a:lnTo>
                  <a:lnTo>
                    <a:pt x="14084" y="1040942"/>
                  </a:lnTo>
                  <a:lnTo>
                    <a:pt x="365" y="1000558"/>
                  </a:lnTo>
                  <a:lnTo>
                    <a:pt x="0" y="995602"/>
                  </a:lnTo>
                  <a:lnTo>
                    <a:pt x="0" y="990599"/>
                  </a:lnTo>
                  <a:lnTo>
                    <a:pt x="0" y="71196"/>
                  </a:lnTo>
                  <a:lnTo>
                    <a:pt x="11714" y="29704"/>
                  </a:lnTo>
                  <a:lnTo>
                    <a:pt x="42318" y="2439"/>
                  </a:lnTo>
                  <a:lnTo>
                    <a:pt x="53397" y="0"/>
                  </a:lnTo>
                  <a:lnTo>
                    <a:pt x="3414952" y="0"/>
                  </a:lnTo>
                  <a:lnTo>
                    <a:pt x="3456442" y="15621"/>
                  </a:lnTo>
                  <a:lnTo>
                    <a:pt x="3482261" y="51660"/>
                  </a:lnTo>
                  <a:lnTo>
                    <a:pt x="3486148" y="71196"/>
                  </a:lnTo>
                  <a:lnTo>
                    <a:pt x="3486148" y="995602"/>
                  </a:lnTo>
                  <a:lnTo>
                    <a:pt x="3470526" y="1037093"/>
                  </a:lnTo>
                  <a:lnTo>
                    <a:pt x="3434486" y="1062912"/>
                  </a:lnTo>
                  <a:lnTo>
                    <a:pt x="3419907" y="1066311"/>
                  </a:lnTo>
                  <a:lnTo>
                    <a:pt x="3414952" y="1066799"/>
                  </a:lnTo>
                  <a:close/>
                </a:path>
              </a:pathLst>
            </a:custGeom>
            <a:solidFill>
              <a:srgbClr val="FFFFFF">
                <a:alpha val="901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 descr=""/>
            <p:cNvSpPr/>
            <p:nvPr/>
          </p:nvSpPr>
          <p:spPr>
            <a:xfrm>
              <a:off x="8077199" y="5715277"/>
              <a:ext cx="70485" cy="1066800"/>
            </a:xfrm>
            <a:custGeom>
              <a:avLst/>
              <a:gdLst/>
              <a:ahLst/>
              <a:cxnLst/>
              <a:rect l="l" t="t" r="r" b="b"/>
              <a:pathLst>
                <a:path w="70484" h="1066800">
                  <a:moveTo>
                    <a:pt x="70450" y="1066244"/>
                  </a:moveTo>
                  <a:lnTo>
                    <a:pt x="33857" y="1053691"/>
                  </a:lnTo>
                  <a:lnTo>
                    <a:pt x="5799" y="1019482"/>
                  </a:lnTo>
                  <a:lnTo>
                    <a:pt x="0" y="990322"/>
                  </a:lnTo>
                  <a:lnTo>
                    <a:pt x="0" y="75922"/>
                  </a:lnTo>
                  <a:lnTo>
                    <a:pt x="12829" y="33579"/>
                  </a:lnTo>
                  <a:lnTo>
                    <a:pt x="47039" y="5522"/>
                  </a:lnTo>
                  <a:lnTo>
                    <a:pt x="70449" y="0"/>
                  </a:lnTo>
                  <a:lnTo>
                    <a:pt x="66287" y="1655"/>
                  </a:lnTo>
                  <a:lnTo>
                    <a:pt x="56951" y="9389"/>
                  </a:lnTo>
                  <a:lnTo>
                    <a:pt x="41000" y="46761"/>
                  </a:lnTo>
                  <a:lnTo>
                    <a:pt x="38100" y="75922"/>
                  </a:lnTo>
                  <a:lnTo>
                    <a:pt x="38100" y="990322"/>
                  </a:lnTo>
                  <a:lnTo>
                    <a:pt x="44514" y="1032663"/>
                  </a:lnTo>
                  <a:lnTo>
                    <a:pt x="66287" y="1064588"/>
                  </a:lnTo>
                  <a:lnTo>
                    <a:pt x="70450" y="1066244"/>
                  </a:lnTo>
                  <a:close/>
                </a:path>
              </a:pathLst>
            </a:custGeom>
            <a:solidFill>
              <a:srgbClr val="0FB98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 descr=""/>
            <p:cNvSpPr/>
            <p:nvPr/>
          </p:nvSpPr>
          <p:spPr>
            <a:xfrm>
              <a:off x="8305799" y="5905499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90499" y="380999"/>
                  </a:moveTo>
                  <a:lnTo>
                    <a:pt x="144200" y="375288"/>
                  </a:lnTo>
                  <a:lnTo>
                    <a:pt x="100697" y="358507"/>
                  </a:lnTo>
                  <a:lnTo>
                    <a:pt x="62575" y="331659"/>
                  </a:lnTo>
                  <a:lnTo>
                    <a:pt x="32104" y="296334"/>
                  </a:lnTo>
                  <a:lnTo>
                    <a:pt x="11130" y="254666"/>
                  </a:lnTo>
                  <a:lnTo>
                    <a:pt x="915" y="209171"/>
                  </a:lnTo>
                  <a:lnTo>
                    <a:pt x="0" y="190499"/>
                  </a:lnTo>
                  <a:lnTo>
                    <a:pt x="229" y="181141"/>
                  </a:lnTo>
                  <a:lnTo>
                    <a:pt x="8200" y="135199"/>
                  </a:lnTo>
                  <a:lnTo>
                    <a:pt x="27095" y="92571"/>
                  </a:lnTo>
                  <a:lnTo>
                    <a:pt x="55796" y="55796"/>
                  </a:lnTo>
                  <a:lnTo>
                    <a:pt x="92571" y="27094"/>
                  </a:lnTo>
                  <a:lnTo>
                    <a:pt x="135199" y="8200"/>
                  </a:lnTo>
                  <a:lnTo>
                    <a:pt x="181141" y="228"/>
                  </a:lnTo>
                  <a:lnTo>
                    <a:pt x="190499" y="0"/>
                  </a:lnTo>
                  <a:lnTo>
                    <a:pt x="199858" y="228"/>
                  </a:lnTo>
                  <a:lnTo>
                    <a:pt x="245798" y="8200"/>
                  </a:lnTo>
                  <a:lnTo>
                    <a:pt x="288426" y="27095"/>
                  </a:lnTo>
                  <a:lnTo>
                    <a:pt x="325202" y="55796"/>
                  </a:lnTo>
                  <a:lnTo>
                    <a:pt x="353903" y="92571"/>
                  </a:lnTo>
                  <a:lnTo>
                    <a:pt x="372798" y="135199"/>
                  </a:lnTo>
                  <a:lnTo>
                    <a:pt x="380770" y="181141"/>
                  </a:lnTo>
                  <a:lnTo>
                    <a:pt x="380999" y="190499"/>
                  </a:lnTo>
                  <a:lnTo>
                    <a:pt x="380770" y="199858"/>
                  </a:lnTo>
                  <a:lnTo>
                    <a:pt x="372798" y="245798"/>
                  </a:lnTo>
                  <a:lnTo>
                    <a:pt x="353903" y="288426"/>
                  </a:lnTo>
                  <a:lnTo>
                    <a:pt x="325202" y="325203"/>
                  </a:lnTo>
                  <a:lnTo>
                    <a:pt x="288426" y="353903"/>
                  </a:lnTo>
                  <a:lnTo>
                    <a:pt x="245798" y="372798"/>
                  </a:lnTo>
                  <a:lnTo>
                    <a:pt x="199858" y="380770"/>
                  </a:lnTo>
                  <a:lnTo>
                    <a:pt x="190499" y="380999"/>
                  </a:lnTo>
                  <a:close/>
                </a:path>
              </a:pathLst>
            </a:custGeom>
            <a:solidFill>
              <a:srgbClr val="D0FAE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6" name="object 66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419742" y="6019819"/>
              <a:ext cx="152675" cy="152707"/>
            </a:xfrm>
            <a:prstGeom prst="rect">
              <a:avLst/>
            </a:prstGeom>
          </p:spPr>
        </p:pic>
      </p:grpSp>
      <p:sp>
        <p:nvSpPr>
          <p:cNvPr id="67" name="object 67" descr=""/>
          <p:cNvSpPr txBox="1"/>
          <p:nvPr/>
        </p:nvSpPr>
        <p:spPr>
          <a:xfrm>
            <a:off x="8788400" y="5934709"/>
            <a:ext cx="1722755" cy="2838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500">
                <a:solidFill>
                  <a:srgbClr val="1F2937"/>
                </a:solidFill>
                <a:latin typeface="DejaVu Sans"/>
                <a:cs typeface="DejaVu Sans"/>
              </a:rPr>
              <a:t>12.</a:t>
            </a:r>
            <a:r>
              <a:rPr dirty="0" sz="1500" spc="35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dirty="0" sz="1700" spc="-210">
                <a:solidFill>
                  <a:srgbClr val="1F2937"/>
                </a:solidFill>
                <a:latin typeface="SimSun"/>
                <a:cs typeface="SimSun"/>
              </a:rPr>
              <a:t>项</a:t>
            </a:r>
            <a:r>
              <a:rPr dirty="0" sz="1700" spc="-210">
                <a:solidFill>
                  <a:srgbClr val="1F2937"/>
                </a:solidFill>
                <a:latin typeface="Meiryo"/>
                <a:cs typeface="Meiryo"/>
              </a:rPr>
              <a:t>⽬</a:t>
            </a:r>
            <a:r>
              <a:rPr dirty="0" sz="1700" spc="-195">
                <a:solidFill>
                  <a:srgbClr val="1F2937"/>
                </a:solidFill>
                <a:latin typeface="SimSun"/>
                <a:cs typeface="SimSun"/>
              </a:rPr>
              <a:t>展望与总结</a:t>
            </a:r>
            <a:endParaRPr sz="1700">
              <a:latin typeface="SimSun"/>
              <a:cs typeface="SimSun"/>
            </a:endParaRPr>
          </a:p>
        </p:txBody>
      </p:sp>
      <p:sp>
        <p:nvSpPr>
          <p:cNvPr id="68" name="object 68" descr=""/>
          <p:cNvSpPr txBox="1"/>
          <p:nvPr/>
        </p:nvSpPr>
        <p:spPr>
          <a:xfrm>
            <a:off x="8293100" y="6380289"/>
            <a:ext cx="1225550" cy="206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-105">
                <a:solidFill>
                  <a:srgbClr val="4A5462"/>
                </a:solidFill>
                <a:latin typeface="SimSun"/>
                <a:cs typeface="SimSun"/>
              </a:rPr>
              <a:t>未来发展与合作共赢</a:t>
            </a:r>
            <a:endParaRPr sz="1150">
              <a:latin typeface="SimSun"/>
              <a:cs typeface="SimSun"/>
            </a:endParaRPr>
          </a:p>
        </p:txBody>
      </p:sp>
      <p:grpSp>
        <p:nvGrpSpPr>
          <p:cNvPr id="69" name="object 69" descr=""/>
          <p:cNvGrpSpPr/>
          <p:nvPr/>
        </p:nvGrpSpPr>
        <p:grpSpPr>
          <a:xfrm>
            <a:off x="10439397" y="6343649"/>
            <a:ext cx="1562100" cy="323850"/>
            <a:chOff x="10439397" y="6343649"/>
            <a:chExt cx="1562100" cy="323850"/>
          </a:xfrm>
        </p:grpSpPr>
        <p:pic>
          <p:nvPicPr>
            <p:cNvPr id="70" name="object 70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0439397" y="6476999"/>
              <a:ext cx="76201" cy="76199"/>
            </a:xfrm>
            <a:prstGeom prst="rect">
              <a:avLst/>
            </a:prstGeom>
          </p:spPr>
        </p:pic>
        <p:sp>
          <p:nvSpPr>
            <p:cNvPr id="71" name="object 71" descr=""/>
            <p:cNvSpPr/>
            <p:nvPr/>
          </p:nvSpPr>
          <p:spPr>
            <a:xfrm>
              <a:off x="10591797" y="6476999"/>
              <a:ext cx="304800" cy="76200"/>
            </a:xfrm>
            <a:custGeom>
              <a:avLst/>
              <a:gdLst/>
              <a:ahLst/>
              <a:cxnLst/>
              <a:rect l="l" t="t" r="r" b="b"/>
              <a:pathLst>
                <a:path w="304800" h="76200">
                  <a:moveTo>
                    <a:pt x="271753" y="76199"/>
                  </a:moveTo>
                  <a:lnTo>
                    <a:pt x="33047" y="76199"/>
                  </a:lnTo>
                  <a:lnTo>
                    <a:pt x="28187" y="75232"/>
                  </a:lnTo>
                  <a:lnTo>
                    <a:pt x="966" y="48012"/>
                  </a:lnTo>
                  <a:lnTo>
                    <a:pt x="0" y="43152"/>
                  </a:lnTo>
                  <a:lnTo>
                    <a:pt x="1" y="3809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271753" y="0"/>
                  </a:lnTo>
                  <a:lnTo>
                    <a:pt x="303833" y="28186"/>
                  </a:lnTo>
                  <a:lnTo>
                    <a:pt x="304799" y="33047"/>
                  </a:lnTo>
                  <a:lnTo>
                    <a:pt x="304799" y="43152"/>
                  </a:lnTo>
                  <a:lnTo>
                    <a:pt x="276612" y="75232"/>
                  </a:lnTo>
                  <a:lnTo>
                    <a:pt x="271753" y="76199"/>
                  </a:lnTo>
                  <a:close/>
                </a:path>
              </a:pathLst>
            </a:custGeom>
            <a:solidFill>
              <a:srgbClr val="60A5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 descr=""/>
            <p:cNvSpPr/>
            <p:nvPr/>
          </p:nvSpPr>
          <p:spPr>
            <a:xfrm>
              <a:off x="10972797" y="6476999"/>
              <a:ext cx="609600" cy="76200"/>
            </a:xfrm>
            <a:custGeom>
              <a:avLst/>
              <a:gdLst/>
              <a:ahLst/>
              <a:cxnLst/>
              <a:rect l="l" t="t" r="r" b="b"/>
              <a:pathLst>
                <a:path w="609600" h="76200">
                  <a:moveTo>
                    <a:pt x="576553" y="76199"/>
                  </a:moveTo>
                  <a:lnTo>
                    <a:pt x="33047" y="76199"/>
                  </a:lnTo>
                  <a:lnTo>
                    <a:pt x="28186" y="75232"/>
                  </a:lnTo>
                  <a:lnTo>
                    <a:pt x="967" y="48012"/>
                  </a:lnTo>
                  <a:lnTo>
                    <a:pt x="0" y="43152"/>
                  </a:lnTo>
                  <a:lnTo>
                    <a:pt x="1" y="38099"/>
                  </a:lnTo>
                  <a:lnTo>
                    <a:pt x="0" y="33047"/>
                  </a:lnTo>
                  <a:lnTo>
                    <a:pt x="28186" y="966"/>
                  </a:lnTo>
                  <a:lnTo>
                    <a:pt x="33047" y="0"/>
                  </a:lnTo>
                  <a:lnTo>
                    <a:pt x="576553" y="0"/>
                  </a:lnTo>
                  <a:lnTo>
                    <a:pt x="608632" y="28186"/>
                  </a:lnTo>
                  <a:lnTo>
                    <a:pt x="609599" y="33047"/>
                  </a:lnTo>
                  <a:lnTo>
                    <a:pt x="609599" y="43152"/>
                  </a:lnTo>
                  <a:lnTo>
                    <a:pt x="581412" y="75232"/>
                  </a:lnTo>
                  <a:lnTo>
                    <a:pt x="576553" y="76199"/>
                  </a:lnTo>
                  <a:close/>
                </a:path>
              </a:pathLst>
            </a:custGeom>
            <a:solidFill>
              <a:srgbClr val="93C4F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 descr=""/>
            <p:cNvSpPr/>
            <p:nvPr/>
          </p:nvSpPr>
          <p:spPr>
            <a:xfrm>
              <a:off x="10620374" y="6343649"/>
              <a:ext cx="1381125" cy="323850"/>
            </a:xfrm>
            <a:custGeom>
              <a:avLst/>
              <a:gdLst/>
              <a:ahLst/>
              <a:cxnLst/>
              <a:rect l="l" t="t" r="r" b="b"/>
              <a:pathLst>
                <a:path w="1381125" h="323850">
                  <a:moveTo>
                    <a:pt x="1348077" y="323849"/>
                  </a:moveTo>
                  <a:lnTo>
                    <a:pt x="33047" y="323849"/>
                  </a:lnTo>
                  <a:lnTo>
                    <a:pt x="28187" y="322883"/>
                  </a:lnTo>
                  <a:lnTo>
                    <a:pt x="966" y="295662"/>
                  </a:lnTo>
                  <a:lnTo>
                    <a:pt x="0" y="290802"/>
                  </a:lnTo>
                  <a:lnTo>
                    <a:pt x="0" y="28574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1348077" y="0"/>
                  </a:lnTo>
                  <a:lnTo>
                    <a:pt x="1380157" y="28187"/>
                  </a:lnTo>
                  <a:lnTo>
                    <a:pt x="1381124" y="33047"/>
                  </a:lnTo>
                  <a:lnTo>
                    <a:pt x="1381124" y="290802"/>
                  </a:lnTo>
                  <a:lnTo>
                    <a:pt x="1352937" y="322883"/>
                  </a:lnTo>
                  <a:lnTo>
                    <a:pt x="1348077" y="323849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4" name="object 74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0734674" y="6438899"/>
              <a:ext cx="133349" cy="133349"/>
            </a:xfrm>
            <a:prstGeom prst="rect">
              <a:avLst/>
            </a:prstGeom>
          </p:spPr>
        </p:pic>
      </p:grpSp>
      <p:sp>
        <p:nvSpPr>
          <p:cNvPr id="75" name="object 75" descr=""/>
          <p:cNvSpPr txBox="1"/>
          <p:nvPr/>
        </p:nvSpPr>
        <p:spPr>
          <a:xfrm>
            <a:off x="10912176" y="6401815"/>
            <a:ext cx="988060" cy="18097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000" spc="-160">
                <a:solidFill>
                  <a:srgbClr val="FFFFFF"/>
                </a:solidFill>
                <a:latin typeface="SimSun"/>
                <a:cs typeface="SimSun"/>
              </a:rPr>
              <a:t>由 </a:t>
            </a:r>
            <a:r>
              <a:rPr dirty="0" sz="900">
                <a:solidFill>
                  <a:srgbClr val="FFFFFF"/>
                </a:solidFill>
                <a:latin typeface="DejaVu Sans"/>
                <a:cs typeface="DejaVu Sans"/>
              </a:rPr>
              <a:t>Genspark</a:t>
            </a:r>
            <a:r>
              <a:rPr dirty="0" sz="900" spc="-45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000" spc="-75">
                <a:solidFill>
                  <a:srgbClr val="FFFFFF"/>
                </a:solidFill>
                <a:latin typeface="SimSun"/>
                <a:cs typeface="SimSun"/>
              </a:rPr>
              <a:t>制作</a:t>
            </a:r>
            <a:endParaRPr sz="1000">
              <a:latin typeface="SimSun"/>
              <a:cs typeface="SimSu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96899" y="552323"/>
            <a:ext cx="5854700" cy="4908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370"/>
              <a:t>合作背</a:t>
            </a:r>
            <a:r>
              <a:rPr dirty="0" spc="390">
                <a:latin typeface="BIZ UDPGothic"/>
                <a:cs typeface="BIZ UDPGothic"/>
              </a:rPr>
              <a:t>景：</a:t>
            </a:r>
            <a:r>
              <a:rPr dirty="0" spc="-370"/>
              <a:t>数</a:t>
            </a:r>
            <a:r>
              <a:rPr dirty="0" spc="-370">
                <a:latin typeface="BIZ UDPGothic"/>
                <a:cs typeface="BIZ UDPGothic"/>
              </a:rPr>
              <a:t>字</a:t>
            </a:r>
            <a:r>
              <a:rPr dirty="0" spc="-370"/>
              <a:t>经济与智</a:t>
            </a:r>
            <a:r>
              <a:rPr dirty="0" spc="-370">
                <a:latin typeface="BIZ UDPGothic"/>
                <a:cs typeface="BIZ UDPGothic"/>
              </a:rPr>
              <a:t>慧</a:t>
            </a:r>
            <a:r>
              <a:rPr dirty="0" spc="-370"/>
              <a:t>产业</a:t>
            </a:r>
            <a:r>
              <a:rPr dirty="0" spc="-370">
                <a:latin typeface="BIZ UDPGothic"/>
                <a:cs typeface="BIZ UDPGothic"/>
              </a:rPr>
              <a:t>新</a:t>
            </a:r>
            <a:r>
              <a:rPr dirty="0" spc="-370"/>
              <a:t>机</a:t>
            </a:r>
            <a:r>
              <a:rPr dirty="0" spc="-420">
                <a:latin typeface="BIZ UDPGothic"/>
                <a:cs typeface="BIZ UDPGothic"/>
              </a:rPr>
              <a:t>遇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609599" y="1409699"/>
            <a:ext cx="6305550" cy="4076700"/>
            <a:chOff x="609599" y="1409699"/>
            <a:chExt cx="6305550" cy="4076700"/>
          </a:xfrm>
        </p:grpSpPr>
        <p:sp>
          <p:nvSpPr>
            <p:cNvPr id="4" name="object 4" descr=""/>
            <p:cNvSpPr/>
            <p:nvPr/>
          </p:nvSpPr>
          <p:spPr>
            <a:xfrm>
              <a:off x="609599" y="1409699"/>
              <a:ext cx="6305550" cy="4076700"/>
            </a:xfrm>
            <a:custGeom>
              <a:avLst/>
              <a:gdLst/>
              <a:ahLst/>
              <a:cxnLst/>
              <a:rect l="l" t="t" r="r" b="b"/>
              <a:pathLst>
                <a:path w="6305550" h="4076700">
                  <a:moveTo>
                    <a:pt x="6198754" y="4076699"/>
                  </a:moveTo>
                  <a:lnTo>
                    <a:pt x="106795" y="4076699"/>
                  </a:lnTo>
                  <a:lnTo>
                    <a:pt x="99362" y="4075967"/>
                  </a:lnTo>
                  <a:lnTo>
                    <a:pt x="57038" y="4061605"/>
                  </a:lnTo>
                  <a:lnTo>
                    <a:pt x="23432" y="4032140"/>
                  </a:lnTo>
                  <a:lnTo>
                    <a:pt x="3660" y="3992058"/>
                  </a:lnTo>
                  <a:lnTo>
                    <a:pt x="0" y="3969904"/>
                  </a:lnTo>
                  <a:lnTo>
                    <a:pt x="0" y="3962399"/>
                  </a:lnTo>
                  <a:lnTo>
                    <a:pt x="0" y="106794"/>
                  </a:lnTo>
                  <a:lnTo>
                    <a:pt x="11572" y="63625"/>
                  </a:lnTo>
                  <a:lnTo>
                    <a:pt x="38784" y="28170"/>
                  </a:lnTo>
                  <a:lnTo>
                    <a:pt x="77493" y="5828"/>
                  </a:lnTo>
                  <a:lnTo>
                    <a:pt x="106795" y="0"/>
                  </a:lnTo>
                  <a:lnTo>
                    <a:pt x="6198754" y="0"/>
                  </a:lnTo>
                  <a:lnTo>
                    <a:pt x="6241923" y="11572"/>
                  </a:lnTo>
                  <a:lnTo>
                    <a:pt x="6277378" y="38784"/>
                  </a:lnTo>
                  <a:lnTo>
                    <a:pt x="6299720" y="77492"/>
                  </a:lnTo>
                  <a:lnTo>
                    <a:pt x="6305548" y="106794"/>
                  </a:lnTo>
                  <a:lnTo>
                    <a:pt x="6305548" y="3969904"/>
                  </a:lnTo>
                  <a:lnTo>
                    <a:pt x="6293976" y="4013073"/>
                  </a:lnTo>
                  <a:lnTo>
                    <a:pt x="6266764" y="4048528"/>
                  </a:lnTo>
                  <a:lnTo>
                    <a:pt x="6228056" y="4070870"/>
                  </a:lnTo>
                  <a:lnTo>
                    <a:pt x="6206187" y="4075967"/>
                  </a:lnTo>
                  <a:lnTo>
                    <a:pt x="6198754" y="40766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838199" y="1638299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36086" y="457199"/>
                  </a:moveTo>
                  <a:lnTo>
                    <a:pt x="221113" y="457199"/>
                  </a:lnTo>
                  <a:lnTo>
                    <a:pt x="213644" y="456832"/>
                  </a:lnTo>
                  <a:lnTo>
                    <a:pt x="169405" y="449529"/>
                  </a:lnTo>
                  <a:lnTo>
                    <a:pt x="127441" y="433736"/>
                  </a:lnTo>
                  <a:lnTo>
                    <a:pt x="89365" y="410059"/>
                  </a:lnTo>
                  <a:lnTo>
                    <a:pt x="56639" y="379409"/>
                  </a:lnTo>
                  <a:lnTo>
                    <a:pt x="30522" y="342963"/>
                  </a:lnTo>
                  <a:lnTo>
                    <a:pt x="12016" y="302123"/>
                  </a:lnTo>
                  <a:lnTo>
                    <a:pt x="1834" y="258457"/>
                  </a:lnTo>
                  <a:lnTo>
                    <a:pt x="0" y="236087"/>
                  </a:lnTo>
                  <a:lnTo>
                    <a:pt x="0" y="221113"/>
                  </a:lnTo>
                  <a:lnTo>
                    <a:pt x="5853" y="176659"/>
                  </a:lnTo>
                  <a:lnTo>
                    <a:pt x="20266" y="134201"/>
                  </a:lnTo>
                  <a:lnTo>
                    <a:pt x="42685" y="95371"/>
                  </a:lnTo>
                  <a:lnTo>
                    <a:pt x="72249" y="61661"/>
                  </a:lnTo>
                  <a:lnTo>
                    <a:pt x="107821" y="34366"/>
                  </a:lnTo>
                  <a:lnTo>
                    <a:pt x="148035" y="14535"/>
                  </a:lnTo>
                  <a:lnTo>
                    <a:pt x="191345" y="2931"/>
                  </a:lnTo>
                  <a:lnTo>
                    <a:pt x="221113" y="0"/>
                  </a:lnTo>
                  <a:lnTo>
                    <a:pt x="236086" y="0"/>
                  </a:lnTo>
                  <a:lnTo>
                    <a:pt x="280540" y="5853"/>
                  </a:lnTo>
                  <a:lnTo>
                    <a:pt x="322998" y="20266"/>
                  </a:lnTo>
                  <a:lnTo>
                    <a:pt x="361828" y="42685"/>
                  </a:lnTo>
                  <a:lnTo>
                    <a:pt x="395538" y="72249"/>
                  </a:lnTo>
                  <a:lnTo>
                    <a:pt x="422833" y="107821"/>
                  </a:lnTo>
                  <a:lnTo>
                    <a:pt x="442663" y="148035"/>
                  </a:lnTo>
                  <a:lnTo>
                    <a:pt x="454268" y="191345"/>
                  </a:lnTo>
                  <a:lnTo>
                    <a:pt x="457199" y="221113"/>
                  </a:lnTo>
                  <a:lnTo>
                    <a:pt x="457199" y="228599"/>
                  </a:lnTo>
                  <a:lnTo>
                    <a:pt x="457199" y="236087"/>
                  </a:lnTo>
                  <a:lnTo>
                    <a:pt x="451346" y="280540"/>
                  </a:lnTo>
                  <a:lnTo>
                    <a:pt x="436933" y="322998"/>
                  </a:lnTo>
                  <a:lnTo>
                    <a:pt x="414514" y="361828"/>
                  </a:lnTo>
                  <a:lnTo>
                    <a:pt x="384950" y="395538"/>
                  </a:lnTo>
                  <a:lnTo>
                    <a:pt x="349378" y="422833"/>
                  </a:lnTo>
                  <a:lnTo>
                    <a:pt x="309164" y="442663"/>
                  </a:lnTo>
                  <a:lnTo>
                    <a:pt x="265854" y="454267"/>
                  </a:lnTo>
                  <a:lnTo>
                    <a:pt x="243555" y="456832"/>
                  </a:lnTo>
                  <a:lnTo>
                    <a:pt x="236086" y="457199"/>
                  </a:lnTo>
                  <a:close/>
                </a:path>
              </a:pathLst>
            </a:custGeom>
            <a:solidFill>
              <a:srgbClr val="DAE9F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52499" y="1766887"/>
              <a:ext cx="228600" cy="200025"/>
            </a:xfrm>
            <a:prstGeom prst="rect">
              <a:avLst/>
            </a:prstGeom>
          </p:spPr>
        </p:pic>
      </p:grpSp>
      <p:sp>
        <p:nvSpPr>
          <p:cNvPr id="7" name="object 7" descr=""/>
          <p:cNvSpPr txBox="1"/>
          <p:nvPr/>
        </p:nvSpPr>
        <p:spPr>
          <a:xfrm>
            <a:off x="1435099" y="1668424"/>
            <a:ext cx="2311400" cy="34036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050" spc="-275">
                <a:solidFill>
                  <a:srgbClr val="1F2937"/>
                </a:solidFill>
                <a:latin typeface="SimSun"/>
                <a:cs typeface="SimSun"/>
              </a:rPr>
              <a:t>中国数字经济发展现状</a:t>
            </a:r>
            <a:endParaRPr sz="2050">
              <a:latin typeface="SimSun"/>
              <a:cs typeface="SimSun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838199" y="2362199"/>
            <a:ext cx="5848350" cy="2895600"/>
            <a:chOff x="838199" y="2362199"/>
            <a:chExt cx="5848350" cy="2895600"/>
          </a:xfrm>
        </p:grpSpPr>
        <p:sp>
          <p:nvSpPr>
            <p:cNvPr id="9" name="object 9" descr=""/>
            <p:cNvSpPr/>
            <p:nvPr/>
          </p:nvSpPr>
          <p:spPr>
            <a:xfrm>
              <a:off x="838187" y="2362199"/>
              <a:ext cx="38100" cy="1066800"/>
            </a:xfrm>
            <a:custGeom>
              <a:avLst/>
              <a:gdLst/>
              <a:ahLst/>
              <a:cxnLst/>
              <a:rect l="l" t="t" r="r" b="b"/>
              <a:pathLst>
                <a:path w="38100" h="1066800">
                  <a:moveTo>
                    <a:pt x="38100" y="1045235"/>
                  </a:moveTo>
                  <a:lnTo>
                    <a:pt x="21577" y="1028700"/>
                  </a:lnTo>
                  <a:lnTo>
                    <a:pt x="16535" y="1028700"/>
                  </a:lnTo>
                  <a:lnTo>
                    <a:pt x="0" y="1045235"/>
                  </a:lnTo>
                  <a:lnTo>
                    <a:pt x="0" y="1050277"/>
                  </a:lnTo>
                  <a:lnTo>
                    <a:pt x="16535" y="1066800"/>
                  </a:lnTo>
                  <a:lnTo>
                    <a:pt x="21577" y="1066800"/>
                  </a:lnTo>
                  <a:lnTo>
                    <a:pt x="38100" y="1050277"/>
                  </a:lnTo>
                  <a:lnTo>
                    <a:pt x="38100" y="1047750"/>
                  </a:lnTo>
                  <a:lnTo>
                    <a:pt x="38100" y="1045235"/>
                  </a:lnTo>
                  <a:close/>
                </a:path>
                <a:path w="38100" h="1066800">
                  <a:moveTo>
                    <a:pt x="38100" y="702335"/>
                  </a:moveTo>
                  <a:lnTo>
                    <a:pt x="21577" y="685800"/>
                  </a:lnTo>
                  <a:lnTo>
                    <a:pt x="16535" y="685800"/>
                  </a:lnTo>
                  <a:lnTo>
                    <a:pt x="0" y="702335"/>
                  </a:lnTo>
                  <a:lnTo>
                    <a:pt x="0" y="707377"/>
                  </a:lnTo>
                  <a:lnTo>
                    <a:pt x="16535" y="723900"/>
                  </a:lnTo>
                  <a:lnTo>
                    <a:pt x="21577" y="723900"/>
                  </a:lnTo>
                  <a:lnTo>
                    <a:pt x="38100" y="707377"/>
                  </a:lnTo>
                  <a:lnTo>
                    <a:pt x="38100" y="704850"/>
                  </a:lnTo>
                  <a:lnTo>
                    <a:pt x="38100" y="702335"/>
                  </a:lnTo>
                  <a:close/>
                </a:path>
                <a:path w="38100" h="1066800">
                  <a:moveTo>
                    <a:pt x="38100" y="359435"/>
                  </a:moveTo>
                  <a:lnTo>
                    <a:pt x="21577" y="342900"/>
                  </a:lnTo>
                  <a:lnTo>
                    <a:pt x="16535" y="342900"/>
                  </a:lnTo>
                  <a:lnTo>
                    <a:pt x="0" y="359435"/>
                  </a:lnTo>
                  <a:lnTo>
                    <a:pt x="0" y="364477"/>
                  </a:lnTo>
                  <a:lnTo>
                    <a:pt x="16535" y="381000"/>
                  </a:lnTo>
                  <a:lnTo>
                    <a:pt x="21577" y="381000"/>
                  </a:lnTo>
                  <a:lnTo>
                    <a:pt x="38100" y="364477"/>
                  </a:lnTo>
                  <a:lnTo>
                    <a:pt x="38100" y="361950"/>
                  </a:lnTo>
                  <a:lnTo>
                    <a:pt x="38100" y="359435"/>
                  </a:lnTo>
                  <a:close/>
                </a:path>
                <a:path w="38100" h="1066800">
                  <a:moveTo>
                    <a:pt x="38100" y="16535"/>
                  </a:moveTo>
                  <a:lnTo>
                    <a:pt x="21577" y="0"/>
                  </a:lnTo>
                  <a:lnTo>
                    <a:pt x="16535" y="0"/>
                  </a:lnTo>
                  <a:lnTo>
                    <a:pt x="0" y="16535"/>
                  </a:lnTo>
                  <a:lnTo>
                    <a:pt x="0" y="21577"/>
                  </a:lnTo>
                  <a:lnTo>
                    <a:pt x="16535" y="38100"/>
                  </a:lnTo>
                  <a:lnTo>
                    <a:pt x="21577" y="38100"/>
                  </a:lnTo>
                  <a:lnTo>
                    <a:pt x="38100" y="21577"/>
                  </a:lnTo>
                  <a:lnTo>
                    <a:pt x="38100" y="19050"/>
                  </a:lnTo>
                  <a:lnTo>
                    <a:pt x="38100" y="16535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838199" y="3733799"/>
              <a:ext cx="5848350" cy="1524000"/>
            </a:xfrm>
            <a:custGeom>
              <a:avLst/>
              <a:gdLst/>
              <a:ahLst/>
              <a:cxnLst/>
              <a:rect l="l" t="t" r="r" b="b"/>
              <a:pathLst>
                <a:path w="5848350" h="1524000">
                  <a:moveTo>
                    <a:pt x="5777152" y="1523999"/>
                  </a:moveTo>
                  <a:lnTo>
                    <a:pt x="71196" y="1523999"/>
                  </a:lnTo>
                  <a:lnTo>
                    <a:pt x="66241" y="1523510"/>
                  </a:lnTo>
                  <a:lnTo>
                    <a:pt x="29705" y="1508376"/>
                  </a:lnTo>
                  <a:lnTo>
                    <a:pt x="3885" y="1472337"/>
                  </a:lnTo>
                  <a:lnTo>
                    <a:pt x="0" y="1452803"/>
                  </a:lnTo>
                  <a:lnTo>
                    <a:pt x="0" y="1447799"/>
                  </a:lnTo>
                  <a:lnTo>
                    <a:pt x="0" y="71196"/>
                  </a:lnTo>
                  <a:lnTo>
                    <a:pt x="15621" y="29705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5777152" y="0"/>
                  </a:lnTo>
                  <a:lnTo>
                    <a:pt x="5818643" y="15621"/>
                  </a:lnTo>
                  <a:lnTo>
                    <a:pt x="5844463" y="51661"/>
                  </a:lnTo>
                  <a:lnTo>
                    <a:pt x="5848349" y="71196"/>
                  </a:lnTo>
                  <a:lnTo>
                    <a:pt x="5848349" y="1452803"/>
                  </a:lnTo>
                  <a:lnTo>
                    <a:pt x="5832726" y="1494293"/>
                  </a:lnTo>
                  <a:lnTo>
                    <a:pt x="5796687" y="1520113"/>
                  </a:lnTo>
                  <a:lnTo>
                    <a:pt x="5782107" y="1523510"/>
                  </a:lnTo>
                  <a:lnTo>
                    <a:pt x="5777152" y="1523999"/>
                  </a:lnTo>
                  <a:close/>
                </a:path>
              </a:pathLst>
            </a:custGeom>
            <a:solidFill>
              <a:srgbClr val="EFF5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990599" y="4495799"/>
              <a:ext cx="457200" cy="381000"/>
            </a:xfrm>
            <a:custGeom>
              <a:avLst/>
              <a:gdLst/>
              <a:ahLst/>
              <a:cxnLst/>
              <a:rect l="l" t="t" r="r" b="b"/>
              <a:pathLst>
                <a:path w="457200" h="381000">
                  <a:moveTo>
                    <a:pt x="457200" y="380999"/>
                  </a:moveTo>
                  <a:lnTo>
                    <a:pt x="0" y="380999"/>
                  </a:lnTo>
                  <a:lnTo>
                    <a:pt x="0" y="71196"/>
                  </a:lnTo>
                  <a:lnTo>
                    <a:pt x="15621" y="29704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386003" y="0"/>
                  </a:lnTo>
                  <a:lnTo>
                    <a:pt x="427494" y="15621"/>
                  </a:lnTo>
                  <a:lnTo>
                    <a:pt x="453314" y="51661"/>
                  </a:lnTo>
                  <a:lnTo>
                    <a:pt x="457200" y="380999"/>
                  </a:lnTo>
                  <a:close/>
                </a:path>
              </a:pathLst>
            </a:custGeom>
            <a:solidFill>
              <a:srgbClr val="93C4F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/>
          <p:nvPr/>
        </p:nvSpPr>
        <p:spPr>
          <a:xfrm>
            <a:off x="977900" y="2224913"/>
            <a:ext cx="3836035" cy="2324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我国数字经济规模持续扩</a:t>
            </a:r>
            <a:r>
              <a:rPr dirty="0" sz="1350" spc="-170">
                <a:solidFill>
                  <a:srgbClr val="374050"/>
                </a:solidFill>
                <a:latin typeface="Meiryo"/>
                <a:cs typeface="Meiryo"/>
              </a:rPr>
              <a:t>⼤</a:t>
            </a: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，</a:t>
            </a:r>
            <a:r>
              <a:rPr dirty="0" sz="1350" spc="-170">
                <a:solidFill>
                  <a:srgbClr val="374050"/>
                </a:solidFill>
                <a:latin typeface="Microsoft JhengHei"/>
                <a:cs typeface="Microsoft JhengHei"/>
              </a:rPr>
              <a:t>已</a:t>
            </a: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成为经济增</a:t>
            </a:r>
            <a:r>
              <a:rPr dirty="0" sz="1350" spc="-170">
                <a:solidFill>
                  <a:srgbClr val="374050"/>
                </a:solidFill>
                <a:latin typeface="Microsoft JhengHei"/>
                <a:cs typeface="Microsoft JhengHei"/>
              </a:rPr>
              <a:t>⻓</a:t>
            </a: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的核</a:t>
            </a:r>
            <a:r>
              <a:rPr dirty="0" sz="1350" spc="-170">
                <a:solidFill>
                  <a:srgbClr val="374050"/>
                </a:solidFill>
                <a:latin typeface="Meiryo"/>
                <a:cs typeface="Meiryo"/>
              </a:rPr>
              <a:t>⼼</a:t>
            </a:r>
            <a:r>
              <a:rPr dirty="0" sz="1350" spc="-110">
                <a:solidFill>
                  <a:srgbClr val="374050"/>
                </a:solidFill>
                <a:latin typeface="SimSun"/>
                <a:cs typeface="SimSun"/>
              </a:rPr>
              <a:t>引擎</a:t>
            </a:r>
            <a:endParaRPr sz="1350">
              <a:latin typeface="SimSun"/>
              <a:cs typeface="SimSun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977900" y="2567813"/>
            <a:ext cx="2921000" cy="2324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50" spc="-170">
                <a:solidFill>
                  <a:srgbClr val="374050"/>
                </a:solidFill>
                <a:latin typeface="Microsoft JhengHei"/>
                <a:cs typeface="Microsoft JhengHei"/>
              </a:rPr>
              <a:t>⼈⼯</a:t>
            </a: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智能技术</a:t>
            </a:r>
            <a:r>
              <a:rPr dirty="0" sz="1350" spc="-170">
                <a:solidFill>
                  <a:srgbClr val="374050"/>
                </a:solidFill>
                <a:latin typeface="Meiryo"/>
                <a:cs typeface="Meiryo"/>
              </a:rPr>
              <a:t>快</a:t>
            </a: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速发展，应</a:t>
            </a:r>
            <a:r>
              <a:rPr dirty="0" sz="1350" spc="-170">
                <a:solidFill>
                  <a:srgbClr val="374050"/>
                </a:solidFill>
                <a:latin typeface="Meiryo"/>
                <a:cs typeface="Meiryo"/>
              </a:rPr>
              <a:t>⽤</a:t>
            </a:r>
            <a:r>
              <a:rPr dirty="0" sz="1350" spc="-150">
                <a:solidFill>
                  <a:srgbClr val="374050"/>
                </a:solidFill>
                <a:latin typeface="SimSun"/>
                <a:cs typeface="SimSun"/>
              </a:rPr>
              <a:t>场景不断丰富</a:t>
            </a:r>
            <a:endParaRPr sz="1350">
              <a:latin typeface="SimSun"/>
              <a:cs typeface="SimSun"/>
            </a:endParaRPr>
          </a:p>
        </p:txBody>
      </p:sp>
      <p:pic>
        <p:nvPicPr>
          <p:cNvPr id="14" name="object 1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143749" y="1233487"/>
            <a:ext cx="4438649" cy="4252911"/>
          </a:xfrm>
          <a:prstGeom prst="rect">
            <a:avLst/>
          </a:prstGeom>
        </p:spPr>
      </p:pic>
      <p:sp>
        <p:nvSpPr>
          <p:cNvPr id="15" name="object 15" descr=""/>
          <p:cNvSpPr txBox="1"/>
          <p:nvPr/>
        </p:nvSpPr>
        <p:spPr>
          <a:xfrm>
            <a:off x="977900" y="2910713"/>
            <a:ext cx="2921000" cy="2324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数字经济与实体经济深度融合成为主流趋</a:t>
            </a:r>
            <a:r>
              <a:rPr dirty="0" sz="1350" spc="-50">
                <a:solidFill>
                  <a:srgbClr val="374050"/>
                </a:solidFill>
                <a:latin typeface="Microsoft JhengHei"/>
                <a:cs typeface="Microsoft JhengHei"/>
              </a:rPr>
              <a:t>势</a:t>
            </a:r>
            <a:endParaRPr sz="1350">
              <a:latin typeface="Microsoft JhengHei"/>
              <a:cs typeface="Microsoft JhengHei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977900" y="3253613"/>
            <a:ext cx="3378200" cy="2324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数字化转型</a:t>
            </a:r>
            <a:r>
              <a:rPr dirty="0" sz="1350" spc="-170">
                <a:solidFill>
                  <a:srgbClr val="374050"/>
                </a:solidFill>
                <a:latin typeface="Microsoft JhengHei"/>
                <a:cs typeface="Microsoft JhengHei"/>
              </a:rPr>
              <a:t>已</a:t>
            </a: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成为</a:t>
            </a:r>
            <a:r>
              <a:rPr dirty="0" sz="1350" spc="-170">
                <a:solidFill>
                  <a:srgbClr val="374050"/>
                </a:solidFill>
                <a:latin typeface="Microsoft JhengHei"/>
                <a:cs typeface="Microsoft JhengHei"/>
              </a:rPr>
              <a:t>企</a:t>
            </a: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业提升核</a:t>
            </a:r>
            <a:r>
              <a:rPr dirty="0" sz="1350" spc="-170">
                <a:solidFill>
                  <a:srgbClr val="374050"/>
                </a:solidFill>
                <a:latin typeface="Meiryo"/>
                <a:cs typeface="Meiryo"/>
              </a:rPr>
              <a:t>⼼</a:t>
            </a: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竞争</a:t>
            </a:r>
            <a:r>
              <a:rPr dirty="0" sz="1350" spc="-170">
                <a:solidFill>
                  <a:srgbClr val="374050"/>
                </a:solidFill>
                <a:latin typeface="Microsoft JhengHei"/>
                <a:cs typeface="Microsoft JhengHei"/>
              </a:rPr>
              <a:t>⼒</a:t>
            </a: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的</a:t>
            </a:r>
            <a:r>
              <a:rPr dirty="0" sz="1350" spc="-170">
                <a:solidFill>
                  <a:srgbClr val="374050"/>
                </a:solidFill>
                <a:latin typeface="Meiryo"/>
                <a:cs typeface="Meiryo"/>
              </a:rPr>
              <a:t>关</a:t>
            </a: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键途</a:t>
            </a:r>
            <a:r>
              <a:rPr dirty="0" sz="1350" spc="-60">
                <a:solidFill>
                  <a:srgbClr val="374050"/>
                </a:solidFill>
                <a:latin typeface="Meiryo"/>
                <a:cs typeface="Meiryo"/>
              </a:rPr>
              <a:t>径</a:t>
            </a:r>
            <a:endParaRPr sz="1350">
              <a:latin typeface="Meiryo"/>
              <a:cs typeface="Meiryo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1060946" y="4940300"/>
            <a:ext cx="31686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0">
                <a:solidFill>
                  <a:srgbClr val="4A5462"/>
                </a:solidFill>
                <a:latin typeface="DejaVu Sans"/>
                <a:cs typeface="DejaVu Sans"/>
              </a:rPr>
              <a:t>2022</a:t>
            </a:r>
            <a:endParaRPr sz="900">
              <a:latin typeface="DejaVu Sans"/>
              <a:cs typeface="DejaVu Sans"/>
            </a:endParaRPr>
          </a:p>
        </p:txBody>
      </p:sp>
      <p:grpSp>
        <p:nvGrpSpPr>
          <p:cNvPr id="18" name="object 18" descr=""/>
          <p:cNvGrpSpPr/>
          <p:nvPr/>
        </p:nvGrpSpPr>
        <p:grpSpPr>
          <a:xfrm>
            <a:off x="2638424" y="3924299"/>
            <a:ext cx="3819525" cy="952500"/>
            <a:chOff x="2638424" y="3924299"/>
            <a:chExt cx="3819525" cy="952500"/>
          </a:xfrm>
        </p:grpSpPr>
        <p:sp>
          <p:nvSpPr>
            <p:cNvPr id="19" name="object 19" descr=""/>
            <p:cNvSpPr/>
            <p:nvPr/>
          </p:nvSpPr>
          <p:spPr>
            <a:xfrm>
              <a:off x="2638424" y="4305299"/>
              <a:ext cx="457200" cy="571500"/>
            </a:xfrm>
            <a:custGeom>
              <a:avLst/>
              <a:gdLst/>
              <a:ahLst/>
              <a:cxnLst/>
              <a:rect l="l" t="t" r="r" b="b"/>
              <a:pathLst>
                <a:path w="457200" h="571500">
                  <a:moveTo>
                    <a:pt x="457200" y="571499"/>
                  </a:moveTo>
                  <a:lnTo>
                    <a:pt x="0" y="571499"/>
                  </a:lnTo>
                  <a:lnTo>
                    <a:pt x="0" y="71196"/>
                  </a:lnTo>
                  <a:lnTo>
                    <a:pt x="15622" y="29705"/>
                  </a:lnTo>
                  <a:lnTo>
                    <a:pt x="51662" y="3885"/>
                  </a:lnTo>
                  <a:lnTo>
                    <a:pt x="71196" y="0"/>
                  </a:lnTo>
                  <a:lnTo>
                    <a:pt x="386003" y="0"/>
                  </a:lnTo>
                  <a:lnTo>
                    <a:pt x="427494" y="15621"/>
                  </a:lnTo>
                  <a:lnTo>
                    <a:pt x="453314" y="51661"/>
                  </a:lnTo>
                  <a:lnTo>
                    <a:pt x="457200" y="571499"/>
                  </a:lnTo>
                  <a:close/>
                </a:path>
              </a:pathLst>
            </a:custGeom>
            <a:solidFill>
              <a:srgbClr val="60A5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4276724" y="4114799"/>
              <a:ext cx="457200" cy="762000"/>
            </a:xfrm>
            <a:custGeom>
              <a:avLst/>
              <a:gdLst/>
              <a:ahLst/>
              <a:cxnLst/>
              <a:rect l="l" t="t" r="r" b="b"/>
              <a:pathLst>
                <a:path w="457200" h="762000">
                  <a:moveTo>
                    <a:pt x="457200" y="761999"/>
                  </a:moveTo>
                  <a:lnTo>
                    <a:pt x="0" y="761999"/>
                  </a:lnTo>
                  <a:lnTo>
                    <a:pt x="0" y="71196"/>
                  </a:lnTo>
                  <a:lnTo>
                    <a:pt x="15621" y="29704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386003" y="0"/>
                  </a:lnTo>
                  <a:lnTo>
                    <a:pt x="427494" y="15621"/>
                  </a:lnTo>
                  <a:lnTo>
                    <a:pt x="453313" y="51661"/>
                  </a:lnTo>
                  <a:lnTo>
                    <a:pt x="457200" y="761999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6000749" y="3924299"/>
              <a:ext cx="457200" cy="952500"/>
            </a:xfrm>
            <a:custGeom>
              <a:avLst/>
              <a:gdLst/>
              <a:ahLst/>
              <a:cxnLst/>
              <a:rect l="l" t="t" r="r" b="b"/>
              <a:pathLst>
                <a:path w="457200" h="952500">
                  <a:moveTo>
                    <a:pt x="457199" y="952499"/>
                  </a:moveTo>
                  <a:lnTo>
                    <a:pt x="0" y="952499"/>
                  </a:lnTo>
                  <a:lnTo>
                    <a:pt x="0" y="71196"/>
                  </a:lnTo>
                  <a:lnTo>
                    <a:pt x="15621" y="29705"/>
                  </a:lnTo>
                  <a:lnTo>
                    <a:pt x="51660" y="3885"/>
                  </a:lnTo>
                  <a:lnTo>
                    <a:pt x="71196" y="0"/>
                  </a:lnTo>
                  <a:lnTo>
                    <a:pt x="386002" y="0"/>
                  </a:lnTo>
                  <a:lnTo>
                    <a:pt x="427494" y="15621"/>
                  </a:lnTo>
                  <a:lnTo>
                    <a:pt x="453313" y="51661"/>
                  </a:lnTo>
                  <a:lnTo>
                    <a:pt x="457199" y="71196"/>
                  </a:lnTo>
                  <a:lnTo>
                    <a:pt x="457199" y="952499"/>
                  </a:lnTo>
                  <a:close/>
                </a:path>
              </a:pathLst>
            </a:custGeom>
            <a:solidFill>
              <a:srgbClr val="2562E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 descr=""/>
          <p:cNvSpPr txBox="1"/>
          <p:nvPr/>
        </p:nvSpPr>
        <p:spPr>
          <a:xfrm>
            <a:off x="2705794" y="4940300"/>
            <a:ext cx="31686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0">
                <a:solidFill>
                  <a:srgbClr val="4A5462"/>
                </a:solidFill>
                <a:latin typeface="DejaVu Sans"/>
                <a:cs typeface="DejaVu Sans"/>
              </a:rPr>
              <a:t>2023</a:t>
            </a:r>
            <a:endParaRPr sz="900">
              <a:latin typeface="DejaVu Sans"/>
              <a:cs typeface="DejaVu Sans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4350642" y="4940300"/>
            <a:ext cx="31686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0">
                <a:solidFill>
                  <a:srgbClr val="4A5462"/>
                </a:solidFill>
                <a:latin typeface="DejaVu Sans"/>
                <a:cs typeface="DejaVu Sans"/>
              </a:rPr>
              <a:t>2024</a:t>
            </a:r>
            <a:endParaRPr sz="900">
              <a:latin typeface="DejaVu Sans"/>
              <a:cs typeface="DejaVu Sans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5912444" y="4925440"/>
            <a:ext cx="634365" cy="18097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900" spc="-10">
                <a:solidFill>
                  <a:srgbClr val="4A5462"/>
                </a:solidFill>
                <a:latin typeface="DejaVu Sans"/>
                <a:cs typeface="DejaVu Sans"/>
              </a:rPr>
              <a:t>2025(</a:t>
            </a:r>
            <a:r>
              <a:rPr dirty="0" sz="1000" spc="-100">
                <a:solidFill>
                  <a:srgbClr val="4A5462"/>
                </a:solidFill>
                <a:latin typeface="SimSun"/>
                <a:cs typeface="SimSun"/>
              </a:rPr>
              <a:t>预测</a:t>
            </a:r>
            <a:r>
              <a:rPr dirty="0" sz="900" spc="-50">
                <a:solidFill>
                  <a:srgbClr val="4A5462"/>
                </a:solidFill>
                <a:latin typeface="DejaVu Sans"/>
                <a:cs typeface="DejaVu Sans"/>
              </a:rPr>
              <a:t>)</a:t>
            </a:r>
            <a:endParaRPr sz="900">
              <a:latin typeface="DejaVu Sans"/>
              <a:cs typeface="DejaVu Sans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7854950" y="1664461"/>
            <a:ext cx="2311400" cy="28765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700" spc="-204">
                <a:solidFill>
                  <a:srgbClr val="1F2937"/>
                </a:solidFill>
                <a:latin typeface="SimSun"/>
                <a:cs typeface="SimSun"/>
              </a:rPr>
              <a:t>智慧城市与园区智能化升级</a:t>
            </a:r>
            <a:endParaRPr sz="1700">
              <a:latin typeface="SimSun"/>
              <a:cs typeface="SimSun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7512050" y="2148713"/>
            <a:ext cx="3836035" cy="2324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智慧城</a:t>
            </a:r>
            <a:r>
              <a:rPr dirty="0" sz="1350" spc="-170">
                <a:solidFill>
                  <a:srgbClr val="374050"/>
                </a:solidFill>
                <a:latin typeface="Microsoft JhengHei"/>
                <a:cs typeface="Microsoft JhengHei"/>
              </a:rPr>
              <a:t>市</a:t>
            </a: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建设深</a:t>
            </a:r>
            <a:r>
              <a:rPr dirty="0" sz="1350" spc="-170">
                <a:solidFill>
                  <a:srgbClr val="374050"/>
                </a:solidFill>
                <a:latin typeface="Meiryo"/>
                <a:cs typeface="Meiryo"/>
              </a:rPr>
              <a:t>⼊</a:t>
            </a: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推进，</a:t>
            </a:r>
            <a:r>
              <a:rPr dirty="0" sz="1350" spc="-170">
                <a:solidFill>
                  <a:srgbClr val="374050"/>
                </a:solidFill>
                <a:latin typeface="Microsoft JhengHei"/>
                <a:cs typeface="Microsoft JhengHei"/>
              </a:rPr>
              <a:t>带动</a:t>
            </a: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园区与建筑智能化需求增</a:t>
            </a:r>
            <a:r>
              <a:rPr dirty="0" sz="1350" spc="-50">
                <a:solidFill>
                  <a:srgbClr val="374050"/>
                </a:solidFill>
                <a:latin typeface="Microsoft JhengHei"/>
                <a:cs typeface="Microsoft JhengHei"/>
              </a:rPr>
              <a:t>⻓</a:t>
            </a:r>
            <a:endParaRPr sz="1350">
              <a:latin typeface="Microsoft JhengHei"/>
              <a:cs typeface="Microsoft JhengHei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7512050" y="2491613"/>
            <a:ext cx="2768600" cy="2324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建筑业数字化转型成为</a:t>
            </a:r>
            <a:r>
              <a:rPr dirty="0" sz="1350" spc="-170">
                <a:solidFill>
                  <a:srgbClr val="374050"/>
                </a:solidFill>
                <a:latin typeface="Meiryo"/>
                <a:cs typeface="Meiryo"/>
              </a:rPr>
              <a:t>⾏</a:t>
            </a: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业发展</a:t>
            </a:r>
            <a:r>
              <a:rPr dirty="0" sz="1350" spc="-170">
                <a:solidFill>
                  <a:srgbClr val="374050"/>
                </a:solidFill>
                <a:latin typeface="Meiryo"/>
                <a:cs typeface="Meiryo"/>
              </a:rPr>
              <a:t>必</a:t>
            </a: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然趋</a:t>
            </a:r>
            <a:r>
              <a:rPr dirty="0" sz="1350" spc="-50">
                <a:solidFill>
                  <a:srgbClr val="374050"/>
                </a:solidFill>
                <a:latin typeface="Microsoft JhengHei"/>
                <a:cs typeface="Microsoft JhengHei"/>
              </a:rPr>
              <a:t>势</a:t>
            </a:r>
            <a:endParaRPr sz="1350">
              <a:latin typeface="Microsoft JhengHei"/>
              <a:cs typeface="Microsoft JhengHei"/>
            </a:endParaRPr>
          </a:p>
        </p:txBody>
      </p:sp>
      <p:sp>
        <p:nvSpPr>
          <p:cNvPr id="28" name="object 28" descr=""/>
          <p:cNvSpPr txBox="1"/>
          <p:nvPr/>
        </p:nvSpPr>
        <p:spPr>
          <a:xfrm>
            <a:off x="7512050" y="2834513"/>
            <a:ext cx="2768600" cy="2324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园区</a:t>
            </a:r>
            <a:r>
              <a:rPr dirty="0" sz="1350" spc="-170">
                <a:solidFill>
                  <a:srgbClr val="374050"/>
                </a:solidFill>
                <a:latin typeface="Meiryo"/>
                <a:cs typeface="Meiryo"/>
              </a:rPr>
              <a:t>由</a:t>
            </a: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单纯物理空</a:t>
            </a:r>
            <a:r>
              <a:rPr dirty="0" sz="1350" spc="-170">
                <a:solidFill>
                  <a:srgbClr val="374050"/>
                </a:solidFill>
                <a:latin typeface="Microsoft JhengHei"/>
                <a:cs typeface="Microsoft JhengHei"/>
              </a:rPr>
              <a:t>间</a:t>
            </a:r>
            <a:r>
              <a:rPr dirty="0" sz="1350" spc="-160">
                <a:solidFill>
                  <a:srgbClr val="374050"/>
                </a:solidFill>
                <a:latin typeface="SimSun"/>
                <a:cs typeface="SimSun"/>
              </a:rPr>
              <a:t>向智能创新载体转变</a:t>
            </a:r>
            <a:endParaRPr sz="1350">
              <a:latin typeface="SimSun"/>
              <a:cs typeface="SimSun"/>
            </a:endParaRPr>
          </a:p>
        </p:txBody>
      </p:sp>
      <p:grpSp>
        <p:nvGrpSpPr>
          <p:cNvPr id="29" name="object 29" descr=""/>
          <p:cNvGrpSpPr/>
          <p:nvPr/>
        </p:nvGrpSpPr>
        <p:grpSpPr>
          <a:xfrm>
            <a:off x="609599" y="5714999"/>
            <a:ext cx="4438650" cy="1143000"/>
            <a:chOff x="609599" y="5714999"/>
            <a:chExt cx="4438650" cy="1143000"/>
          </a:xfrm>
        </p:grpSpPr>
        <p:sp>
          <p:nvSpPr>
            <p:cNvPr id="30" name="object 30" descr=""/>
            <p:cNvSpPr/>
            <p:nvPr/>
          </p:nvSpPr>
          <p:spPr>
            <a:xfrm>
              <a:off x="609599" y="5714999"/>
              <a:ext cx="4438650" cy="1143000"/>
            </a:xfrm>
            <a:custGeom>
              <a:avLst/>
              <a:gdLst/>
              <a:ahLst/>
              <a:cxnLst/>
              <a:rect l="l" t="t" r="r" b="b"/>
              <a:pathLst>
                <a:path w="4438650" h="1143000">
                  <a:moveTo>
                    <a:pt x="4438649" y="1143000"/>
                  </a:moveTo>
                  <a:lnTo>
                    <a:pt x="0" y="1143000"/>
                  </a:lnTo>
                  <a:lnTo>
                    <a:pt x="0" y="106794"/>
                  </a:lnTo>
                  <a:lnTo>
                    <a:pt x="11572" y="63624"/>
                  </a:lnTo>
                  <a:lnTo>
                    <a:pt x="38784" y="28170"/>
                  </a:lnTo>
                  <a:lnTo>
                    <a:pt x="77493" y="5828"/>
                  </a:lnTo>
                  <a:lnTo>
                    <a:pt x="106795" y="0"/>
                  </a:lnTo>
                  <a:lnTo>
                    <a:pt x="4331854" y="0"/>
                  </a:lnTo>
                  <a:lnTo>
                    <a:pt x="4375023" y="11571"/>
                  </a:lnTo>
                  <a:lnTo>
                    <a:pt x="4410477" y="38784"/>
                  </a:lnTo>
                  <a:lnTo>
                    <a:pt x="4432820" y="77492"/>
                  </a:lnTo>
                  <a:lnTo>
                    <a:pt x="4438649" y="106794"/>
                  </a:lnTo>
                  <a:lnTo>
                    <a:pt x="4438649" y="1143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838199" y="5943599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90499" y="380999"/>
                  </a:moveTo>
                  <a:lnTo>
                    <a:pt x="144200" y="375289"/>
                  </a:lnTo>
                  <a:lnTo>
                    <a:pt x="100697" y="358507"/>
                  </a:lnTo>
                  <a:lnTo>
                    <a:pt x="62575" y="331659"/>
                  </a:lnTo>
                  <a:lnTo>
                    <a:pt x="32105" y="296335"/>
                  </a:lnTo>
                  <a:lnTo>
                    <a:pt x="11130" y="254666"/>
                  </a:lnTo>
                  <a:lnTo>
                    <a:pt x="915" y="209172"/>
                  </a:lnTo>
                  <a:lnTo>
                    <a:pt x="0" y="190499"/>
                  </a:lnTo>
                  <a:lnTo>
                    <a:pt x="228" y="181141"/>
                  </a:lnTo>
                  <a:lnTo>
                    <a:pt x="8200" y="135199"/>
                  </a:lnTo>
                  <a:lnTo>
                    <a:pt x="27095" y="92572"/>
                  </a:lnTo>
                  <a:lnTo>
                    <a:pt x="55796" y="55796"/>
                  </a:lnTo>
                  <a:lnTo>
                    <a:pt x="92572" y="27095"/>
                  </a:lnTo>
                  <a:lnTo>
                    <a:pt x="135200" y="8200"/>
                  </a:lnTo>
                  <a:lnTo>
                    <a:pt x="181141" y="228"/>
                  </a:lnTo>
                  <a:lnTo>
                    <a:pt x="190499" y="0"/>
                  </a:lnTo>
                  <a:lnTo>
                    <a:pt x="199858" y="228"/>
                  </a:lnTo>
                  <a:lnTo>
                    <a:pt x="245799" y="8200"/>
                  </a:lnTo>
                  <a:lnTo>
                    <a:pt x="288427" y="27095"/>
                  </a:lnTo>
                  <a:lnTo>
                    <a:pt x="325203" y="55796"/>
                  </a:lnTo>
                  <a:lnTo>
                    <a:pt x="353904" y="92572"/>
                  </a:lnTo>
                  <a:lnTo>
                    <a:pt x="372799" y="135199"/>
                  </a:lnTo>
                  <a:lnTo>
                    <a:pt x="380771" y="181141"/>
                  </a:lnTo>
                  <a:lnTo>
                    <a:pt x="380999" y="190499"/>
                  </a:lnTo>
                  <a:lnTo>
                    <a:pt x="380771" y="199858"/>
                  </a:lnTo>
                  <a:lnTo>
                    <a:pt x="372799" y="245799"/>
                  </a:lnTo>
                  <a:lnTo>
                    <a:pt x="353904" y="288426"/>
                  </a:lnTo>
                  <a:lnTo>
                    <a:pt x="325203" y="325203"/>
                  </a:lnTo>
                  <a:lnTo>
                    <a:pt x="288427" y="353903"/>
                  </a:lnTo>
                  <a:lnTo>
                    <a:pt x="245799" y="372799"/>
                  </a:lnTo>
                  <a:lnTo>
                    <a:pt x="199858" y="380771"/>
                  </a:lnTo>
                  <a:lnTo>
                    <a:pt x="190499" y="380999"/>
                  </a:lnTo>
                  <a:close/>
                </a:path>
              </a:pathLst>
            </a:custGeom>
            <a:solidFill>
              <a:srgbClr val="ECE8F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2" name="object 32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67978" y="6038849"/>
              <a:ext cx="130961" cy="190499"/>
            </a:xfrm>
            <a:prstGeom prst="rect">
              <a:avLst/>
            </a:prstGeom>
          </p:spPr>
        </p:pic>
        <p:sp>
          <p:nvSpPr>
            <p:cNvPr id="33" name="object 33" descr=""/>
            <p:cNvSpPr/>
            <p:nvPr/>
          </p:nvSpPr>
          <p:spPr>
            <a:xfrm>
              <a:off x="838199" y="6591299"/>
              <a:ext cx="38100" cy="38100"/>
            </a:xfrm>
            <a:custGeom>
              <a:avLst/>
              <a:gdLst/>
              <a:ahLst/>
              <a:cxnLst/>
              <a:rect l="l" t="t" r="r" b="b"/>
              <a:pathLst>
                <a:path w="38100" h="38100">
                  <a:moveTo>
                    <a:pt x="21576" y="38099"/>
                  </a:moveTo>
                  <a:lnTo>
                    <a:pt x="16523" y="38099"/>
                  </a:lnTo>
                  <a:lnTo>
                    <a:pt x="14093" y="37615"/>
                  </a:lnTo>
                  <a:lnTo>
                    <a:pt x="0" y="21576"/>
                  </a:lnTo>
                  <a:lnTo>
                    <a:pt x="0" y="16523"/>
                  </a:lnTo>
                  <a:lnTo>
                    <a:pt x="16523" y="0"/>
                  </a:lnTo>
                  <a:lnTo>
                    <a:pt x="21576" y="0"/>
                  </a:lnTo>
                  <a:lnTo>
                    <a:pt x="38100" y="19049"/>
                  </a:lnTo>
                  <a:lnTo>
                    <a:pt x="38099" y="21576"/>
                  </a:lnTo>
                  <a:lnTo>
                    <a:pt x="21576" y="38099"/>
                  </a:lnTo>
                  <a:close/>
                </a:path>
              </a:pathLst>
            </a:custGeom>
            <a:solidFill>
              <a:srgbClr val="8B5CF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4" name="object 34" descr=""/>
          <p:cNvSpPr txBox="1"/>
          <p:nvPr/>
        </p:nvSpPr>
        <p:spPr>
          <a:xfrm>
            <a:off x="901700" y="5859381"/>
            <a:ext cx="3302000" cy="826769"/>
          </a:xfrm>
          <a:prstGeom prst="rect">
            <a:avLst/>
          </a:prstGeom>
        </p:spPr>
        <p:txBody>
          <a:bodyPr wrap="square" lIns="0" tIns="125095" rIns="0" bIns="0" rtlCol="0" vert="horz">
            <a:spAutoFit/>
          </a:bodyPr>
          <a:lstStyle/>
          <a:p>
            <a:pPr algn="ctr" marL="37465">
              <a:lnSpc>
                <a:spcPct val="100000"/>
              </a:lnSpc>
              <a:spcBef>
                <a:spcPts val="985"/>
              </a:spcBef>
            </a:pPr>
            <a:r>
              <a:rPr dirty="0" sz="1700" spc="-210">
                <a:solidFill>
                  <a:srgbClr val="1F2937"/>
                </a:solidFill>
                <a:latin typeface="SimSun"/>
                <a:cs typeface="SimSun"/>
              </a:rPr>
              <a:t>能投光电</a:t>
            </a:r>
            <a:r>
              <a:rPr dirty="0" sz="1700" spc="-210">
                <a:solidFill>
                  <a:srgbClr val="1F2937"/>
                </a:solidFill>
                <a:latin typeface="Meiryo"/>
                <a:cs typeface="Meiryo"/>
              </a:rPr>
              <a:t>⾯</a:t>
            </a:r>
            <a:r>
              <a:rPr dirty="0" sz="1700" spc="-195">
                <a:solidFill>
                  <a:srgbClr val="1F2937"/>
                </a:solidFill>
                <a:latin typeface="SimSun"/>
                <a:cs typeface="SimSun"/>
              </a:rPr>
              <a:t>临的战略转型机遇</a:t>
            </a:r>
            <a:endParaRPr sz="170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535"/>
              </a:spcBef>
            </a:pPr>
            <a:r>
              <a:rPr dirty="0" sz="1000" spc="-100">
                <a:solidFill>
                  <a:srgbClr val="6A7280"/>
                </a:solidFill>
                <a:latin typeface="SimSun"/>
                <a:cs typeface="SimSun"/>
              </a:rPr>
              <a:t>数字经济规模增</a:t>
            </a:r>
            <a:r>
              <a:rPr dirty="0" sz="1000" spc="-100">
                <a:solidFill>
                  <a:srgbClr val="6A7280"/>
                </a:solidFill>
                <a:latin typeface="Meiryo"/>
                <a:cs typeface="Meiryo"/>
              </a:rPr>
              <a:t>⻓</a:t>
            </a:r>
            <a:r>
              <a:rPr dirty="0" sz="1000" spc="-75">
                <a:solidFill>
                  <a:srgbClr val="6A7280"/>
                </a:solidFill>
                <a:latin typeface="SimSun"/>
                <a:cs typeface="SimSun"/>
              </a:rPr>
              <a:t>趋势</a:t>
            </a:r>
            <a:endParaRPr sz="1000">
              <a:latin typeface="SimSun"/>
              <a:cs typeface="SimSun"/>
            </a:endParaRPr>
          </a:p>
          <a:p>
            <a:pPr algn="ctr" marL="75565">
              <a:lnSpc>
                <a:spcPct val="100000"/>
              </a:lnSpc>
              <a:spcBef>
                <a:spcPts val="25"/>
              </a:spcBef>
            </a:pPr>
            <a:r>
              <a:rPr dirty="0" sz="1350" spc="-170">
                <a:solidFill>
                  <a:srgbClr val="374050"/>
                </a:solidFill>
                <a:latin typeface="Microsoft JhengHei"/>
                <a:cs typeface="Microsoft JhengHei"/>
              </a:rPr>
              <a:t>传</a:t>
            </a: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统照明</a:t>
            </a:r>
            <a:r>
              <a:rPr dirty="0" sz="1350" spc="-170">
                <a:solidFill>
                  <a:srgbClr val="374050"/>
                </a:solidFill>
                <a:latin typeface="Microsoft JhengHei"/>
                <a:cs typeface="Microsoft JhengHei"/>
              </a:rPr>
              <a:t>亮</a:t>
            </a: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化业</a:t>
            </a:r>
            <a:r>
              <a:rPr dirty="0" sz="1350" spc="-170">
                <a:solidFill>
                  <a:srgbClr val="374050"/>
                </a:solidFill>
                <a:latin typeface="Microsoft JhengHei"/>
                <a:cs typeface="Microsoft JhengHei"/>
              </a:rPr>
              <a:t>务市</a:t>
            </a: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场萎缩，</a:t>
            </a:r>
            <a:r>
              <a:rPr dirty="0" sz="1350" spc="-170">
                <a:solidFill>
                  <a:srgbClr val="374050"/>
                </a:solidFill>
                <a:latin typeface="Microsoft JhengHei"/>
                <a:cs typeface="Microsoft JhengHei"/>
              </a:rPr>
              <a:t>亟</a:t>
            </a: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需寻找新增</a:t>
            </a:r>
            <a:r>
              <a:rPr dirty="0" sz="1350" spc="-170">
                <a:solidFill>
                  <a:srgbClr val="374050"/>
                </a:solidFill>
                <a:latin typeface="Microsoft JhengHei"/>
                <a:cs typeface="Microsoft JhengHei"/>
              </a:rPr>
              <a:t>⻓</a:t>
            </a:r>
            <a:r>
              <a:rPr dirty="0" sz="1350" spc="-50">
                <a:solidFill>
                  <a:srgbClr val="374050"/>
                </a:solidFill>
                <a:latin typeface="SimSun"/>
                <a:cs typeface="SimSun"/>
              </a:rPr>
              <a:t>点</a:t>
            </a:r>
            <a:endParaRPr sz="1350">
              <a:latin typeface="SimSun"/>
              <a:cs typeface="SimSun"/>
            </a:endParaRPr>
          </a:p>
        </p:txBody>
      </p:sp>
      <p:pic>
        <p:nvPicPr>
          <p:cNvPr id="35" name="object 3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439397" y="6476999"/>
            <a:ext cx="76201" cy="76199"/>
          </a:xfrm>
          <a:prstGeom prst="rect">
            <a:avLst/>
          </a:prstGeom>
        </p:spPr>
      </p:pic>
      <p:grpSp>
        <p:nvGrpSpPr>
          <p:cNvPr id="36" name="object 36" descr=""/>
          <p:cNvGrpSpPr/>
          <p:nvPr/>
        </p:nvGrpSpPr>
        <p:grpSpPr>
          <a:xfrm>
            <a:off x="10591797" y="6343649"/>
            <a:ext cx="1409700" cy="323850"/>
            <a:chOff x="10591797" y="6343649"/>
            <a:chExt cx="1409700" cy="323850"/>
          </a:xfrm>
        </p:grpSpPr>
        <p:sp>
          <p:nvSpPr>
            <p:cNvPr id="37" name="object 37" descr=""/>
            <p:cNvSpPr/>
            <p:nvPr/>
          </p:nvSpPr>
          <p:spPr>
            <a:xfrm>
              <a:off x="10591797" y="6476999"/>
              <a:ext cx="304800" cy="76200"/>
            </a:xfrm>
            <a:custGeom>
              <a:avLst/>
              <a:gdLst/>
              <a:ahLst/>
              <a:cxnLst/>
              <a:rect l="l" t="t" r="r" b="b"/>
              <a:pathLst>
                <a:path w="304800" h="76200">
                  <a:moveTo>
                    <a:pt x="271753" y="76199"/>
                  </a:moveTo>
                  <a:lnTo>
                    <a:pt x="33047" y="76199"/>
                  </a:lnTo>
                  <a:lnTo>
                    <a:pt x="28187" y="75232"/>
                  </a:lnTo>
                  <a:lnTo>
                    <a:pt x="966" y="48012"/>
                  </a:lnTo>
                  <a:lnTo>
                    <a:pt x="0" y="43152"/>
                  </a:lnTo>
                  <a:lnTo>
                    <a:pt x="1" y="3809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271753" y="0"/>
                  </a:lnTo>
                  <a:lnTo>
                    <a:pt x="303833" y="28186"/>
                  </a:lnTo>
                  <a:lnTo>
                    <a:pt x="304799" y="33047"/>
                  </a:lnTo>
                  <a:lnTo>
                    <a:pt x="304799" y="43152"/>
                  </a:lnTo>
                  <a:lnTo>
                    <a:pt x="276612" y="75232"/>
                  </a:lnTo>
                  <a:lnTo>
                    <a:pt x="271753" y="76199"/>
                  </a:lnTo>
                  <a:close/>
                </a:path>
              </a:pathLst>
            </a:custGeom>
            <a:solidFill>
              <a:srgbClr val="60A5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10972797" y="6476999"/>
              <a:ext cx="609600" cy="76200"/>
            </a:xfrm>
            <a:custGeom>
              <a:avLst/>
              <a:gdLst/>
              <a:ahLst/>
              <a:cxnLst/>
              <a:rect l="l" t="t" r="r" b="b"/>
              <a:pathLst>
                <a:path w="609600" h="76200">
                  <a:moveTo>
                    <a:pt x="576553" y="76199"/>
                  </a:moveTo>
                  <a:lnTo>
                    <a:pt x="33047" y="76199"/>
                  </a:lnTo>
                  <a:lnTo>
                    <a:pt x="28186" y="75232"/>
                  </a:lnTo>
                  <a:lnTo>
                    <a:pt x="967" y="48012"/>
                  </a:lnTo>
                  <a:lnTo>
                    <a:pt x="0" y="43152"/>
                  </a:lnTo>
                  <a:lnTo>
                    <a:pt x="1" y="38099"/>
                  </a:lnTo>
                  <a:lnTo>
                    <a:pt x="0" y="33047"/>
                  </a:lnTo>
                  <a:lnTo>
                    <a:pt x="28186" y="966"/>
                  </a:lnTo>
                  <a:lnTo>
                    <a:pt x="33047" y="0"/>
                  </a:lnTo>
                  <a:lnTo>
                    <a:pt x="576553" y="0"/>
                  </a:lnTo>
                  <a:lnTo>
                    <a:pt x="608632" y="28186"/>
                  </a:lnTo>
                  <a:lnTo>
                    <a:pt x="609599" y="33047"/>
                  </a:lnTo>
                  <a:lnTo>
                    <a:pt x="609599" y="43152"/>
                  </a:lnTo>
                  <a:lnTo>
                    <a:pt x="581412" y="75232"/>
                  </a:lnTo>
                  <a:lnTo>
                    <a:pt x="576553" y="76199"/>
                  </a:lnTo>
                  <a:close/>
                </a:path>
              </a:pathLst>
            </a:custGeom>
            <a:solidFill>
              <a:srgbClr val="93C4F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10620374" y="6343649"/>
              <a:ext cx="1381125" cy="323850"/>
            </a:xfrm>
            <a:custGeom>
              <a:avLst/>
              <a:gdLst/>
              <a:ahLst/>
              <a:cxnLst/>
              <a:rect l="l" t="t" r="r" b="b"/>
              <a:pathLst>
                <a:path w="1381125" h="323850">
                  <a:moveTo>
                    <a:pt x="1348077" y="323849"/>
                  </a:moveTo>
                  <a:lnTo>
                    <a:pt x="33047" y="323849"/>
                  </a:lnTo>
                  <a:lnTo>
                    <a:pt x="28187" y="322883"/>
                  </a:lnTo>
                  <a:lnTo>
                    <a:pt x="966" y="295662"/>
                  </a:lnTo>
                  <a:lnTo>
                    <a:pt x="0" y="290802"/>
                  </a:lnTo>
                  <a:lnTo>
                    <a:pt x="0" y="28574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1348077" y="0"/>
                  </a:lnTo>
                  <a:lnTo>
                    <a:pt x="1380157" y="28187"/>
                  </a:lnTo>
                  <a:lnTo>
                    <a:pt x="1381124" y="33047"/>
                  </a:lnTo>
                  <a:lnTo>
                    <a:pt x="1381124" y="290802"/>
                  </a:lnTo>
                  <a:lnTo>
                    <a:pt x="1352937" y="322883"/>
                  </a:lnTo>
                  <a:lnTo>
                    <a:pt x="1348077" y="323849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0" name="object 40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734674" y="6438899"/>
              <a:ext cx="133349" cy="133349"/>
            </a:xfrm>
            <a:prstGeom prst="rect">
              <a:avLst/>
            </a:prstGeom>
          </p:spPr>
        </p:pic>
      </p:grpSp>
      <p:sp>
        <p:nvSpPr>
          <p:cNvPr id="41" name="object 41" descr=""/>
          <p:cNvSpPr txBox="1"/>
          <p:nvPr/>
        </p:nvSpPr>
        <p:spPr>
          <a:xfrm>
            <a:off x="10912176" y="6401815"/>
            <a:ext cx="988060" cy="18097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000" spc="-160">
                <a:solidFill>
                  <a:srgbClr val="FFFFFF"/>
                </a:solidFill>
                <a:latin typeface="SimSun"/>
                <a:cs typeface="SimSun"/>
              </a:rPr>
              <a:t>由 </a:t>
            </a:r>
            <a:r>
              <a:rPr dirty="0" sz="900">
                <a:solidFill>
                  <a:srgbClr val="FFFFFF"/>
                </a:solidFill>
                <a:latin typeface="DejaVu Sans"/>
                <a:cs typeface="DejaVu Sans"/>
              </a:rPr>
              <a:t>Genspark</a:t>
            </a:r>
            <a:r>
              <a:rPr dirty="0" sz="900" spc="-45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000" spc="-75">
                <a:solidFill>
                  <a:srgbClr val="FFFFFF"/>
                </a:solidFill>
                <a:latin typeface="SimSun"/>
                <a:cs typeface="SimSun"/>
              </a:rPr>
              <a:t>制作</a:t>
            </a:r>
            <a:endParaRPr sz="1000">
              <a:latin typeface="SimSun"/>
              <a:cs typeface="SimSu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96899" y="552323"/>
            <a:ext cx="5644515" cy="4908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370"/>
              <a:t>政</a:t>
            </a:r>
            <a:r>
              <a:rPr dirty="0" spc="-370">
                <a:latin typeface="BIZ UDPGothic"/>
                <a:cs typeface="BIZ UDPGothic"/>
              </a:rPr>
              <a:t>策</a:t>
            </a:r>
            <a:r>
              <a:rPr dirty="0" spc="-370"/>
              <a:t>环</a:t>
            </a:r>
            <a:r>
              <a:rPr dirty="0" spc="-160">
                <a:latin typeface="BIZ UDPGothic"/>
                <a:cs typeface="BIZ UDPGothic"/>
              </a:rPr>
              <a:t>境：国家与四川</a:t>
            </a:r>
            <a:r>
              <a:rPr dirty="0" spc="-150">
                <a:latin typeface="Trebuchet MS"/>
                <a:cs typeface="Trebuchet MS"/>
              </a:rPr>
              <a:t>/</a:t>
            </a:r>
            <a:r>
              <a:rPr dirty="0" spc="-380">
                <a:latin typeface="BIZ UDPGothic"/>
                <a:cs typeface="BIZ UDPGothic"/>
              </a:rPr>
              <a:t>成都支持重点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599" y="1409699"/>
            <a:ext cx="6305548" cy="4381499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1435099" y="1668424"/>
            <a:ext cx="2768600" cy="34036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050" spc="-270">
                <a:solidFill>
                  <a:srgbClr val="1F2937"/>
                </a:solidFill>
                <a:latin typeface="SimSun"/>
                <a:cs typeface="SimSun"/>
              </a:rPr>
              <a:t>国家层</a:t>
            </a:r>
            <a:r>
              <a:rPr dirty="0" sz="2050" spc="-270">
                <a:solidFill>
                  <a:srgbClr val="1F2937"/>
                </a:solidFill>
                <a:latin typeface="Meiryo"/>
                <a:cs typeface="Meiryo"/>
              </a:rPr>
              <a:t>⾯</a:t>
            </a:r>
            <a:r>
              <a:rPr dirty="0" sz="2050" spc="-280">
                <a:solidFill>
                  <a:srgbClr val="1F2937"/>
                </a:solidFill>
                <a:latin typeface="SimSun"/>
                <a:cs typeface="SimSun"/>
              </a:rPr>
              <a:t>数字经济发展政策</a:t>
            </a:r>
            <a:endParaRPr sz="2050">
              <a:latin typeface="SimSun"/>
              <a:cs typeface="SimSun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977900" y="2224913"/>
            <a:ext cx="4491355" cy="2324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《</a:t>
            </a:r>
            <a:r>
              <a:rPr dirty="0" sz="1200">
                <a:solidFill>
                  <a:srgbClr val="374050"/>
                </a:solidFill>
                <a:latin typeface="DejaVu Sans"/>
                <a:cs typeface="DejaVu Sans"/>
              </a:rPr>
              <a:t>2025</a:t>
            </a: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年</a:t>
            </a:r>
            <a:r>
              <a:rPr dirty="0" sz="1350" spc="-170">
                <a:solidFill>
                  <a:srgbClr val="374050"/>
                </a:solidFill>
                <a:latin typeface="Meiryo"/>
                <a:cs typeface="Meiryo"/>
              </a:rPr>
              <a:t>数</a:t>
            </a: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字经济发展</a:t>
            </a:r>
            <a:r>
              <a:rPr dirty="0" sz="1350" spc="-170">
                <a:solidFill>
                  <a:srgbClr val="374050"/>
                </a:solidFill>
                <a:latin typeface="Meiryo"/>
                <a:cs typeface="Meiryo"/>
              </a:rPr>
              <a:t>⼯</a:t>
            </a: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作要点》明确提出</a:t>
            </a:r>
            <a:r>
              <a:rPr dirty="0" sz="1200">
                <a:solidFill>
                  <a:srgbClr val="374050"/>
                </a:solidFill>
                <a:latin typeface="DejaVu Sans"/>
                <a:cs typeface="DejaVu Sans"/>
              </a:rPr>
              <a:t>"</a:t>
            </a:r>
            <a:r>
              <a:rPr dirty="0" sz="1350" spc="-170">
                <a:solidFill>
                  <a:srgbClr val="374050"/>
                </a:solidFill>
                <a:latin typeface="Microsoft JhengHei"/>
                <a:cs typeface="Microsoft JhengHei"/>
              </a:rPr>
              <a:t>⼈</a:t>
            </a:r>
            <a:r>
              <a:rPr dirty="0" sz="1350" spc="-170">
                <a:solidFill>
                  <a:srgbClr val="374050"/>
                </a:solidFill>
                <a:latin typeface="Meiryo"/>
                <a:cs typeface="Meiryo"/>
              </a:rPr>
              <a:t>⼯</a:t>
            </a: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智能</a:t>
            </a:r>
            <a:r>
              <a:rPr dirty="0" sz="1200">
                <a:solidFill>
                  <a:srgbClr val="374050"/>
                </a:solidFill>
                <a:latin typeface="DejaVu Sans"/>
                <a:cs typeface="DejaVu Sans"/>
              </a:rPr>
              <a:t>+"</a:t>
            </a: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重</a:t>
            </a:r>
            <a:r>
              <a:rPr dirty="0" sz="1350" spc="-170">
                <a:solidFill>
                  <a:srgbClr val="374050"/>
                </a:solidFill>
                <a:latin typeface="Meiryo"/>
                <a:cs typeface="Meiryo"/>
              </a:rPr>
              <a:t>⼤⾏</a:t>
            </a:r>
            <a:r>
              <a:rPr dirty="0" sz="1350" spc="-50">
                <a:solidFill>
                  <a:srgbClr val="374050"/>
                </a:solidFill>
                <a:latin typeface="SimSun"/>
                <a:cs typeface="SimSun"/>
              </a:rPr>
              <a:t>动</a:t>
            </a:r>
            <a:endParaRPr sz="1350">
              <a:latin typeface="SimSun"/>
              <a:cs typeface="SimSun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977900" y="2567813"/>
            <a:ext cx="3225800" cy="2324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强调释</a:t>
            </a:r>
            <a:r>
              <a:rPr dirty="0" sz="1350" spc="-170">
                <a:solidFill>
                  <a:srgbClr val="374050"/>
                </a:solidFill>
                <a:latin typeface="Meiryo"/>
                <a:cs typeface="Meiryo"/>
              </a:rPr>
              <a:t>放数</a:t>
            </a: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据要素</a:t>
            </a:r>
            <a:r>
              <a:rPr dirty="0" sz="1350" spc="-170">
                <a:solidFill>
                  <a:srgbClr val="374050"/>
                </a:solidFill>
                <a:latin typeface="Microsoft JhengHei"/>
                <a:cs typeface="Microsoft JhengHei"/>
              </a:rPr>
              <a:t>价</a:t>
            </a: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值、强化</a:t>
            </a:r>
            <a:r>
              <a:rPr dirty="0" sz="1350" spc="-170">
                <a:solidFill>
                  <a:srgbClr val="374050"/>
                </a:solidFill>
                <a:latin typeface="Meiryo"/>
                <a:cs typeface="Meiryo"/>
              </a:rPr>
              <a:t>数</a:t>
            </a: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字基础设</a:t>
            </a:r>
            <a:r>
              <a:rPr dirty="0" sz="1350" spc="-170">
                <a:solidFill>
                  <a:srgbClr val="374050"/>
                </a:solidFill>
                <a:latin typeface="Meiryo"/>
                <a:cs typeface="Meiryo"/>
              </a:rPr>
              <a:t>施</a:t>
            </a:r>
            <a:r>
              <a:rPr dirty="0" sz="1350" spc="-110">
                <a:solidFill>
                  <a:srgbClr val="374050"/>
                </a:solidFill>
                <a:latin typeface="SimSun"/>
                <a:cs typeface="SimSun"/>
              </a:rPr>
              <a:t>建设</a:t>
            </a:r>
            <a:endParaRPr sz="1350">
              <a:latin typeface="SimSun"/>
              <a:cs typeface="SimSun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143749" y="1233487"/>
            <a:ext cx="4438649" cy="4557711"/>
          </a:xfrm>
          <a:prstGeom prst="rect">
            <a:avLst/>
          </a:prstGeom>
        </p:spPr>
      </p:pic>
      <p:sp>
        <p:nvSpPr>
          <p:cNvPr id="8" name="object 8" descr=""/>
          <p:cNvSpPr txBox="1"/>
          <p:nvPr/>
        </p:nvSpPr>
        <p:spPr>
          <a:xfrm>
            <a:off x="977900" y="2910713"/>
            <a:ext cx="2311400" cy="2324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推动</a:t>
            </a:r>
            <a:r>
              <a:rPr dirty="0" sz="1350" spc="-170">
                <a:solidFill>
                  <a:srgbClr val="374050"/>
                </a:solidFill>
                <a:latin typeface="Meiryo"/>
                <a:cs typeface="Meiryo"/>
              </a:rPr>
              <a:t>数</a:t>
            </a:r>
            <a:r>
              <a:rPr dirty="0" sz="1350" spc="-160">
                <a:solidFill>
                  <a:srgbClr val="374050"/>
                </a:solidFill>
                <a:latin typeface="SimSun"/>
                <a:cs typeface="SimSun"/>
              </a:rPr>
              <a:t>字经济与实体经济深度融合</a:t>
            </a:r>
            <a:endParaRPr sz="1350">
              <a:latin typeface="SimSun"/>
              <a:cs typeface="SimSun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977900" y="3253613"/>
            <a:ext cx="2311400" cy="2324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50" spc="-170">
                <a:solidFill>
                  <a:srgbClr val="374050"/>
                </a:solidFill>
                <a:latin typeface="Meiryo"/>
                <a:cs typeface="Meiryo"/>
              </a:rPr>
              <a:t>⿎</a:t>
            </a: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励构建城</a:t>
            </a:r>
            <a:r>
              <a:rPr dirty="0" sz="1350" spc="-170">
                <a:solidFill>
                  <a:srgbClr val="374050"/>
                </a:solidFill>
                <a:latin typeface="Meiryo"/>
                <a:cs typeface="Meiryo"/>
              </a:rPr>
              <a:t>市</a:t>
            </a: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运</a:t>
            </a:r>
            <a:r>
              <a:rPr dirty="0" sz="1350" spc="-170">
                <a:solidFill>
                  <a:srgbClr val="374050"/>
                </a:solidFill>
                <a:latin typeface="Meiryo"/>
                <a:cs typeface="Meiryo"/>
              </a:rPr>
              <a:t>⾏</a:t>
            </a:r>
            <a:r>
              <a:rPr dirty="0" sz="1350" spc="-155">
                <a:solidFill>
                  <a:srgbClr val="374050"/>
                </a:solidFill>
                <a:latin typeface="SimSun"/>
                <a:cs typeface="SimSun"/>
              </a:rPr>
              <a:t>和治理智能中枢</a:t>
            </a:r>
            <a:endParaRPr sz="1350">
              <a:latin typeface="SimSun"/>
              <a:cs typeface="SimSun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354137" y="4110862"/>
            <a:ext cx="2044700" cy="894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dirty="0" sz="1350" spc="-170">
                <a:solidFill>
                  <a:srgbClr val="1C4ED8"/>
                </a:solidFill>
                <a:latin typeface="Meiryo"/>
                <a:cs typeface="Meiryo"/>
              </a:rPr>
              <a:t>政</a:t>
            </a:r>
            <a:r>
              <a:rPr dirty="0" sz="1350" spc="-170">
                <a:solidFill>
                  <a:srgbClr val="1C4ED8"/>
                </a:solidFill>
                <a:latin typeface="SimSun"/>
                <a:cs typeface="SimSun"/>
              </a:rPr>
              <a:t>策</a:t>
            </a:r>
            <a:r>
              <a:rPr dirty="0" sz="1350" spc="-170">
                <a:solidFill>
                  <a:srgbClr val="1C4ED8"/>
                </a:solidFill>
                <a:latin typeface="Meiryo"/>
                <a:cs typeface="Meiryo"/>
              </a:rPr>
              <a:t>⽀</a:t>
            </a:r>
            <a:r>
              <a:rPr dirty="0" sz="1350" spc="-150">
                <a:solidFill>
                  <a:srgbClr val="1C4ED8"/>
                </a:solidFill>
                <a:latin typeface="SimSun"/>
                <a:cs typeface="SimSun"/>
              </a:rPr>
              <a:t>持重点领域</a:t>
            </a:r>
            <a:endParaRPr sz="1350">
              <a:latin typeface="SimSun"/>
              <a:cs typeface="SimSun"/>
            </a:endParaRPr>
          </a:p>
          <a:p>
            <a:pPr algn="ctr" marL="12700" marR="5080">
              <a:lnSpc>
                <a:spcPts val="2700"/>
              </a:lnSpc>
              <a:tabLst>
                <a:tab pos="888365" algn="l"/>
                <a:tab pos="1631314" algn="l"/>
              </a:tabLst>
            </a:pPr>
            <a:r>
              <a:rPr dirty="0" sz="1150" spc="-110">
                <a:solidFill>
                  <a:srgbClr val="1D40AF"/>
                </a:solidFill>
                <a:latin typeface="Meiryo"/>
                <a:cs typeface="Meiryo"/>
              </a:rPr>
              <a:t>⼈⼯</a:t>
            </a:r>
            <a:r>
              <a:rPr dirty="0" sz="1150" spc="-110">
                <a:solidFill>
                  <a:srgbClr val="1D40AF"/>
                </a:solidFill>
                <a:latin typeface="SimSun"/>
                <a:cs typeface="SimSun"/>
              </a:rPr>
              <a:t>智</a:t>
            </a:r>
            <a:r>
              <a:rPr dirty="0" sz="1150" spc="-50">
                <a:solidFill>
                  <a:srgbClr val="1D40AF"/>
                </a:solidFill>
                <a:latin typeface="SimSun"/>
                <a:cs typeface="SimSun"/>
              </a:rPr>
              <a:t>能</a:t>
            </a:r>
            <a:r>
              <a:rPr dirty="0" sz="1150">
                <a:solidFill>
                  <a:srgbClr val="1D40AF"/>
                </a:solidFill>
                <a:latin typeface="SimSun"/>
                <a:cs typeface="SimSun"/>
              </a:rPr>
              <a:t>	</a:t>
            </a:r>
            <a:r>
              <a:rPr dirty="0" sz="1150" spc="-110">
                <a:solidFill>
                  <a:srgbClr val="1D40AF"/>
                </a:solidFill>
                <a:latin typeface="Meiryo"/>
                <a:cs typeface="Meiryo"/>
              </a:rPr>
              <a:t>⼤</a:t>
            </a:r>
            <a:r>
              <a:rPr dirty="0" sz="1150" spc="-110">
                <a:solidFill>
                  <a:srgbClr val="1D40AF"/>
                </a:solidFill>
                <a:latin typeface="SimSun"/>
                <a:cs typeface="SimSun"/>
              </a:rPr>
              <a:t>数</a:t>
            </a:r>
            <a:r>
              <a:rPr dirty="0" sz="1150" spc="-50">
                <a:solidFill>
                  <a:srgbClr val="1D40AF"/>
                </a:solidFill>
                <a:latin typeface="SimSun"/>
                <a:cs typeface="SimSun"/>
              </a:rPr>
              <a:t>据</a:t>
            </a:r>
            <a:r>
              <a:rPr dirty="0" sz="1150">
                <a:solidFill>
                  <a:srgbClr val="1D40AF"/>
                </a:solidFill>
                <a:latin typeface="SimSun"/>
                <a:cs typeface="SimSun"/>
              </a:rPr>
              <a:t>	</a:t>
            </a:r>
            <a:r>
              <a:rPr dirty="0" sz="1150" spc="-110">
                <a:solidFill>
                  <a:srgbClr val="1D40AF"/>
                </a:solidFill>
                <a:latin typeface="SimSun"/>
                <a:cs typeface="SimSun"/>
              </a:rPr>
              <a:t>物联</a:t>
            </a:r>
            <a:r>
              <a:rPr dirty="0" sz="1150" spc="-135">
                <a:solidFill>
                  <a:srgbClr val="1D40AF"/>
                </a:solidFill>
                <a:latin typeface="Meiryo"/>
                <a:cs typeface="Meiryo"/>
              </a:rPr>
              <a:t>⽹</a:t>
            </a:r>
            <a:r>
              <a:rPr dirty="0" sz="1150" spc="-110">
                <a:solidFill>
                  <a:srgbClr val="1D40AF"/>
                </a:solidFill>
                <a:latin typeface="SimSun"/>
                <a:cs typeface="SimSun"/>
              </a:rPr>
              <a:t>边缘计</a:t>
            </a:r>
            <a:r>
              <a:rPr dirty="0" sz="1150" spc="-50">
                <a:solidFill>
                  <a:srgbClr val="1D40AF"/>
                </a:solidFill>
                <a:latin typeface="SimSun"/>
                <a:cs typeface="SimSun"/>
              </a:rPr>
              <a:t>算</a:t>
            </a:r>
            <a:r>
              <a:rPr dirty="0" sz="1150">
                <a:solidFill>
                  <a:srgbClr val="1D40AF"/>
                </a:solidFill>
                <a:latin typeface="SimSun"/>
                <a:cs typeface="SimSun"/>
              </a:rPr>
              <a:t>	</a:t>
            </a:r>
            <a:r>
              <a:rPr dirty="0" sz="1150" spc="-110">
                <a:solidFill>
                  <a:srgbClr val="1D40AF"/>
                </a:solidFill>
                <a:latin typeface="SimSun"/>
                <a:cs typeface="SimSun"/>
              </a:rPr>
              <a:t>智慧城</a:t>
            </a:r>
            <a:r>
              <a:rPr dirty="0" sz="1150" spc="-50">
                <a:solidFill>
                  <a:srgbClr val="1D40AF"/>
                </a:solidFill>
                <a:latin typeface="Meiryo"/>
                <a:cs typeface="Meiryo"/>
              </a:rPr>
              <a:t>市</a:t>
            </a:r>
            <a:endParaRPr sz="1150">
              <a:latin typeface="Meiryo"/>
              <a:cs typeface="Meiryo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4286051" y="4072762"/>
            <a:ext cx="1724660" cy="2324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50" spc="-170">
                <a:solidFill>
                  <a:srgbClr val="1C4ED8"/>
                </a:solidFill>
                <a:latin typeface="Meiryo"/>
                <a:cs typeface="Meiryo"/>
              </a:rPr>
              <a:t>数</a:t>
            </a:r>
            <a:r>
              <a:rPr dirty="0" sz="1350" spc="-170">
                <a:solidFill>
                  <a:srgbClr val="1C4ED8"/>
                </a:solidFill>
                <a:latin typeface="SimSun"/>
                <a:cs typeface="SimSun"/>
              </a:rPr>
              <a:t>字经济占</a:t>
            </a:r>
            <a:r>
              <a:rPr dirty="0" sz="1200">
                <a:solidFill>
                  <a:srgbClr val="1C4ED8"/>
                </a:solidFill>
                <a:latin typeface="DejaVu Sans"/>
                <a:cs typeface="DejaVu Sans"/>
              </a:rPr>
              <a:t>GDP</a:t>
            </a:r>
            <a:r>
              <a:rPr dirty="0" sz="1350" spc="-170">
                <a:solidFill>
                  <a:srgbClr val="1C4ED8"/>
                </a:solidFill>
                <a:latin typeface="Meiryo"/>
                <a:cs typeface="Meiryo"/>
              </a:rPr>
              <a:t>⽐</a:t>
            </a:r>
            <a:r>
              <a:rPr dirty="0" sz="1350" spc="-170">
                <a:solidFill>
                  <a:srgbClr val="1C4ED8"/>
                </a:solidFill>
                <a:latin typeface="SimSun"/>
                <a:cs typeface="SimSun"/>
              </a:rPr>
              <a:t>重</a:t>
            </a:r>
            <a:r>
              <a:rPr dirty="0" sz="1350" spc="-170">
                <a:solidFill>
                  <a:srgbClr val="1C4ED8"/>
                </a:solidFill>
                <a:latin typeface="Meiryo"/>
                <a:cs typeface="Meiryo"/>
              </a:rPr>
              <a:t>⽬</a:t>
            </a:r>
            <a:r>
              <a:rPr dirty="0" sz="1350" spc="-50">
                <a:solidFill>
                  <a:srgbClr val="1C4ED8"/>
                </a:solidFill>
                <a:latin typeface="SimSun"/>
                <a:cs typeface="SimSun"/>
              </a:rPr>
              <a:t>标</a:t>
            </a:r>
            <a:endParaRPr sz="1350">
              <a:latin typeface="SimSun"/>
              <a:cs typeface="SimSun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7854950" y="1664461"/>
            <a:ext cx="2311400" cy="28765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700" spc="-210">
                <a:solidFill>
                  <a:srgbClr val="1F2937"/>
                </a:solidFill>
                <a:latin typeface="SimSun"/>
                <a:cs typeface="SimSun"/>
              </a:rPr>
              <a:t>四</a:t>
            </a:r>
            <a:r>
              <a:rPr dirty="0" sz="1700" spc="-210">
                <a:solidFill>
                  <a:srgbClr val="1F2937"/>
                </a:solidFill>
                <a:latin typeface="Meiryo"/>
                <a:cs typeface="Meiryo"/>
              </a:rPr>
              <a:t>川</a:t>
            </a:r>
            <a:r>
              <a:rPr dirty="0" sz="1700" spc="-210">
                <a:solidFill>
                  <a:srgbClr val="1F2937"/>
                </a:solidFill>
                <a:latin typeface="SimSun"/>
                <a:cs typeface="SimSun"/>
              </a:rPr>
              <a:t>省</a:t>
            </a:r>
            <a:r>
              <a:rPr dirty="0" sz="1700" spc="-210">
                <a:solidFill>
                  <a:srgbClr val="1F2937"/>
                </a:solidFill>
                <a:latin typeface="Microsoft JhengHei"/>
                <a:cs typeface="Microsoft JhengHei"/>
              </a:rPr>
              <a:t>⼈</a:t>
            </a:r>
            <a:r>
              <a:rPr dirty="0" sz="1700" spc="-210">
                <a:solidFill>
                  <a:srgbClr val="1F2937"/>
                </a:solidFill>
                <a:latin typeface="Meiryo"/>
                <a:cs typeface="Meiryo"/>
              </a:rPr>
              <a:t>⼯</a:t>
            </a:r>
            <a:r>
              <a:rPr dirty="0" sz="1700" spc="-210">
                <a:solidFill>
                  <a:srgbClr val="1F2937"/>
                </a:solidFill>
                <a:latin typeface="SimSun"/>
                <a:cs typeface="SimSun"/>
              </a:rPr>
              <a:t>智能</a:t>
            </a:r>
            <a:r>
              <a:rPr dirty="0" sz="1700" spc="-210">
                <a:solidFill>
                  <a:srgbClr val="1F2937"/>
                </a:solidFill>
                <a:latin typeface="Microsoft JhengHei"/>
                <a:cs typeface="Microsoft JhengHei"/>
              </a:rPr>
              <a:t>产</a:t>
            </a:r>
            <a:r>
              <a:rPr dirty="0" sz="1700" spc="-190">
                <a:solidFill>
                  <a:srgbClr val="1F2937"/>
                </a:solidFill>
                <a:latin typeface="SimSun"/>
                <a:cs typeface="SimSun"/>
              </a:rPr>
              <a:t>业链规划</a:t>
            </a:r>
            <a:endParaRPr sz="1700">
              <a:latin typeface="SimSun"/>
              <a:cs typeface="SimSun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7510859" y="2126767"/>
            <a:ext cx="3599815" cy="4826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11100"/>
              </a:lnSpc>
              <a:spcBef>
                <a:spcPts val="95"/>
              </a:spcBef>
            </a:pP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《四</a:t>
            </a:r>
            <a:r>
              <a:rPr dirty="0" sz="1350" spc="-170">
                <a:solidFill>
                  <a:srgbClr val="374050"/>
                </a:solidFill>
                <a:latin typeface="Meiryo"/>
                <a:cs typeface="Meiryo"/>
              </a:rPr>
              <a:t>川省</a:t>
            </a:r>
            <a:r>
              <a:rPr dirty="0" sz="1350" spc="-170">
                <a:solidFill>
                  <a:srgbClr val="374050"/>
                </a:solidFill>
                <a:latin typeface="Microsoft JhengHei"/>
                <a:cs typeface="Microsoft JhengHei"/>
              </a:rPr>
              <a:t>⼈</a:t>
            </a:r>
            <a:r>
              <a:rPr dirty="0" sz="1350" spc="-170">
                <a:solidFill>
                  <a:srgbClr val="374050"/>
                </a:solidFill>
                <a:latin typeface="Meiryo"/>
                <a:cs typeface="Meiryo"/>
              </a:rPr>
              <a:t>⼯</a:t>
            </a: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智能</a:t>
            </a:r>
            <a:r>
              <a:rPr dirty="0" sz="1350" spc="-170">
                <a:solidFill>
                  <a:srgbClr val="374050"/>
                </a:solidFill>
                <a:latin typeface="Microsoft JhengHei"/>
                <a:cs typeface="Microsoft JhengHei"/>
              </a:rPr>
              <a:t>产</a:t>
            </a: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业链总体</a:t>
            </a:r>
            <a:r>
              <a:rPr dirty="0" sz="1350" spc="-170">
                <a:solidFill>
                  <a:srgbClr val="374050"/>
                </a:solidFill>
                <a:latin typeface="Meiryo"/>
                <a:cs typeface="Meiryo"/>
              </a:rPr>
              <a:t>⼯</a:t>
            </a: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作</a:t>
            </a:r>
            <a:r>
              <a:rPr dirty="0" sz="1350" spc="-170">
                <a:solidFill>
                  <a:srgbClr val="374050"/>
                </a:solidFill>
                <a:latin typeface="Meiryo"/>
                <a:cs typeface="Meiryo"/>
              </a:rPr>
              <a:t>⽅</a:t>
            </a: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案</a:t>
            </a:r>
            <a:r>
              <a:rPr dirty="0" sz="1350" spc="-35">
                <a:solidFill>
                  <a:srgbClr val="374050"/>
                </a:solidFill>
                <a:latin typeface="SimSun"/>
                <a:cs typeface="SimSun"/>
              </a:rPr>
              <a:t>（</a:t>
            </a:r>
            <a:r>
              <a:rPr dirty="0" sz="1200" spc="-35">
                <a:solidFill>
                  <a:srgbClr val="374050"/>
                </a:solidFill>
                <a:latin typeface="DejaVu Sans"/>
                <a:cs typeface="DejaVu Sans"/>
              </a:rPr>
              <a:t>2024-</a:t>
            </a:r>
            <a:r>
              <a:rPr dirty="0" sz="1200" spc="-20">
                <a:solidFill>
                  <a:srgbClr val="374050"/>
                </a:solidFill>
                <a:latin typeface="DejaVu Sans"/>
                <a:cs typeface="DejaVu Sans"/>
              </a:rPr>
              <a:t>2027</a:t>
            </a: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年</a:t>
            </a:r>
            <a:r>
              <a:rPr dirty="0" sz="1350" spc="-765">
                <a:solidFill>
                  <a:srgbClr val="374050"/>
                </a:solidFill>
                <a:latin typeface="SimSun"/>
                <a:cs typeface="SimSun"/>
              </a:rPr>
              <a:t>）</a:t>
            </a:r>
            <a:r>
              <a:rPr dirty="0" sz="1350" spc="-50">
                <a:solidFill>
                  <a:srgbClr val="374050"/>
                </a:solidFill>
                <a:latin typeface="SimSun"/>
                <a:cs typeface="SimSun"/>
              </a:rPr>
              <a:t>》</a:t>
            </a:r>
            <a:endParaRPr sz="1350">
              <a:latin typeface="SimSun"/>
              <a:cs typeface="SimSun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7512050" y="2720213"/>
            <a:ext cx="3392170" cy="2324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50" spc="-170">
                <a:solidFill>
                  <a:srgbClr val="374050"/>
                </a:solidFill>
                <a:latin typeface="Meiryo"/>
                <a:cs typeface="Meiryo"/>
              </a:rPr>
              <a:t>⽬</a:t>
            </a: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标：到</a:t>
            </a:r>
            <a:r>
              <a:rPr dirty="0" sz="1200">
                <a:solidFill>
                  <a:srgbClr val="374050"/>
                </a:solidFill>
                <a:latin typeface="DejaVu Sans"/>
                <a:cs typeface="DejaVu Sans"/>
              </a:rPr>
              <a:t>2027</a:t>
            </a: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年</a:t>
            </a:r>
            <a:r>
              <a:rPr dirty="0" sz="1350" spc="-170">
                <a:solidFill>
                  <a:srgbClr val="374050"/>
                </a:solidFill>
                <a:latin typeface="Microsoft JhengHei"/>
                <a:cs typeface="Microsoft JhengHei"/>
              </a:rPr>
              <a:t>⼈</a:t>
            </a:r>
            <a:r>
              <a:rPr dirty="0" sz="1350" spc="-170">
                <a:solidFill>
                  <a:srgbClr val="374050"/>
                </a:solidFill>
                <a:latin typeface="Meiryo"/>
                <a:cs typeface="Meiryo"/>
              </a:rPr>
              <a:t>⼯</a:t>
            </a: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智能</a:t>
            </a:r>
            <a:r>
              <a:rPr dirty="0" sz="1350" spc="-170">
                <a:solidFill>
                  <a:srgbClr val="374050"/>
                </a:solidFill>
                <a:latin typeface="Microsoft JhengHei"/>
                <a:cs typeface="Microsoft JhengHei"/>
              </a:rPr>
              <a:t>产</a:t>
            </a: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业规模突破</a:t>
            </a:r>
            <a:r>
              <a:rPr dirty="0" sz="1200">
                <a:solidFill>
                  <a:srgbClr val="374050"/>
                </a:solidFill>
                <a:latin typeface="DejaVu Sans"/>
                <a:cs typeface="DejaVu Sans"/>
              </a:rPr>
              <a:t>2000</a:t>
            </a:r>
            <a:r>
              <a:rPr dirty="0" sz="1350" spc="-170">
                <a:solidFill>
                  <a:srgbClr val="374050"/>
                </a:solidFill>
                <a:latin typeface="Microsoft JhengHei"/>
                <a:cs typeface="Microsoft JhengHei"/>
              </a:rPr>
              <a:t>亿</a:t>
            </a:r>
            <a:r>
              <a:rPr dirty="0" sz="1350" spc="-60">
                <a:solidFill>
                  <a:srgbClr val="374050"/>
                </a:solidFill>
                <a:latin typeface="SimSun"/>
                <a:cs typeface="SimSun"/>
              </a:rPr>
              <a:t>元</a:t>
            </a:r>
            <a:endParaRPr sz="1350">
              <a:latin typeface="SimSun"/>
              <a:cs typeface="SimSun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7512050" y="3063113"/>
            <a:ext cx="3267710" cy="2324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配</a:t>
            </a:r>
            <a:r>
              <a:rPr dirty="0" sz="1350" spc="-170">
                <a:solidFill>
                  <a:srgbClr val="374050"/>
                </a:solidFill>
                <a:latin typeface="Meiryo"/>
                <a:cs typeface="Meiryo"/>
              </a:rPr>
              <a:t>套</a:t>
            </a:r>
            <a:r>
              <a:rPr dirty="0" sz="1200">
                <a:solidFill>
                  <a:srgbClr val="374050"/>
                </a:solidFill>
                <a:latin typeface="DejaVu Sans"/>
                <a:cs typeface="DejaVu Sans"/>
              </a:rPr>
              <a:t>25</a:t>
            </a: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条</a:t>
            </a:r>
            <a:r>
              <a:rPr dirty="0" sz="1350" spc="-170">
                <a:solidFill>
                  <a:srgbClr val="374050"/>
                </a:solidFill>
                <a:latin typeface="Meiryo"/>
                <a:cs typeface="Meiryo"/>
              </a:rPr>
              <a:t>政</a:t>
            </a: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策，涵</a:t>
            </a:r>
            <a:r>
              <a:rPr dirty="0" sz="1350" spc="-170">
                <a:solidFill>
                  <a:srgbClr val="374050"/>
                </a:solidFill>
                <a:latin typeface="Meiryo"/>
                <a:cs typeface="Meiryo"/>
              </a:rPr>
              <a:t>盖</a:t>
            </a: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技术</a:t>
            </a:r>
            <a:r>
              <a:rPr dirty="0" sz="1350" spc="-170">
                <a:solidFill>
                  <a:srgbClr val="374050"/>
                </a:solidFill>
                <a:latin typeface="Meiryo"/>
                <a:cs typeface="Meiryo"/>
              </a:rPr>
              <a:t>攻</a:t>
            </a: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关、</a:t>
            </a:r>
            <a:r>
              <a:rPr dirty="0" sz="1350" spc="-170">
                <a:solidFill>
                  <a:srgbClr val="374050"/>
                </a:solidFill>
                <a:latin typeface="Microsoft JhengHei"/>
                <a:cs typeface="Microsoft JhengHei"/>
              </a:rPr>
              <a:t>产</a:t>
            </a: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业发展与应</a:t>
            </a:r>
            <a:r>
              <a:rPr dirty="0" sz="1350" spc="-60">
                <a:solidFill>
                  <a:srgbClr val="374050"/>
                </a:solidFill>
                <a:latin typeface="Meiryo"/>
                <a:cs typeface="Meiryo"/>
              </a:rPr>
              <a:t>⽤</a:t>
            </a:r>
            <a:endParaRPr sz="1350">
              <a:latin typeface="Meiryo"/>
              <a:cs typeface="Meiryo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7512050" y="3406013"/>
            <a:ext cx="3073400" cy="2324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争取超</a:t>
            </a:r>
            <a:r>
              <a:rPr dirty="0" sz="1350" spc="-170">
                <a:solidFill>
                  <a:srgbClr val="374050"/>
                </a:solidFill>
                <a:latin typeface="Meiryo"/>
                <a:cs typeface="Meiryo"/>
              </a:rPr>
              <a:t>⻓</a:t>
            </a: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期特别国债、</a:t>
            </a:r>
            <a:r>
              <a:rPr dirty="0" sz="1350" spc="-170">
                <a:solidFill>
                  <a:srgbClr val="374050"/>
                </a:solidFill>
                <a:latin typeface="Meiryo"/>
                <a:cs typeface="Meiryo"/>
              </a:rPr>
              <a:t>省</a:t>
            </a: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级重</a:t>
            </a:r>
            <a:r>
              <a:rPr dirty="0" sz="1350" spc="-170">
                <a:solidFill>
                  <a:srgbClr val="374050"/>
                </a:solidFill>
                <a:latin typeface="Meiryo"/>
                <a:cs typeface="Meiryo"/>
              </a:rPr>
              <a:t>⼤</a:t>
            </a: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科技专项</a:t>
            </a:r>
            <a:r>
              <a:rPr dirty="0" sz="1350" spc="-170">
                <a:solidFill>
                  <a:srgbClr val="374050"/>
                </a:solidFill>
                <a:latin typeface="Meiryo"/>
                <a:cs typeface="Meiryo"/>
              </a:rPr>
              <a:t>⽀</a:t>
            </a:r>
            <a:r>
              <a:rPr dirty="0" sz="1350" spc="-50">
                <a:solidFill>
                  <a:srgbClr val="374050"/>
                </a:solidFill>
                <a:latin typeface="SimSun"/>
                <a:cs typeface="SimSun"/>
              </a:rPr>
              <a:t>持</a:t>
            </a:r>
            <a:endParaRPr sz="1350">
              <a:latin typeface="SimSun"/>
              <a:cs typeface="SimSun"/>
            </a:endParaRPr>
          </a:p>
        </p:txBody>
      </p:sp>
      <p:grpSp>
        <p:nvGrpSpPr>
          <p:cNvPr id="17" name="object 17" descr=""/>
          <p:cNvGrpSpPr/>
          <p:nvPr/>
        </p:nvGrpSpPr>
        <p:grpSpPr>
          <a:xfrm>
            <a:off x="609599" y="6019799"/>
            <a:ext cx="4438650" cy="838200"/>
            <a:chOff x="609599" y="6019799"/>
            <a:chExt cx="4438650" cy="838200"/>
          </a:xfrm>
        </p:grpSpPr>
        <p:sp>
          <p:nvSpPr>
            <p:cNvPr id="18" name="object 18" descr=""/>
            <p:cNvSpPr/>
            <p:nvPr/>
          </p:nvSpPr>
          <p:spPr>
            <a:xfrm>
              <a:off x="609599" y="6019799"/>
              <a:ext cx="4438650" cy="838200"/>
            </a:xfrm>
            <a:custGeom>
              <a:avLst/>
              <a:gdLst/>
              <a:ahLst/>
              <a:cxnLst/>
              <a:rect l="l" t="t" r="r" b="b"/>
              <a:pathLst>
                <a:path w="4438650" h="838200">
                  <a:moveTo>
                    <a:pt x="4438649" y="838200"/>
                  </a:moveTo>
                  <a:lnTo>
                    <a:pt x="0" y="838200"/>
                  </a:lnTo>
                  <a:lnTo>
                    <a:pt x="0" y="106795"/>
                  </a:lnTo>
                  <a:lnTo>
                    <a:pt x="11572" y="63624"/>
                  </a:lnTo>
                  <a:lnTo>
                    <a:pt x="38784" y="28169"/>
                  </a:lnTo>
                  <a:lnTo>
                    <a:pt x="77493" y="5828"/>
                  </a:lnTo>
                  <a:lnTo>
                    <a:pt x="106795" y="0"/>
                  </a:lnTo>
                  <a:lnTo>
                    <a:pt x="4331854" y="0"/>
                  </a:lnTo>
                  <a:lnTo>
                    <a:pt x="4375023" y="11571"/>
                  </a:lnTo>
                  <a:lnTo>
                    <a:pt x="4410477" y="38783"/>
                  </a:lnTo>
                  <a:lnTo>
                    <a:pt x="4432820" y="77492"/>
                  </a:lnTo>
                  <a:lnTo>
                    <a:pt x="4438649" y="106795"/>
                  </a:lnTo>
                  <a:lnTo>
                    <a:pt x="4438649" y="8382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838199" y="6248399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90499" y="380999"/>
                  </a:moveTo>
                  <a:lnTo>
                    <a:pt x="144200" y="375288"/>
                  </a:lnTo>
                  <a:lnTo>
                    <a:pt x="100697" y="358507"/>
                  </a:lnTo>
                  <a:lnTo>
                    <a:pt x="62575" y="331658"/>
                  </a:lnTo>
                  <a:lnTo>
                    <a:pt x="32105" y="296334"/>
                  </a:lnTo>
                  <a:lnTo>
                    <a:pt x="11130" y="254666"/>
                  </a:lnTo>
                  <a:lnTo>
                    <a:pt x="915" y="209172"/>
                  </a:lnTo>
                  <a:lnTo>
                    <a:pt x="0" y="190499"/>
                  </a:lnTo>
                  <a:lnTo>
                    <a:pt x="228" y="181141"/>
                  </a:lnTo>
                  <a:lnTo>
                    <a:pt x="8200" y="135199"/>
                  </a:lnTo>
                  <a:lnTo>
                    <a:pt x="27095" y="92572"/>
                  </a:lnTo>
                  <a:lnTo>
                    <a:pt x="55796" y="55796"/>
                  </a:lnTo>
                  <a:lnTo>
                    <a:pt x="92572" y="27095"/>
                  </a:lnTo>
                  <a:lnTo>
                    <a:pt x="135200" y="8200"/>
                  </a:lnTo>
                  <a:lnTo>
                    <a:pt x="181141" y="228"/>
                  </a:lnTo>
                  <a:lnTo>
                    <a:pt x="190499" y="0"/>
                  </a:lnTo>
                  <a:lnTo>
                    <a:pt x="199858" y="228"/>
                  </a:lnTo>
                  <a:lnTo>
                    <a:pt x="245799" y="8200"/>
                  </a:lnTo>
                  <a:lnTo>
                    <a:pt x="288427" y="27095"/>
                  </a:lnTo>
                  <a:lnTo>
                    <a:pt x="325203" y="55796"/>
                  </a:lnTo>
                  <a:lnTo>
                    <a:pt x="353904" y="92572"/>
                  </a:lnTo>
                  <a:lnTo>
                    <a:pt x="372799" y="135199"/>
                  </a:lnTo>
                  <a:lnTo>
                    <a:pt x="380771" y="181141"/>
                  </a:lnTo>
                  <a:lnTo>
                    <a:pt x="380999" y="190499"/>
                  </a:lnTo>
                  <a:lnTo>
                    <a:pt x="380771" y="199858"/>
                  </a:lnTo>
                  <a:lnTo>
                    <a:pt x="372799" y="245798"/>
                  </a:lnTo>
                  <a:lnTo>
                    <a:pt x="353904" y="288426"/>
                  </a:lnTo>
                  <a:lnTo>
                    <a:pt x="325203" y="325202"/>
                  </a:lnTo>
                  <a:lnTo>
                    <a:pt x="288427" y="353902"/>
                  </a:lnTo>
                  <a:lnTo>
                    <a:pt x="245799" y="372798"/>
                  </a:lnTo>
                  <a:lnTo>
                    <a:pt x="199858" y="380770"/>
                  </a:lnTo>
                  <a:lnTo>
                    <a:pt x="190499" y="380999"/>
                  </a:lnTo>
                  <a:close/>
                </a:path>
              </a:pathLst>
            </a:custGeom>
            <a:solidFill>
              <a:srgbClr val="ECE8F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0" name="object 20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14399" y="6343649"/>
              <a:ext cx="238124" cy="190499"/>
            </a:xfrm>
            <a:prstGeom prst="rect">
              <a:avLst/>
            </a:prstGeom>
          </p:spPr>
        </p:pic>
      </p:grpSp>
      <p:sp>
        <p:nvSpPr>
          <p:cNvPr id="21" name="object 21" descr=""/>
          <p:cNvSpPr txBox="1"/>
          <p:nvPr/>
        </p:nvSpPr>
        <p:spPr>
          <a:xfrm>
            <a:off x="1320799" y="6274561"/>
            <a:ext cx="2120900" cy="28765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700" spc="-210">
                <a:solidFill>
                  <a:srgbClr val="1F2937"/>
                </a:solidFill>
                <a:latin typeface="SimSun"/>
                <a:cs typeface="SimSun"/>
              </a:rPr>
              <a:t>成都</a:t>
            </a:r>
            <a:r>
              <a:rPr dirty="0" sz="1700" spc="-210">
                <a:solidFill>
                  <a:srgbClr val="1F2937"/>
                </a:solidFill>
                <a:latin typeface="Meiryo"/>
                <a:cs typeface="Meiryo"/>
              </a:rPr>
              <a:t>市</a:t>
            </a:r>
            <a:r>
              <a:rPr dirty="0" sz="1700" spc="-210">
                <a:solidFill>
                  <a:srgbClr val="1F2937"/>
                </a:solidFill>
                <a:latin typeface="SimSun"/>
                <a:cs typeface="SimSun"/>
              </a:rPr>
              <a:t>智慧城</a:t>
            </a:r>
            <a:r>
              <a:rPr dirty="0" sz="1700" spc="-210">
                <a:solidFill>
                  <a:srgbClr val="1F2937"/>
                </a:solidFill>
                <a:latin typeface="Meiryo"/>
                <a:cs typeface="Meiryo"/>
              </a:rPr>
              <a:t>市</a:t>
            </a:r>
            <a:r>
              <a:rPr dirty="0" sz="1700" spc="-190">
                <a:solidFill>
                  <a:srgbClr val="1F2937"/>
                </a:solidFill>
                <a:latin typeface="SimSun"/>
                <a:cs typeface="SimSun"/>
              </a:rPr>
              <a:t>建设规划</a:t>
            </a:r>
            <a:endParaRPr sz="1700">
              <a:latin typeface="SimSun"/>
              <a:cs typeface="SimSun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4210446" y="4730750"/>
            <a:ext cx="31686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0">
                <a:solidFill>
                  <a:srgbClr val="4A5462"/>
                </a:solidFill>
                <a:latin typeface="DejaVu Sans"/>
                <a:cs typeface="DejaVu Sans"/>
              </a:rPr>
              <a:t>2020</a:t>
            </a:r>
            <a:endParaRPr sz="900">
              <a:latin typeface="DejaVu Sans"/>
              <a:cs typeface="DejaVu Sans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4228901" y="5264150"/>
            <a:ext cx="28003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5">
                <a:solidFill>
                  <a:srgbClr val="4A5462"/>
                </a:solidFill>
                <a:latin typeface="DejaVu Sans"/>
                <a:cs typeface="DejaVu Sans"/>
              </a:rPr>
              <a:t>38%</a:t>
            </a:r>
            <a:endParaRPr sz="900">
              <a:latin typeface="DejaVu Sans"/>
              <a:cs typeface="DejaVu Sans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4730154" y="4654550"/>
            <a:ext cx="31686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0">
                <a:solidFill>
                  <a:srgbClr val="4A5462"/>
                </a:solidFill>
                <a:latin typeface="DejaVu Sans"/>
                <a:cs typeface="DejaVu Sans"/>
              </a:rPr>
              <a:t>2022</a:t>
            </a:r>
            <a:endParaRPr sz="900">
              <a:latin typeface="DejaVu Sans"/>
              <a:cs typeface="DejaVu Sans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4748608" y="5264150"/>
            <a:ext cx="28003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5">
                <a:solidFill>
                  <a:srgbClr val="4A5462"/>
                </a:solidFill>
                <a:latin typeface="DejaVu Sans"/>
                <a:cs typeface="DejaVu Sans"/>
              </a:rPr>
              <a:t>41%</a:t>
            </a:r>
            <a:endParaRPr sz="900">
              <a:latin typeface="DejaVu Sans"/>
              <a:cs typeface="DejaVu Sans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5249862" y="4578350"/>
            <a:ext cx="31686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0">
                <a:solidFill>
                  <a:srgbClr val="4A5462"/>
                </a:solidFill>
                <a:latin typeface="DejaVu Sans"/>
                <a:cs typeface="DejaVu Sans"/>
              </a:rPr>
              <a:t>2024</a:t>
            </a:r>
            <a:endParaRPr sz="900">
              <a:latin typeface="DejaVu Sans"/>
              <a:cs typeface="DejaVu Sans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5268316" y="5264150"/>
            <a:ext cx="28003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5">
                <a:solidFill>
                  <a:srgbClr val="4A5462"/>
                </a:solidFill>
                <a:latin typeface="DejaVu Sans"/>
                <a:cs typeface="DejaVu Sans"/>
              </a:rPr>
              <a:t>45%</a:t>
            </a:r>
            <a:endParaRPr sz="900">
              <a:latin typeface="DejaVu Sans"/>
              <a:cs typeface="DejaVu Sans"/>
            </a:endParaRPr>
          </a:p>
        </p:txBody>
      </p:sp>
      <p:sp>
        <p:nvSpPr>
          <p:cNvPr id="28" name="object 28" descr=""/>
          <p:cNvSpPr txBox="1"/>
          <p:nvPr/>
        </p:nvSpPr>
        <p:spPr>
          <a:xfrm>
            <a:off x="5655269" y="4487290"/>
            <a:ext cx="545465" cy="18097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900" spc="-10">
                <a:solidFill>
                  <a:srgbClr val="4A5462"/>
                </a:solidFill>
                <a:latin typeface="DejaVu Sans"/>
                <a:cs typeface="DejaVu Sans"/>
              </a:rPr>
              <a:t>2025</a:t>
            </a:r>
            <a:r>
              <a:rPr dirty="0" sz="1000" spc="-100">
                <a:solidFill>
                  <a:srgbClr val="4A5462"/>
                </a:solidFill>
                <a:latin typeface="Meiryo"/>
                <a:cs typeface="Meiryo"/>
              </a:rPr>
              <a:t>⽬</a:t>
            </a:r>
            <a:r>
              <a:rPr dirty="0" sz="1000" spc="-50">
                <a:solidFill>
                  <a:srgbClr val="4A5462"/>
                </a:solidFill>
                <a:latin typeface="SimSun"/>
                <a:cs typeface="SimSun"/>
              </a:rPr>
              <a:t>标</a:t>
            </a:r>
            <a:endParaRPr sz="1000">
              <a:latin typeface="SimSun"/>
              <a:cs typeface="SimSun"/>
            </a:endParaRPr>
          </a:p>
        </p:txBody>
      </p:sp>
      <p:sp>
        <p:nvSpPr>
          <p:cNvPr id="29" name="object 29" descr=""/>
          <p:cNvSpPr txBox="1"/>
          <p:nvPr/>
        </p:nvSpPr>
        <p:spPr>
          <a:xfrm>
            <a:off x="5788024" y="5264150"/>
            <a:ext cx="28003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5">
                <a:solidFill>
                  <a:srgbClr val="4A5462"/>
                </a:solidFill>
                <a:latin typeface="DejaVu Sans"/>
                <a:cs typeface="DejaVu Sans"/>
              </a:rPr>
              <a:t>50%</a:t>
            </a:r>
            <a:endParaRPr sz="900">
              <a:latin typeface="DejaVu Sans"/>
              <a:cs typeface="DejaVu Sans"/>
            </a:endParaRPr>
          </a:p>
        </p:txBody>
      </p:sp>
      <p:pic>
        <p:nvPicPr>
          <p:cNvPr id="30" name="object 30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439397" y="6476999"/>
            <a:ext cx="76201" cy="76199"/>
          </a:xfrm>
          <a:prstGeom prst="rect">
            <a:avLst/>
          </a:prstGeom>
        </p:spPr>
      </p:pic>
      <p:grpSp>
        <p:nvGrpSpPr>
          <p:cNvPr id="31" name="object 31" descr=""/>
          <p:cNvGrpSpPr/>
          <p:nvPr/>
        </p:nvGrpSpPr>
        <p:grpSpPr>
          <a:xfrm>
            <a:off x="10591797" y="6343649"/>
            <a:ext cx="1409700" cy="323850"/>
            <a:chOff x="10591797" y="6343649"/>
            <a:chExt cx="1409700" cy="323850"/>
          </a:xfrm>
        </p:grpSpPr>
        <p:sp>
          <p:nvSpPr>
            <p:cNvPr id="32" name="object 32" descr=""/>
            <p:cNvSpPr/>
            <p:nvPr/>
          </p:nvSpPr>
          <p:spPr>
            <a:xfrm>
              <a:off x="10591797" y="6476999"/>
              <a:ext cx="304800" cy="76200"/>
            </a:xfrm>
            <a:custGeom>
              <a:avLst/>
              <a:gdLst/>
              <a:ahLst/>
              <a:cxnLst/>
              <a:rect l="l" t="t" r="r" b="b"/>
              <a:pathLst>
                <a:path w="304800" h="76200">
                  <a:moveTo>
                    <a:pt x="271753" y="76199"/>
                  </a:moveTo>
                  <a:lnTo>
                    <a:pt x="33047" y="76199"/>
                  </a:lnTo>
                  <a:lnTo>
                    <a:pt x="28187" y="75232"/>
                  </a:lnTo>
                  <a:lnTo>
                    <a:pt x="966" y="48012"/>
                  </a:lnTo>
                  <a:lnTo>
                    <a:pt x="0" y="43152"/>
                  </a:lnTo>
                  <a:lnTo>
                    <a:pt x="1" y="3809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271753" y="0"/>
                  </a:lnTo>
                  <a:lnTo>
                    <a:pt x="303833" y="28186"/>
                  </a:lnTo>
                  <a:lnTo>
                    <a:pt x="304799" y="33047"/>
                  </a:lnTo>
                  <a:lnTo>
                    <a:pt x="304799" y="43152"/>
                  </a:lnTo>
                  <a:lnTo>
                    <a:pt x="276612" y="75232"/>
                  </a:lnTo>
                  <a:lnTo>
                    <a:pt x="271753" y="76199"/>
                  </a:lnTo>
                  <a:close/>
                </a:path>
              </a:pathLst>
            </a:custGeom>
            <a:solidFill>
              <a:srgbClr val="60A5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10972797" y="6476999"/>
              <a:ext cx="609600" cy="76200"/>
            </a:xfrm>
            <a:custGeom>
              <a:avLst/>
              <a:gdLst/>
              <a:ahLst/>
              <a:cxnLst/>
              <a:rect l="l" t="t" r="r" b="b"/>
              <a:pathLst>
                <a:path w="609600" h="76200">
                  <a:moveTo>
                    <a:pt x="576553" y="76199"/>
                  </a:moveTo>
                  <a:lnTo>
                    <a:pt x="33047" y="76199"/>
                  </a:lnTo>
                  <a:lnTo>
                    <a:pt x="28186" y="75232"/>
                  </a:lnTo>
                  <a:lnTo>
                    <a:pt x="967" y="48012"/>
                  </a:lnTo>
                  <a:lnTo>
                    <a:pt x="0" y="43152"/>
                  </a:lnTo>
                  <a:lnTo>
                    <a:pt x="1" y="38099"/>
                  </a:lnTo>
                  <a:lnTo>
                    <a:pt x="0" y="33047"/>
                  </a:lnTo>
                  <a:lnTo>
                    <a:pt x="28186" y="966"/>
                  </a:lnTo>
                  <a:lnTo>
                    <a:pt x="33047" y="0"/>
                  </a:lnTo>
                  <a:lnTo>
                    <a:pt x="576553" y="0"/>
                  </a:lnTo>
                  <a:lnTo>
                    <a:pt x="608632" y="28186"/>
                  </a:lnTo>
                  <a:lnTo>
                    <a:pt x="609599" y="33047"/>
                  </a:lnTo>
                  <a:lnTo>
                    <a:pt x="609599" y="43152"/>
                  </a:lnTo>
                  <a:lnTo>
                    <a:pt x="581412" y="75232"/>
                  </a:lnTo>
                  <a:lnTo>
                    <a:pt x="576553" y="76199"/>
                  </a:lnTo>
                  <a:close/>
                </a:path>
              </a:pathLst>
            </a:custGeom>
            <a:solidFill>
              <a:srgbClr val="93C4F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10620374" y="6343649"/>
              <a:ext cx="1381125" cy="323850"/>
            </a:xfrm>
            <a:custGeom>
              <a:avLst/>
              <a:gdLst/>
              <a:ahLst/>
              <a:cxnLst/>
              <a:rect l="l" t="t" r="r" b="b"/>
              <a:pathLst>
                <a:path w="1381125" h="323850">
                  <a:moveTo>
                    <a:pt x="1348077" y="323849"/>
                  </a:moveTo>
                  <a:lnTo>
                    <a:pt x="33047" y="323849"/>
                  </a:lnTo>
                  <a:lnTo>
                    <a:pt x="28187" y="322883"/>
                  </a:lnTo>
                  <a:lnTo>
                    <a:pt x="966" y="295662"/>
                  </a:lnTo>
                  <a:lnTo>
                    <a:pt x="0" y="290802"/>
                  </a:lnTo>
                  <a:lnTo>
                    <a:pt x="0" y="28574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1348077" y="0"/>
                  </a:lnTo>
                  <a:lnTo>
                    <a:pt x="1380157" y="28187"/>
                  </a:lnTo>
                  <a:lnTo>
                    <a:pt x="1381124" y="33047"/>
                  </a:lnTo>
                  <a:lnTo>
                    <a:pt x="1381124" y="290802"/>
                  </a:lnTo>
                  <a:lnTo>
                    <a:pt x="1352937" y="322883"/>
                  </a:lnTo>
                  <a:lnTo>
                    <a:pt x="1348077" y="323849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5" name="object 35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734674" y="6438899"/>
              <a:ext cx="133349" cy="133349"/>
            </a:xfrm>
            <a:prstGeom prst="rect">
              <a:avLst/>
            </a:prstGeom>
          </p:spPr>
        </p:pic>
      </p:grpSp>
      <p:sp>
        <p:nvSpPr>
          <p:cNvPr id="36" name="object 36" descr=""/>
          <p:cNvSpPr txBox="1"/>
          <p:nvPr/>
        </p:nvSpPr>
        <p:spPr>
          <a:xfrm>
            <a:off x="10912176" y="6401815"/>
            <a:ext cx="988060" cy="18097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000" spc="-160">
                <a:solidFill>
                  <a:srgbClr val="FFFFFF"/>
                </a:solidFill>
                <a:latin typeface="SimSun"/>
                <a:cs typeface="SimSun"/>
              </a:rPr>
              <a:t>由 </a:t>
            </a:r>
            <a:r>
              <a:rPr dirty="0" sz="900">
                <a:solidFill>
                  <a:srgbClr val="FFFFFF"/>
                </a:solidFill>
                <a:latin typeface="DejaVu Sans"/>
                <a:cs typeface="DejaVu Sans"/>
              </a:rPr>
              <a:t>Genspark</a:t>
            </a:r>
            <a:r>
              <a:rPr dirty="0" sz="900" spc="-45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000" spc="-75">
                <a:solidFill>
                  <a:srgbClr val="FFFFFF"/>
                </a:solidFill>
                <a:latin typeface="SimSun"/>
                <a:cs typeface="SimSun"/>
              </a:rPr>
              <a:t>制作</a:t>
            </a:r>
            <a:endParaRPr sz="1000">
              <a:latin typeface="SimSun"/>
              <a:cs typeface="SimSu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609599" y="1066799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914399" y="38099"/>
                </a:moveTo>
                <a:lnTo>
                  <a:pt x="0" y="38099"/>
                </a:lnTo>
                <a:lnTo>
                  <a:pt x="0" y="0"/>
                </a:lnTo>
                <a:lnTo>
                  <a:pt x="914399" y="0"/>
                </a:lnTo>
                <a:lnTo>
                  <a:pt x="914399" y="38099"/>
                </a:lnTo>
                <a:close/>
              </a:path>
            </a:pathLst>
          </a:custGeom>
          <a:solidFill>
            <a:srgbClr val="3B81F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96899" y="552323"/>
            <a:ext cx="2082800" cy="4908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370">
                <a:latin typeface="BIZ UDPGothic"/>
                <a:cs typeface="BIZ UDPGothic"/>
              </a:rPr>
              <a:t>合作主体介</a:t>
            </a:r>
            <a:r>
              <a:rPr dirty="0" spc="-420"/>
              <a:t>绍</a:t>
            </a: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599" y="1409699"/>
            <a:ext cx="6305548" cy="4152899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1435099" y="1668424"/>
            <a:ext cx="2768600" cy="34036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050" spc="-275">
                <a:solidFill>
                  <a:srgbClr val="1F2937"/>
                </a:solidFill>
                <a:latin typeface="SimSun"/>
                <a:cs typeface="SimSun"/>
              </a:rPr>
              <a:t>四川能投智慧光电有限公司</a:t>
            </a:r>
            <a:endParaRPr sz="2050">
              <a:latin typeface="SimSun"/>
              <a:cs typeface="SimSun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977900" y="2224913"/>
            <a:ext cx="4140835" cy="2324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四</a:t>
            </a:r>
            <a:r>
              <a:rPr dirty="0" sz="1350" spc="-170">
                <a:solidFill>
                  <a:srgbClr val="374050"/>
                </a:solidFill>
                <a:latin typeface="Meiryo"/>
                <a:cs typeface="Meiryo"/>
              </a:rPr>
              <a:t>川</a:t>
            </a: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能源</a:t>
            </a:r>
            <a:r>
              <a:rPr dirty="0" sz="1350" spc="-170">
                <a:solidFill>
                  <a:srgbClr val="374050"/>
                </a:solidFill>
                <a:latin typeface="Microsoft JhengHei"/>
                <a:cs typeface="Microsoft JhengHei"/>
              </a:rPr>
              <a:t>发</a:t>
            </a: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展集团</a:t>
            </a:r>
            <a:r>
              <a:rPr dirty="0" sz="1350" spc="-170">
                <a:solidFill>
                  <a:srgbClr val="374050"/>
                </a:solidFill>
                <a:latin typeface="Microsoft JhengHei"/>
                <a:cs typeface="Microsoft JhengHei"/>
              </a:rPr>
              <a:t>三</a:t>
            </a: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级</a:t>
            </a:r>
            <a:r>
              <a:rPr dirty="0" sz="1350" spc="-170">
                <a:solidFill>
                  <a:srgbClr val="374050"/>
                </a:solidFill>
                <a:latin typeface="Microsoft JhengHei"/>
                <a:cs typeface="Microsoft JhengHei"/>
              </a:rPr>
              <a:t>⼦</a:t>
            </a: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公</a:t>
            </a:r>
            <a:r>
              <a:rPr dirty="0" sz="1350" spc="-170">
                <a:solidFill>
                  <a:srgbClr val="374050"/>
                </a:solidFill>
                <a:latin typeface="Microsoft JhengHei"/>
                <a:cs typeface="Microsoft JhengHei"/>
              </a:rPr>
              <a:t>司</a:t>
            </a: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，四</a:t>
            </a:r>
            <a:r>
              <a:rPr dirty="0" sz="1350" spc="-170">
                <a:solidFill>
                  <a:srgbClr val="374050"/>
                </a:solidFill>
                <a:latin typeface="Meiryo"/>
                <a:cs typeface="Meiryo"/>
              </a:rPr>
              <a:t>川</a:t>
            </a: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能投建</a:t>
            </a:r>
            <a:r>
              <a:rPr dirty="0" sz="1350" spc="-170">
                <a:solidFill>
                  <a:srgbClr val="374050"/>
                </a:solidFill>
                <a:latin typeface="Meiryo"/>
                <a:cs typeface="Meiryo"/>
              </a:rPr>
              <a:t>⼯</a:t>
            </a: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集团</a:t>
            </a:r>
            <a:r>
              <a:rPr dirty="0" sz="1350" spc="-170">
                <a:solidFill>
                  <a:srgbClr val="374050"/>
                </a:solidFill>
                <a:latin typeface="Microsoft JhengHei"/>
                <a:cs typeface="Microsoft JhengHei"/>
              </a:rPr>
              <a:t>⼆</a:t>
            </a: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级</a:t>
            </a:r>
            <a:r>
              <a:rPr dirty="0" sz="1350" spc="-170">
                <a:solidFill>
                  <a:srgbClr val="374050"/>
                </a:solidFill>
                <a:latin typeface="Microsoft JhengHei"/>
                <a:cs typeface="Microsoft JhengHei"/>
              </a:rPr>
              <a:t>⼦</a:t>
            </a: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公</a:t>
            </a:r>
            <a:r>
              <a:rPr dirty="0" sz="1350" spc="-50">
                <a:solidFill>
                  <a:srgbClr val="374050"/>
                </a:solidFill>
                <a:latin typeface="Microsoft JhengHei"/>
                <a:cs typeface="Microsoft JhengHei"/>
              </a:rPr>
              <a:t>司</a:t>
            </a:r>
            <a:endParaRPr sz="1350">
              <a:latin typeface="Microsoft JhengHei"/>
              <a:cs typeface="Microsoft JhengHe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977900" y="2567813"/>
            <a:ext cx="4445000" cy="2324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集团注册资本</a:t>
            </a:r>
            <a:r>
              <a:rPr dirty="0" sz="1200">
                <a:solidFill>
                  <a:srgbClr val="374050"/>
                </a:solidFill>
                <a:latin typeface="DejaVu Sans"/>
                <a:cs typeface="DejaVu Sans"/>
              </a:rPr>
              <a:t>310</a:t>
            </a:r>
            <a:r>
              <a:rPr dirty="0" sz="1350" spc="-170">
                <a:solidFill>
                  <a:srgbClr val="374050"/>
                </a:solidFill>
                <a:latin typeface="Microsoft JhengHei"/>
                <a:cs typeface="Microsoft JhengHei"/>
              </a:rPr>
              <a:t>亿</a:t>
            </a: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元，资</a:t>
            </a:r>
            <a:r>
              <a:rPr dirty="0" sz="1350" spc="-170">
                <a:solidFill>
                  <a:srgbClr val="374050"/>
                </a:solidFill>
                <a:latin typeface="Microsoft JhengHei"/>
                <a:cs typeface="Microsoft JhengHei"/>
              </a:rPr>
              <a:t>产</a:t>
            </a: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总</a:t>
            </a:r>
            <a:r>
              <a:rPr dirty="0" sz="1350" spc="-170">
                <a:solidFill>
                  <a:srgbClr val="374050"/>
                </a:solidFill>
                <a:latin typeface="Microsoft JhengHei"/>
                <a:cs typeface="Microsoft JhengHei"/>
              </a:rPr>
              <a:t>额</a:t>
            </a: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达</a:t>
            </a:r>
            <a:r>
              <a:rPr dirty="0" sz="1200">
                <a:solidFill>
                  <a:srgbClr val="374050"/>
                </a:solidFill>
                <a:latin typeface="DejaVu Sans"/>
                <a:cs typeface="DejaVu Sans"/>
              </a:rPr>
              <a:t>3911</a:t>
            </a:r>
            <a:r>
              <a:rPr dirty="0" sz="1350" spc="-170">
                <a:solidFill>
                  <a:srgbClr val="374050"/>
                </a:solidFill>
                <a:latin typeface="Microsoft JhengHei"/>
                <a:cs typeface="Microsoft JhengHei"/>
              </a:rPr>
              <a:t>亿</a:t>
            </a: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元（截</a:t>
            </a:r>
            <a:r>
              <a:rPr dirty="0" sz="1350" spc="-170">
                <a:solidFill>
                  <a:srgbClr val="374050"/>
                </a:solidFill>
                <a:latin typeface="Meiryo"/>
                <a:cs typeface="Meiryo"/>
              </a:rPr>
              <a:t>⾄</a:t>
            </a:r>
            <a:r>
              <a:rPr dirty="0" sz="1200">
                <a:solidFill>
                  <a:srgbClr val="374050"/>
                </a:solidFill>
                <a:latin typeface="DejaVu Sans"/>
                <a:cs typeface="DejaVu Sans"/>
              </a:rPr>
              <a:t>2024</a:t>
            </a: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年底</a:t>
            </a:r>
            <a:r>
              <a:rPr dirty="0" sz="1350" spc="-50">
                <a:solidFill>
                  <a:srgbClr val="374050"/>
                </a:solidFill>
                <a:latin typeface="SimSun"/>
                <a:cs typeface="SimSun"/>
              </a:rPr>
              <a:t>）</a:t>
            </a:r>
            <a:endParaRPr sz="1350">
              <a:latin typeface="SimSun"/>
              <a:cs typeface="SimSun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977900" y="2910713"/>
            <a:ext cx="3378200" cy="2324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50" spc="-170">
                <a:solidFill>
                  <a:srgbClr val="374050"/>
                </a:solidFill>
                <a:latin typeface="Microsoft JhengHei"/>
                <a:cs typeface="Microsoft JhengHei"/>
              </a:rPr>
              <a:t>主</a:t>
            </a: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营弱</a:t>
            </a:r>
            <a:r>
              <a:rPr dirty="0" sz="1350" spc="-170">
                <a:solidFill>
                  <a:srgbClr val="374050"/>
                </a:solidFill>
                <a:latin typeface="Microsoft JhengHei"/>
                <a:cs typeface="Microsoft JhengHei"/>
              </a:rPr>
              <a:t>电</a:t>
            </a:r>
            <a:r>
              <a:rPr dirty="0" sz="1350" spc="-170">
                <a:solidFill>
                  <a:srgbClr val="374050"/>
                </a:solidFill>
                <a:latin typeface="Meiryo"/>
                <a:cs typeface="Meiryo"/>
              </a:rPr>
              <a:t>⼯</a:t>
            </a: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程，在照明</a:t>
            </a:r>
            <a:r>
              <a:rPr dirty="0" sz="1350" spc="-170">
                <a:solidFill>
                  <a:srgbClr val="374050"/>
                </a:solidFill>
                <a:latin typeface="Microsoft JhengHei"/>
                <a:cs typeface="Microsoft JhengHei"/>
              </a:rPr>
              <a:t>亮</a:t>
            </a: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化</a:t>
            </a:r>
            <a:r>
              <a:rPr dirty="0" sz="1350" spc="-170">
                <a:solidFill>
                  <a:srgbClr val="374050"/>
                </a:solidFill>
                <a:latin typeface="Meiryo"/>
                <a:cs typeface="Meiryo"/>
              </a:rPr>
              <a:t>⼯</a:t>
            </a: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程</a:t>
            </a:r>
            <a:r>
              <a:rPr dirty="0" sz="1350" spc="-170">
                <a:solidFill>
                  <a:srgbClr val="374050"/>
                </a:solidFill>
                <a:latin typeface="Microsoft JhengHei"/>
                <a:cs typeface="Microsoft JhengHei"/>
              </a:rPr>
              <a:t>领</a:t>
            </a: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域具有显著</a:t>
            </a:r>
            <a:r>
              <a:rPr dirty="0" sz="1350" spc="-114">
                <a:solidFill>
                  <a:srgbClr val="374050"/>
                </a:solidFill>
                <a:latin typeface="Microsoft JhengHei"/>
                <a:cs typeface="Microsoft JhengHei"/>
              </a:rPr>
              <a:t>优势</a:t>
            </a:r>
            <a:endParaRPr sz="1350">
              <a:latin typeface="Microsoft JhengHei"/>
              <a:cs typeface="Microsoft JhengHei"/>
            </a:endParaRPr>
          </a:p>
        </p:txBody>
      </p:sp>
      <p:pic>
        <p:nvPicPr>
          <p:cNvPr id="9" name="object 9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143749" y="1233487"/>
            <a:ext cx="4438649" cy="4329111"/>
          </a:xfrm>
          <a:prstGeom prst="rect">
            <a:avLst/>
          </a:prstGeom>
        </p:spPr>
      </p:pic>
      <p:sp>
        <p:nvSpPr>
          <p:cNvPr id="10" name="object 10" descr=""/>
          <p:cNvSpPr txBox="1"/>
          <p:nvPr/>
        </p:nvSpPr>
        <p:spPr>
          <a:xfrm>
            <a:off x="977900" y="3253613"/>
            <a:ext cx="3683635" cy="2324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在</a:t>
            </a:r>
            <a:r>
              <a:rPr dirty="0" sz="1350" spc="-170">
                <a:solidFill>
                  <a:srgbClr val="374050"/>
                </a:solidFill>
                <a:latin typeface="Meiryo"/>
                <a:cs typeface="Meiryo"/>
              </a:rPr>
              <a:t>⾼新</a:t>
            </a: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西区拥有西芯</a:t>
            </a:r>
            <a:r>
              <a:rPr dirty="0" sz="1350" spc="-170">
                <a:solidFill>
                  <a:srgbClr val="374050"/>
                </a:solidFill>
                <a:latin typeface="Meiryo"/>
                <a:cs typeface="Meiryo"/>
              </a:rPr>
              <a:t>⼤</a:t>
            </a:r>
            <a:r>
              <a:rPr dirty="0" sz="1350" spc="-165">
                <a:solidFill>
                  <a:srgbClr val="374050"/>
                </a:solidFill>
                <a:latin typeface="SimSun"/>
                <a:cs typeface="SimSun"/>
              </a:rPr>
              <a:t>道园区资源，具备物理空间基础</a:t>
            </a:r>
            <a:endParaRPr sz="1350">
              <a:latin typeface="SimSun"/>
              <a:cs typeface="SimSun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976411" y="3574567"/>
            <a:ext cx="5582285" cy="4826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11100"/>
              </a:lnSpc>
              <a:spcBef>
                <a:spcPts val="95"/>
              </a:spcBef>
            </a:pP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集团战</a:t>
            </a:r>
            <a:r>
              <a:rPr dirty="0" sz="1350" spc="-170">
                <a:solidFill>
                  <a:srgbClr val="374050"/>
                </a:solidFill>
                <a:latin typeface="Microsoft JhengHei"/>
                <a:cs typeface="Microsoft JhengHei"/>
              </a:rPr>
              <a:t>略定</a:t>
            </a: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位：打造</a:t>
            </a:r>
            <a:r>
              <a:rPr dirty="0" sz="1200">
                <a:solidFill>
                  <a:srgbClr val="374050"/>
                </a:solidFill>
                <a:latin typeface="DejaVu Sans"/>
                <a:cs typeface="DejaVu Sans"/>
              </a:rPr>
              <a:t>"</a:t>
            </a: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源</a:t>
            </a:r>
            <a:r>
              <a:rPr dirty="0" sz="1350" spc="-170">
                <a:solidFill>
                  <a:srgbClr val="374050"/>
                </a:solidFill>
                <a:latin typeface="Meiryo"/>
                <a:cs typeface="Meiryo"/>
              </a:rPr>
              <a:t>⽹</a:t>
            </a: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荷储</a:t>
            </a:r>
            <a:r>
              <a:rPr dirty="0" sz="1350" spc="-170">
                <a:solidFill>
                  <a:srgbClr val="374050"/>
                </a:solidFill>
                <a:latin typeface="Microsoft JhengHei"/>
                <a:cs typeface="Microsoft JhengHei"/>
              </a:rPr>
              <a:t>⼀</a:t>
            </a: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体、</a:t>
            </a:r>
            <a:r>
              <a:rPr dirty="0" sz="1350" spc="-170">
                <a:solidFill>
                  <a:srgbClr val="374050"/>
                </a:solidFill>
                <a:latin typeface="Microsoft JhengHei"/>
                <a:cs typeface="Microsoft JhengHei"/>
              </a:rPr>
              <a:t>⽔⻛</a:t>
            </a: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光</a:t>
            </a:r>
            <a:r>
              <a:rPr dirty="0" sz="1350" spc="-170">
                <a:solidFill>
                  <a:srgbClr val="374050"/>
                </a:solidFill>
                <a:latin typeface="Microsoft JhengHei"/>
                <a:cs typeface="Microsoft JhengHei"/>
              </a:rPr>
              <a:t>氢</a:t>
            </a:r>
            <a:r>
              <a:rPr dirty="0" sz="1350" spc="-170">
                <a:solidFill>
                  <a:srgbClr val="374050"/>
                </a:solidFill>
                <a:latin typeface="Meiryo"/>
                <a:cs typeface="Meiryo"/>
              </a:rPr>
              <a:t>天</a:t>
            </a: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然</a:t>
            </a:r>
            <a:r>
              <a:rPr dirty="0" sz="1350" spc="-170">
                <a:solidFill>
                  <a:srgbClr val="374050"/>
                </a:solidFill>
                <a:latin typeface="Microsoft JhengHei"/>
                <a:cs typeface="Microsoft JhengHei"/>
              </a:rPr>
              <a:t>⽓</a:t>
            </a:r>
            <a:r>
              <a:rPr dirty="0" sz="1350" spc="-170">
                <a:solidFill>
                  <a:srgbClr val="374050"/>
                </a:solidFill>
                <a:latin typeface="Meiryo"/>
                <a:cs typeface="Meiryo"/>
              </a:rPr>
              <a:t>多</a:t>
            </a: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能</a:t>
            </a:r>
            <a:r>
              <a:rPr dirty="0" sz="1350" spc="-170">
                <a:solidFill>
                  <a:srgbClr val="374050"/>
                </a:solidFill>
                <a:latin typeface="Microsoft JhengHei"/>
                <a:cs typeface="Microsoft JhengHei"/>
              </a:rPr>
              <a:t>互</a:t>
            </a: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补的国内</a:t>
            </a:r>
            <a:r>
              <a:rPr dirty="0" sz="1350" spc="-170">
                <a:solidFill>
                  <a:srgbClr val="374050"/>
                </a:solidFill>
                <a:latin typeface="Microsoft JhengHei"/>
                <a:cs typeface="Microsoft JhengHei"/>
              </a:rPr>
              <a:t>领</a:t>
            </a: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先</a:t>
            </a:r>
            <a:r>
              <a:rPr dirty="0" sz="1350" spc="-170">
                <a:solidFill>
                  <a:srgbClr val="374050"/>
                </a:solidFill>
                <a:latin typeface="Meiryo"/>
                <a:cs typeface="Meiryo"/>
              </a:rPr>
              <a:t>新</a:t>
            </a:r>
            <a:r>
              <a:rPr dirty="0" sz="1350" spc="-130">
                <a:solidFill>
                  <a:srgbClr val="374050"/>
                </a:solidFill>
                <a:latin typeface="SimSun"/>
                <a:cs typeface="SimSun"/>
              </a:rPr>
              <a:t>型能源</a:t>
            </a:r>
            <a:r>
              <a:rPr dirty="0" sz="1350" spc="-170">
                <a:solidFill>
                  <a:srgbClr val="374050"/>
                </a:solidFill>
                <a:latin typeface="Microsoft JhengHei"/>
                <a:cs typeface="Microsoft JhengHei"/>
              </a:rPr>
              <a:t>企业</a:t>
            </a:r>
            <a:r>
              <a:rPr dirty="0" sz="1200" spc="-50">
                <a:solidFill>
                  <a:srgbClr val="374050"/>
                </a:solidFill>
                <a:latin typeface="DejaVu Sans"/>
                <a:cs typeface="DejaVu Sans"/>
              </a:rPr>
              <a:t>"</a:t>
            </a:r>
            <a:endParaRPr sz="1200">
              <a:latin typeface="DejaVu Sans"/>
              <a:cs typeface="DejaVu Sans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1270793" y="4970589"/>
            <a:ext cx="825500" cy="206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-110">
                <a:solidFill>
                  <a:srgbClr val="374050"/>
                </a:solidFill>
                <a:latin typeface="SimSun"/>
                <a:cs typeface="SimSun"/>
              </a:rPr>
              <a:t>国有</a:t>
            </a:r>
            <a:r>
              <a:rPr dirty="0" sz="1150" spc="-110">
                <a:solidFill>
                  <a:srgbClr val="374050"/>
                </a:solidFill>
                <a:latin typeface="Microsoft JhengHei"/>
                <a:cs typeface="Microsoft JhengHei"/>
              </a:rPr>
              <a:t>企业</a:t>
            </a:r>
            <a:r>
              <a:rPr dirty="0" sz="1150" spc="-80">
                <a:solidFill>
                  <a:srgbClr val="374050"/>
                </a:solidFill>
                <a:latin typeface="SimSun"/>
                <a:cs typeface="SimSun"/>
              </a:rPr>
              <a:t>背景</a:t>
            </a:r>
            <a:endParaRPr sz="1150">
              <a:latin typeface="SimSun"/>
              <a:cs typeface="SimSun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2656681" y="4970589"/>
            <a:ext cx="825500" cy="206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-110">
                <a:solidFill>
                  <a:srgbClr val="374050"/>
                </a:solidFill>
                <a:latin typeface="SimSun"/>
                <a:cs typeface="SimSun"/>
              </a:rPr>
              <a:t>能源</a:t>
            </a:r>
            <a:r>
              <a:rPr dirty="0" sz="1150" spc="-110">
                <a:solidFill>
                  <a:srgbClr val="374050"/>
                </a:solidFill>
                <a:latin typeface="Microsoft JhengHei"/>
                <a:cs typeface="Microsoft JhengHei"/>
              </a:rPr>
              <a:t>产业</a:t>
            </a:r>
            <a:r>
              <a:rPr dirty="0" sz="1150" spc="-80">
                <a:solidFill>
                  <a:srgbClr val="374050"/>
                </a:solidFill>
                <a:latin typeface="SimSun"/>
                <a:cs typeface="SimSun"/>
              </a:rPr>
              <a:t>资源</a:t>
            </a:r>
            <a:endParaRPr sz="1150">
              <a:latin typeface="SimSun"/>
              <a:cs typeface="SimSun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4042568" y="4970589"/>
            <a:ext cx="825500" cy="206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-100">
                <a:solidFill>
                  <a:srgbClr val="374050"/>
                </a:solidFill>
                <a:latin typeface="SimSun"/>
                <a:cs typeface="SimSun"/>
              </a:rPr>
              <a:t>园区物理空间</a:t>
            </a:r>
            <a:endParaRPr sz="1150">
              <a:latin typeface="SimSun"/>
              <a:cs typeface="SimSun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5428455" y="4970589"/>
            <a:ext cx="825500" cy="206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-110">
                <a:solidFill>
                  <a:srgbClr val="374050"/>
                </a:solidFill>
                <a:latin typeface="Meiryo"/>
                <a:cs typeface="Meiryo"/>
              </a:rPr>
              <a:t>⼯</a:t>
            </a:r>
            <a:r>
              <a:rPr dirty="0" sz="1150" spc="-110">
                <a:solidFill>
                  <a:srgbClr val="374050"/>
                </a:solidFill>
                <a:latin typeface="SimSun"/>
                <a:cs typeface="SimSun"/>
              </a:rPr>
              <a:t>程</a:t>
            </a:r>
            <a:r>
              <a:rPr dirty="0" sz="1150" spc="-110">
                <a:solidFill>
                  <a:srgbClr val="374050"/>
                </a:solidFill>
                <a:latin typeface="Microsoft JhengHei"/>
                <a:cs typeface="Microsoft JhengHei"/>
              </a:rPr>
              <a:t>实</a:t>
            </a:r>
            <a:r>
              <a:rPr dirty="0" sz="1150" spc="-110">
                <a:solidFill>
                  <a:srgbClr val="374050"/>
                </a:solidFill>
                <a:latin typeface="Meiryo"/>
                <a:cs typeface="Meiryo"/>
              </a:rPr>
              <a:t>施</a:t>
            </a:r>
            <a:r>
              <a:rPr dirty="0" sz="1150" spc="-110">
                <a:solidFill>
                  <a:srgbClr val="374050"/>
                </a:solidFill>
                <a:latin typeface="SimSun"/>
                <a:cs typeface="SimSun"/>
              </a:rPr>
              <a:t>能</a:t>
            </a:r>
            <a:r>
              <a:rPr dirty="0" sz="1150" spc="-50">
                <a:solidFill>
                  <a:srgbClr val="374050"/>
                </a:solidFill>
                <a:latin typeface="Microsoft JhengHei"/>
                <a:cs typeface="Microsoft JhengHei"/>
              </a:rPr>
              <a:t>⼒</a:t>
            </a:r>
            <a:endParaRPr sz="1150">
              <a:latin typeface="Microsoft JhengHei"/>
              <a:cs typeface="Microsoft JhengHei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7854950" y="1664461"/>
            <a:ext cx="2501900" cy="28765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700" spc="-210">
                <a:solidFill>
                  <a:srgbClr val="1F2937"/>
                </a:solidFill>
                <a:latin typeface="SimSun"/>
                <a:cs typeface="SimSun"/>
              </a:rPr>
              <a:t>电</a:t>
            </a:r>
            <a:r>
              <a:rPr dirty="0" sz="1700" spc="-210">
                <a:solidFill>
                  <a:srgbClr val="1F2937"/>
                </a:solidFill>
                <a:latin typeface="Meiryo"/>
                <a:cs typeface="Meiryo"/>
              </a:rPr>
              <a:t>⼦</a:t>
            </a:r>
            <a:r>
              <a:rPr dirty="0" sz="1700" spc="-210">
                <a:solidFill>
                  <a:srgbClr val="1F2937"/>
                </a:solidFill>
                <a:latin typeface="SimSun"/>
                <a:cs typeface="SimSun"/>
              </a:rPr>
              <a:t>科</a:t>
            </a:r>
            <a:r>
              <a:rPr dirty="0" sz="1700" spc="-210">
                <a:solidFill>
                  <a:srgbClr val="1F2937"/>
                </a:solidFill>
                <a:latin typeface="Meiryo"/>
                <a:cs typeface="Meiryo"/>
              </a:rPr>
              <a:t>⼤</a:t>
            </a:r>
            <a:r>
              <a:rPr dirty="0" sz="1700" spc="-210">
                <a:solidFill>
                  <a:srgbClr val="1F2937"/>
                </a:solidFill>
                <a:latin typeface="SimSun"/>
                <a:cs typeface="SimSun"/>
              </a:rPr>
              <a:t>科技园（菁蓉基地</a:t>
            </a:r>
            <a:r>
              <a:rPr dirty="0" sz="1700" spc="-110">
                <a:solidFill>
                  <a:srgbClr val="1F2937"/>
                </a:solidFill>
                <a:latin typeface="SimSun"/>
                <a:cs typeface="SimSun"/>
              </a:rPr>
              <a:t>）</a:t>
            </a:r>
            <a:endParaRPr sz="1700">
              <a:latin typeface="SimSun"/>
              <a:cs typeface="SimSun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7502227" y="2126767"/>
            <a:ext cx="3836035" cy="4826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11100"/>
              </a:lnSpc>
              <a:spcBef>
                <a:spcPts val="95"/>
              </a:spcBef>
            </a:pPr>
            <a:r>
              <a:rPr dirty="0" sz="1350" spc="-170">
                <a:solidFill>
                  <a:srgbClr val="374050"/>
                </a:solidFill>
                <a:latin typeface="Microsoft JhengHei"/>
                <a:cs typeface="Microsoft JhengHei"/>
              </a:rPr>
              <a:t>由电⼦</a:t>
            </a: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科</a:t>
            </a:r>
            <a:r>
              <a:rPr dirty="0" sz="1350" spc="-170">
                <a:solidFill>
                  <a:srgbClr val="374050"/>
                </a:solidFill>
                <a:latin typeface="Meiryo"/>
                <a:cs typeface="Meiryo"/>
              </a:rPr>
              <a:t>⼤</a:t>
            </a: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菁蓉逆</a:t>
            </a:r>
            <a:r>
              <a:rPr dirty="0" sz="1350" spc="-170">
                <a:solidFill>
                  <a:srgbClr val="374050"/>
                </a:solidFill>
                <a:latin typeface="Microsoft JhengHei"/>
                <a:cs typeface="Microsoft JhengHei"/>
              </a:rPr>
              <a:t>向</a:t>
            </a: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创</a:t>
            </a:r>
            <a:r>
              <a:rPr dirty="0" sz="1350" spc="-170">
                <a:solidFill>
                  <a:srgbClr val="374050"/>
                </a:solidFill>
                <a:latin typeface="Meiryo"/>
                <a:cs typeface="Meiryo"/>
              </a:rPr>
              <a:t>新</a:t>
            </a:r>
            <a:r>
              <a:rPr dirty="0" sz="1350" spc="-170">
                <a:solidFill>
                  <a:srgbClr val="374050"/>
                </a:solidFill>
                <a:latin typeface="Microsoft JhengHei"/>
                <a:cs typeface="Microsoft JhengHei"/>
              </a:rPr>
              <a:t>孵</a:t>
            </a: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化基地</a:t>
            </a:r>
            <a:r>
              <a:rPr dirty="0" sz="1350" spc="-170">
                <a:solidFill>
                  <a:srgbClr val="374050"/>
                </a:solidFill>
                <a:latin typeface="Microsoft JhengHei"/>
                <a:cs typeface="Microsoft JhengHei"/>
              </a:rPr>
              <a:t>与</a:t>
            </a: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成都</a:t>
            </a:r>
            <a:r>
              <a:rPr dirty="0" sz="1350" spc="-170">
                <a:solidFill>
                  <a:srgbClr val="374050"/>
                </a:solidFill>
                <a:latin typeface="Microsoft JhengHei"/>
                <a:cs typeface="Microsoft JhengHei"/>
              </a:rPr>
              <a:t>合</a:t>
            </a: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知</a:t>
            </a:r>
            <a:r>
              <a:rPr dirty="0" sz="1350" spc="-170">
                <a:solidFill>
                  <a:srgbClr val="374050"/>
                </a:solidFill>
                <a:latin typeface="Microsoft JhengHei"/>
                <a:cs typeface="Microsoft JhengHei"/>
              </a:rPr>
              <a:t>于</a:t>
            </a:r>
            <a:r>
              <a:rPr dirty="0" sz="1350" spc="-170">
                <a:solidFill>
                  <a:srgbClr val="374050"/>
                </a:solidFill>
                <a:latin typeface="Meiryo"/>
                <a:cs typeface="Meiryo"/>
              </a:rPr>
              <a:t>⾏数</a:t>
            </a:r>
            <a:r>
              <a:rPr dirty="0" sz="1350" spc="-170">
                <a:solidFill>
                  <a:srgbClr val="374050"/>
                </a:solidFill>
                <a:latin typeface="Microsoft JhengHei"/>
                <a:cs typeface="Microsoft JhengHei"/>
              </a:rPr>
              <a:t>字</a:t>
            </a:r>
            <a:r>
              <a:rPr dirty="0" sz="1350" spc="-50">
                <a:solidFill>
                  <a:srgbClr val="374050"/>
                </a:solidFill>
                <a:latin typeface="SimSun"/>
                <a:cs typeface="SimSun"/>
              </a:rPr>
              <a:t>科</a:t>
            </a: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技有限公</a:t>
            </a:r>
            <a:r>
              <a:rPr dirty="0" sz="1350" spc="-170">
                <a:solidFill>
                  <a:srgbClr val="374050"/>
                </a:solidFill>
                <a:latin typeface="Microsoft JhengHei"/>
                <a:cs typeface="Microsoft JhengHei"/>
              </a:rPr>
              <a:t>司</a:t>
            </a: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联</a:t>
            </a:r>
            <a:r>
              <a:rPr dirty="0" sz="1350" spc="-170">
                <a:solidFill>
                  <a:srgbClr val="374050"/>
                </a:solidFill>
                <a:latin typeface="Microsoft JhengHei"/>
                <a:cs typeface="Microsoft JhengHei"/>
              </a:rPr>
              <a:t>合</a:t>
            </a:r>
            <a:r>
              <a:rPr dirty="0" sz="1350" spc="-110">
                <a:solidFill>
                  <a:srgbClr val="374050"/>
                </a:solidFill>
                <a:latin typeface="SimSun"/>
                <a:cs typeface="SimSun"/>
              </a:rPr>
              <a:t>运营</a:t>
            </a:r>
            <a:endParaRPr sz="1350">
              <a:latin typeface="SimSun"/>
              <a:cs typeface="SimSun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7501334" y="2698267"/>
            <a:ext cx="3832225" cy="4826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11100"/>
              </a:lnSpc>
              <a:spcBef>
                <a:spcPts val="95"/>
              </a:spcBef>
            </a:pP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核</a:t>
            </a:r>
            <a:r>
              <a:rPr dirty="0" sz="1350" spc="-170">
                <a:solidFill>
                  <a:srgbClr val="374050"/>
                </a:solidFill>
                <a:latin typeface="Meiryo"/>
                <a:cs typeface="Meiryo"/>
              </a:rPr>
              <a:t>⼼</a:t>
            </a: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使命：解决</a:t>
            </a:r>
            <a:r>
              <a:rPr dirty="0" sz="1350" spc="-170">
                <a:solidFill>
                  <a:srgbClr val="374050"/>
                </a:solidFill>
                <a:latin typeface="Microsoft JhengHei"/>
                <a:cs typeface="Microsoft JhengHei"/>
              </a:rPr>
              <a:t>企业</a:t>
            </a:r>
            <a:r>
              <a:rPr dirty="0" sz="1200" spc="-10">
                <a:solidFill>
                  <a:srgbClr val="374050"/>
                </a:solidFill>
                <a:latin typeface="DejaVu Sans"/>
                <a:cs typeface="DejaVu Sans"/>
              </a:rPr>
              <a:t>AI</a:t>
            </a: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应</a:t>
            </a:r>
            <a:r>
              <a:rPr dirty="0" sz="1350" spc="-170">
                <a:solidFill>
                  <a:srgbClr val="374050"/>
                </a:solidFill>
                <a:latin typeface="Microsoft JhengHei"/>
                <a:cs typeface="Microsoft JhengHei"/>
              </a:rPr>
              <a:t>⽤</a:t>
            </a: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落地的关键挑战（</a:t>
            </a:r>
            <a:r>
              <a:rPr dirty="0" sz="1350" spc="-170">
                <a:solidFill>
                  <a:srgbClr val="374050"/>
                </a:solidFill>
                <a:latin typeface="Microsoft JhengHei"/>
                <a:cs typeface="Microsoft JhengHei"/>
              </a:rPr>
              <a:t>⼈</a:t>
            </a: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才缺</a:t>
            </a:r>
            <a:r>
              <a:rPr dirty="0" sz="1350" spc="-170">
                <a:solidFill>
                  <a:srgbClr val="374050"/>
                </a:solidFill>
                <a:latin typeface="Microsoft JhengHei"/>
                <a:cs typeface="Microsoft JhengHei"/>
              </a:rPr>
              <a:t>⼝</a:t>
            </a:r>
            <a:r>
              <a:rPr dirty="0" sz="1350" spc="-50">
                <a:solidFill>
                  <a:srgbClr val="374050"/>
                </a:solidFill>
                <a:latin typeface="SimSun"/>
                <a:cs typeface="SimSun"/>
              </a:rPr>
              <a:t>、</a:t>
            </a: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场景识别、运营转型</a:t>
            </a:r>
            <a:r>
              <a:rPr dirty="0" sz="1350" spc="-50">
                <a:solidFill>
                  <a:srgbClr val="374050"/>
                </a:solidFill>
                <a:latin typeface="SimSun"/>
                <a:cs typeface="SimSun"/>
              </a:rPr>
              <a:t>）</a:t>
            </a:r>
            <a:endParaRPr sz="1350">
              <a:latin typeface="SimSun"/>
              <a:cs typeface="SimSun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7506989" y="3269767"/>
            <a:ext cx="3832225" cy="4826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11100"/>
              </a:lnSpc>
              <a:spcBef>
                <a:spcPts val="95"/>
              </a:spcBef>
            </a:pP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提供</a:t>
            </a:r>
            <a:r>
              <a:rPr dirty="0" sz="1200" spc="-10">
                <a:solidFill>
                  <a:srgbClr val="374050"/>
                </a:solidFill>
                <a:latin typeface="DejaVu Sans"/>
                <a:cs typeface="DejaVu Sans"/>
              </a:rPr>
              <a:t>AI</a:t>
            </a: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应</a:t>
            </a:r>
            <a:r>
              <a:rPr dirty="0" sz="1350" spc="-170">
                <a:solidFill>
                  <a:srgbClr val="374050"/>
                </a:solidFill>
                <a:latin typeface="Microsoft JhengHei"/>
                <a:cs typeface="Microsoft JhengHei"/>
              </a:rPr>
              <a:t>⽤</a:t>
            </a: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能</a:t>
            </a:r>
            <a:r>
              <a:rPr dirty="0" sz="1350" spc="-170">
                <a:solidFill>
                  <a:srgbClr val="374050"/>
                </a:solidFill>
                <a:latin typeface="Microsoft JhengHei"/>
                <a:cs typeface="Microsoft JhengHei"/>
              </a:rPr>
              <a:t>⼒</a:t>
            </a: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培训、部</a:t>
            </a:r>
            <a:r>
              <a:rPr dirty="0" sz="1350" spc="-170">
                <a:solidFill>
                  <a:srgbClr val="374050"/>
                </a:solidFill>
                <a:latin typeface="Meiryo"/>
                <a:cs typeface="Meiryo"/>
              </a:rPr>
              <a:t>署</a:t>
            </a: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辅</a:t>
            </a:r>
            <a:r>
              <a:rPr dirty="0" sz="1350" spc="-170">
                <a:solidFill>
                  <a:srgbClr val="374050"/>
                </a:solidFill>
                <a:latin typeface="Microsoft JhengHei"/>
                <a:cs typeface="Microsoft JhengHei"/>
              </a:rPr>
              <a:t>助</a:t>
            </a: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服</a:t>
            </a:r>
            <a:r>
              <a:rPr dirty="0" sz="1350" spc="-170">
                <a:solidFill>
                  <a:srgbClr val="374050"/>
                </a:solidFill>
                <a:latin typeface="Microsoft JhengHei"/>
                <a:cs typeface="Microsoft JhengHei"/>
              </a:rPr>
              <a:t>务</a:t>
            </a: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、运</a:t>
            </a:r>
            <a:r>
              <a:rPr dirty="0" sz="1350" spc="-170">
                <a:solidFill>
                  <a:srgbClr val="374050"/>
                </a:solidFill>
                <a:latin typeface="Meiryo"/>
                <a:cs typeface="Meiryo"/>
              </a:rPr>
              <a:t>⾏</a:t>
            </a: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系统开</a:t>
            </a:r>
            <a:r>
              <a:rPr dirty="0" sz="1350" spc="-170">
                <a:solidFill>
                  <a:srgbClr val="374050"/>
                </a:solidFill>
                <a:latin typeface="Microsoft JhengHei"/>
                <a:cs typeface="Microsoft JhengHei"/>
              </a:rPr>
              <a:t>发三</a:t>
            </a:r>
            <a:r>
              <a:rPr dirty="0" sz="1350" spc="-50">
                <a:solidFill>
                  <a:srgbClr val="374050"/>
                </a:solidFill>
                <a:latin typeface="Meiryo"/>
                <a:cs typeface="Meiryo"/>
              </a:rPr>
              <a:t>⼤</a:t>
            </a: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核</a:t>
            </a:r>
            <a:r>
              <a:rPr dirty="0" sz="1350" spc="-170">
                <a:solidFill>
                  <a:srgbClr val="374050"/>
                </a:solidFill>
                <a:latin typeface="Meiryo"/>
                <a:cs typeface="Meiryo"/>
              </a:rPr>
              <a:t>⼼</a:t>
            </a: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服</a:t>
            </a:r>
            <a:r>
              <a:rPr dirty="0" sz="1350" spc="-50">
                <a:solidFill>
                  <a:srgbClr val="374050"/>
                </a:solidFill>
                <a:latin typeface="Microsoft JhengHei"/>
                <a:cs typeface="Microsoft JhengHei"/>
              </a:rPr>
              <a:t>务</a:t>
            </a:r>
            <a:endParaRPr sz="1350">
              <a:latin typeface="Microsoft JhengHei"/>
              <a:cs typeface="Microsoft JhengHei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7512050" y="3863212"/>
            <a:ext cx="3836035" cy="2324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拥有</a:t>
            </a:r>
            <a:r>
              <a:rPr dirty="0" sz="1350" spc="-170">
                <a:solidFill>
                  <a:srgbClr val="374050"/>
                </a:solidFill>
                <a:latin typeface="Microsoft JhengHei"/>
                <a:cs typeface="Microsoft JhengHei"/>
              </a:rPr>
              <a:t>专业</a:t>
            </a: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团队</a:t>
            </a:r>
            <a:r>
              <a:rPr dirty="0" sz="1350" spc="-170">
                <a:solidFill>
                  <a:srgbClr val="374050"/>
                </a:solidFill>
                <a:latin typeface="Meiryo"/>
                <a:cs typeface="Meiryo"/>
              </a:rPr>
              <a:t>⽀</a:t>
            </a: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持、先进技术资源和</a:t>
            </a:r>
            <a:r>
              <a:rPr dirty="0" sz="1350" spc="-170">
                <a:solidFill>
                  <a:srgbClr val="374050"/>
                </a:solidFill>
                <a:latin typeface="Microsoft JhengHei"/>
                <a:cs typeface="Microsoft JhengHei"/>
              </a:rPr>
              <a:t>产学</a:t>
            </a: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研深度融</a:t>
            </a:r>
            <a:r>
              <a:rPr dirty="0" sz="1350" spc="-130">
                <a:solidFill>
                  <a:srgbClr val="374050"/>
                </a:solidFill>
                <a:latin typeface="Microsoft JhengHei"/>
                <a:cs typeface="Microsoft JhengHei"/>
              </a:rPr>
              <a:t>合优势</a:t>
            </a:r>
            <a:endParaRPr sz="1350">
              <a:latin typeface="Microsoft JhengHei"/>
              <a:cs typeface="Microsoft JhengHei"/>
            </a:endParaRPr>
          </a:p>
        </p:txBody>
      </p:sp>
      <p:grpSp>
        <p:nvGrpSpPr>
          <p:cNvPr id="21" name="object 21" descr=""/>
          <p:cNvGrpSpPr/>
          <p:nvPr/>
        </p:nvGrpSpPr>
        <p:grpSpPr>
          <a:xfrm>
            <a:off x="609599" y="5791199"/>
            <a:ext cx="4438650" cy="1066800"/>
            <a:chOff x="609599" y="5791199"/>
            <a:chExt cx="4438650" cy="1066800"/>
          </a:xfrm>
        </p:grpSpPr>
        <p:sp>
          <p:nvSpPr>
            <p:cNvPr id="22" name="object 22" descr=""/>
            <p:cNvSpPr/>
            <p:nvPr/>
          </p:nvSpPr>
          <p:spPr>
            <a:xfrm>
              <a:off x="609599" y="5791199"/>
              <a:ext cx="4438650" cy="1066800"/>
            </a:xfrm>
            <a:custGeom>
              <a:avLst/>
              <a:gdLst/>
              <a:ahLst/>
              <a:cxnLst/>
              <a:rect l="l" t="t" r="r" b="b"/>
              <a:pathLst>
                <a:path w="4438650" h="1066800">
                  <a:moveTo>
                    <a:pt x="4438649" y="1066800"/>
                  </a:moveTo>
                  <a:lnTo>
                    <a:pt x="0" y="1066800"/>
                  </a:lnTo>
                  <a:lnTo>
                    <a:pt x="0" y="106795"/>
                  </a:lnTo>
                  <a:lnTo>
                    <a:pt x="11572" y="63624"/>
                  </a:lnTo>
                  <a:lnTo>
                    <a:pt x="38784" y="28169"/>
                  </a:lnTo>
                  <a:lnTo>
                    <a:pt x="77493" y="5828"/>
                  </a:lnTo>
                  <a:lnTo>
                    <a:pt x="106795" y="0"/>
                  </a:lnTo>
                  <a:lnTo>
                    <a:pt x="4331854" y="0"/>
                  </a:lnTo>
                  <a:lnTo>
                    <a:pt x="4375023" y="11571"/>
                  </a:lnTo>
                  <a:lnTo>
                    <a:pt x="4410477" y="38783"/>
                  </a:lnTo>
                  <a:lnTo>
                    <a:pt x="4432820" y="77492"/>
                  </a:lnTo>
                  <a:lnTo>
                    <a:pt x="4438649" y="106795"/>
                  </a:lnTo>
                  <a:lnTo>
                    <a:pt x="4438649" y="10668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838199" y="6019799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90499" y="380999"/>
                  </a:moveTo>
                  <a:lnTo>
                    <a:pt x="144200" y="375288"/>
                  </a:lnTo>
                  <a:lnTo>
                    <a:pt x="100697" y="358507"/>
                  </a:lnTo>
                  <a:lnTo>
                    <a:pt x="62575" y="331658"/>
                  </a:lnTo>
                  <a:lnTo>
                    <a:pt x="32105" y="296335"/>
                  </a:lnTo>
                  <a:lnTo>
                    <a:pt x="11130" y="254666"/>
                  </a:lnTo>
                  <a:lnTo>
                    <a:pt x="915" y="209172"/>
                  </a:lnTo>
                  <a:lnTo>
                    <a:pt x="0" y="190499"/>
                  </a:lnTo>
                  <a:lnTo>
                    <a:pt x="228" y="181141"/>
                  </a:lnTo>
                  <a:lnTo>
                    <a:pt x="8200" y="135199"/>
                  </a:lnTo>
                  <a:lnTo>
                    <a:pt x="27095" y="92571"/>
                  </a:lnTo>
                  <a:lnTo>
                    <a:pt x="55796" y="55796"/>
                  </a:lnTo>
                  <a:lnTo>
                    <a:pt x="92572" y="27095"/>
                  </a:lnTo>
                  <a:lnTo>
                    <a:pt x="135200" y="8200"/>
                  </a:lnTo>
                  <a:lnTo>
                    <a:pt x="181141" y="228"/>
                  </a:lnTo>
                  <a:lnTo>
                    <a:pt x="190499" y="0"/>
                  </a:lnTo>
                  <a:lnTo>
                    <a:pt x="199858" y="228"/>
                  </a:lnTo>
                  <a:lnTo>
                    <a:pt x="245799" y="8200"/>
                  </a:lnTo>
                  <a:lnTo>
                    <a:pt x="288427" y="27095"/>
                  </a:lnTo>
                  <a:lnTo>
                    <a:pt x="325203" y="55796"/>
                  </a:lnTo>
                  <a:lnTo>
                    <a:pt x="353904" y="92571"/>
                  </a:lnTo>
                  <a:lnTo>
                    <a:pt x="372799" y="135199"/>
                  </a:lnTo>
                  <a:lnTo>
                    <a:pt x="380771" y="181141"/>
                  </a:lnTo>
                  <a:lnTo>
                    <a:pt x="380999" y="190499"/>
                  </a:lnTo>
                  <a:lnTo>
                    <a:pt x="380771" y="199858"/>
                  </a:lnTo>
                  <a:lnTo>
                    <a:pt x="372799" y="245799"/>
                  </a:lnTo>
                  <a:lnTo>
                    <a:pt x="353904" y="288426"/>
                  </a:lnTo>
                  <a:lnTo>
                    <a:pt x="325203" y="325203"/>
                  </a:lnTo>
                  <a:lnTo>
                    <a:pt x="288427" y="353903"/>
                  </a:lnTo>
                  <a:lnTo>
                    <a:pt x="245799" y="372798"/>
                  </a:lnTo>
                  <a:lnTo>
                    <a:pt x="199858" y="380770"/>
                  </a:lnTo>
                  <a:lnTo>
                    <a:pt x="190499" y="380999"/>
                  </a:lnTo>
                  <a:close/>
                </a:path>
              </a:pathLst>
            </a:custGeom>
            <a:solidFill>
              <a:srgbClr val="ECE8F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4" name="object 24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14399" y="6138862"/>
              <a:ext cx="238124" cy="142842"/>
            </a:xfrm>
            <a:prstGeom prst="rect">
              <a:avLst/>
            </a:prstGeom>
          </p:spPr>
        </p:pic>
      </p:grpSp>
      <p:sp>
        <p:nvSpPr>
          <p:cNvPr id="25" name="object 25" descr=""/>
          <p:cNvSpPr txBox="1"/>
          <p:nvPr/>
        </p:nvSpPr>
        <p:spPr>
          <a:xfrm>
            <a:off x="1320799" y="6045961"/>
            <a:ext cx="2120900" cy="28765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700" spc="-210">
                <a:solidFill>
                  <a:srgbClr val="1F2937"/>
                </a:solidFill>
                <a:latin typeface="SimSun"/>
                <a:cs typeface="SimSun"/>
              </a:rPr>
              <a:t>双</a:t>
            </a:r>
            <a:r>
              <a:rPr dirty="0" sz="1700" spc="-210">
                <a:solidFill>
                  <a:srgbClr val="1F2937"/>
                </a:solidFill>
                <a:latin typeface="Meiryo"/>
                <a:cs typeface="Meiryo"/>
              </a:rPr>
              <a:t>⽅</a:t>
            </a:r>
            <a:r>
              <a:rPr dirty="0" sz="1700" spc="-200">
                <a:solidFill>
                  <a:srgbClr val="1F2937"/>
                </a:solidFill>
                <a:latin typeface="SimSun"/>
                <a:cs typeface="SimSun"/>
              </a:rPr>
              <a:t>合作价值与资源互补</a:t>
            </a:r>
            <a:endParaRPr sz="1700">
              <a:latin typeface="SimSun"/>
              <a:cs typeface="SimSun"/>
            </a:endParaRPr>
          </a:p>
        </p:txBody>
      </p:sp>
      <p:sp>
        <p:nvSpPr>
          <p:cNvPr id="26" name="object 26" descr=""/>
          <p:cNvSpPr/>
          <p:nvPr/>
        </p:nvSpPr>
        <p:spPr>
          <a:xfrm>
            <a:off x="838199" y="6553199"/>
            <a:ext cx="1657350" cy="304800"/>
          </a:xfrm>
          <a:custGeom>
            <a:avLst/>
            <a:gdLst/>
            <a:ahLst/>
            <a:cxnLst/>
            <a:rect l="l" t="t" r="r" b="b"/>
            <a:pathLst>
              <a:path w="1657350" h="304800">
                <a:moveTo>
                  <a:pt x="1657349" y="304800"/>
                </a:moveTo>
                <a:lnTo>
                  <a:pt x="0" y="304800"/>
                </a:lnTo>
                <a:lnTo>
                  <a:pt x="0" y="71196"/>
                </a:lnTo>
                <a:lnTo>
                  <a:pt x="15621" y="29704"/>
                </a:lnTo>
                <a:lnTo>
                  <a:pt x="51661" y="3885"/>
                </a:lnTo>
                <a:lnTo>
                  <a:pt x="71196" y="0"/>
                </a:lnTo>
                <a:lnTo>
                  <a:pt x="1586153" y="0"/>
                </a:lnTo>
                <a:lnTo>
                  <a:pt x="1627644" y="15621"/>
                </a:lnTo>
                <a:lnTo>
                  <a:pt x="1653463" y="51661"/>
                </a:lnTo>
                <a:lnTo>
                  <a:pt x="1657349" y="304800"/>
                </a:lnTo>
                <a:close/>
              </a:path>
            </a:pathLst>
          </a:custGeom>
          <a:solidFill>
            <a:srgbClr val="DAE9F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 descr=""/>
          <p:cNvSpPr txBox="1"/>
          <p:nvPr/>
        </p:nvSpPr>
        <p:spPr>
          <a:xfrm>
            <a:off x="1388219" y="6646988"/>
            <a:ext cx="558800" cy="206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-100">
                <a:solidFill>
                  <a:srgbClr val="1C4ED8"/>
                </a:solidFill>
                <a:latin typeface="SimSun"/>
                <a:cs typeface="SimSun"/>
              </a:rPr>
              <a:t>能投光电</a:t>
            </a:r>
            <a:endParaRPr sz="1150">
              <a:latin typeface="SimSun"/>
              <a:cs typeface="SimSun"/>
            </a:endParaRPr>
          </a:p>
        </p:txBody>
      </p:sp>
      <p:grpSp>
        <p:nvGrpSpPr>
          <p:cNvPr id="28" name="object 28" descr=""/>
          <p:cNvGrpSpPr/>
          <p:nvPr/>
        </p:nvGrpSpPr>
        <p:grpSpPr>
          <a:xfrm>
            <a:off x="2701925" y="6553199"/>
            <a:ext cx="2117725" cy="320675"/>
            <a:chOff x="2701925" y="6553199"/>
            <a:chExt cx="2117725" cy="320675"/>
          </a:xfrm>
        </p:grpSpPr>
        <p:sp>
          <p:nvSpPr>
            <p:cNvPr id="29" name="object 29" descr=""/>
            <p:cNvSpPr/>
            <p:nvPr/>
          </p:nvSpPr>
          <p:spPr>
            <a:xfrm>
              <a:off x="2701925" y="6762749"/>
              <a:ext cx="254000" cy="95250"/>
            </a:xfrm>
            <a:custGeom>
              <a:avLst/>
              <a:gdLst/>
              <a:ahLst/>
              <a:cxnLst/>
              <a:rect l="l" t="t" r="r" b="b"/>
              <a:pathLst>
                <a:path w="254000" h="95250">
                  <a:moveTo>
                    <a:pt x="0" y="95249"/>
                  </a:moveTo>
                  <a:lnTo>
                    <a:pt x="253999" y="95249"/>
                  </a:lnTo>
                </a:path>
                <a:path w="254000" h="95250">
                  <a:moveTo>
                    <a:pt x="253999" y="95249"/>
                  </a:moveTo>
                  <a:lnTo>
                    <a:pt x="158749" y="0"/>
                  </a:lnTo>
                </a:path>
              </a:pathLst>
            </a:custGeom>
            <a:ln w="31749">
              <a:solidFill>
                <a:srgbClr val="4E45E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3162299" y="6553199"/>
              <a:ext cx="1657350" cy="304800"/>
            </a:xfrm>
            <a:custGeom>
              <a:avLst/>
              <a:gdLst/>
              <a:ahLst/>
              <a:cxnLst/>
              <a:rect l="l" t="t" r="r" b="b"/>
              <a:pathLst>
                <a:path w="1657350" h="304800">
                  <a:moveTo>
                    <a:pt x="1657349" y="304800"/>
                  </a:moveTo>
                  <a:lnTo>
                    <a:pt x="0" y="304800"/>
                  </a:lnTo>
                  <a:lnTo>
                    <a:pt x="0" y="71196"/>
                  </a:lnTo>
                  <a:lnTo>
                    <a:pt x="15621" y="29704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1586152" y="0"/>
                  </a:lnTo>
                  <a:lnTo>
                    <a:pt x="1627644" y="15621"/>
                  </a:lnTo>
                  <a:lnTo>
                    <a:pt x="1653463" y="51661"/>
                  </a:lnTo>
                  <a:lnTo>
                    <a:pt x="1657349" y="71196"/>
                  </a:lnTo>
                  <a:lnTo>
                    <a:pt x="1657349" y="304800"/>
                  </a:lnTo>
                  <a:close/>
                </a:path>
              </a:pathLst>
            </a:custGeom>
            <a:solidFill>
              <a:srgbClr val="D0FAE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" name="object 31" descr=""/>
          <p:cNvSpPr txBox="1"/>
          <p:nvPr/>
        </p:nvSpPr>
        <p:spPr>
          <a:xfrm>
            <a:off x="3510805" y="6646988"/>
            <a:ext cx="958850" cy="206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-110">
                <a:solidFill>
                  <a:srgbClr val="047857"/>
                </a:solidFill>
                <a:latin typeface="SimSun"/>
                <a:cs typeface="SimSun"/>
              </a:rPr>
              <a:t>电</a:t>
            </a:r>
            <a:r>
              <a:rPr dirty="0" sz="1150" spc="-110">
                <a:solidFill>
                  <a:srgbClr val="047857"/>
                </a:solidFill>
                <a:latin typeface="Meiryo"/>
                <a:cs typeface="Meiryo"/>
              </a:rPr>
              <a:t>⼦</a:t>
            </a:r>
            <a:r>
              <a:rPr dirty="0" sz="1150" spc="-110">
                <a:solidFill>
                  <a:srgbClr val="047857"/>
                </a:solidFill>
                <a:latin typeface="SimSun"/>
                <a:cs typeface="SimSun"/>
              </a:rPr>
              <a:t>科</a:t>
            </a:r>
            <a:r>
              <a:rPr dirty="0" sz="1150" spc="-110">
                <a:solidFill>
                  <a:srgbClr val="047857"/>
                </a:solidFill>
                <a:latin typeface="Meiryo"/>
                <a:cs typeface="Meiryo"/>
              </a:rPr>
              <a:t>⼤</a:t>
            </a:r>
            <a:r>
              <a:rPr dirty="0" sz="1150" spc="-90">
                <a:solidFill>
                  <a:srgbClr val="047857"/>
                </a:solidFill>
                <a:latin typeface="SimSun"/>
                <a:cs typeface="SimSun"/>
              </a:rPr>
              <a:t>科技园</a:t>
            </a:r>
            <a:endParaRPr sz="1150">
              <a:latin typeface="SimSun"/>
              <a:cs typeface="SimSun"/>
            </a:endParaRPr>
          </a:p>
        </p:txBody>
      </p:sp>
      <p:pic>
        <p:nvPicPr>
          <p:cNvPr id="32" name="object 32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439397" y="6476999"/>
            <a:ext cx="76201" cy="76199"/>
          </a:xfrm>
          <a:prstGeom prst="rect">
            <a:avLst/>
          </a:prstGeom>
        </p:spPr>
      </p:pic>
      <p:grpSp>
        <p:nvGrpSpPr>
          <p:cNvPr id="33" name="object 33" descr=""/>
          <p:cNvGrpSpPr/>
          <p:nvPr/>
        </p:nvGrpSpPr>
        <p:grpSpPr>
          <a:xfrm>
            <a:off x="10591797" y="6343649"/>
            <a:ext cx="1409700" cy="323850"/>
            <a:chOff x="10591797" y="6343649"/>
            <a:chExt cx="1409700" cy="323850"/>
          </a:xfrm>
        </p:grpSpPr>
        <p:sp>
          <p:nvSpPr>
            <p:cNvPr id="34" name="object 34" descr=""/>
            <p:cNvSpPr/>
            <p:nvPr/>
          </p:nvSpPr>
          <p:spPr>
            <a:xfrm>
              <a:off x="10591797" y="6476999"/>
              <a:ext cx="304800" cy="76200"/>
            </a:xfrm>
            <a:custGeom>
              <a:avLst/>
              <a:gdLst/>
              <a:ahLst/>
              <a:cxnLst/>
              <a:rect l="l" t="t" r="r" b="b"/>
              <a:pathLst>
                <a:path w="304800" h="76200">
                  <a:moveTo>
                    <a:pt x="271753" y="76199"/>
                  </a:moveTo>
                  <a:lnTo>
                    <a:pt x="33047" y="76199"/>
                  </a:lnTo>
                  <a:lnTo>
                    <a:pt x="28187" y="75232"/>
                  </a:lnTo>
                  <a:lnTo>
                    <a:pt x="966" y="48012"/>
                  </a:lnTo>
                  <a:lnTo>
                    <a:pt x="0" y="43152"/>
                  </a:lnTo>
                  <a:lnTo>
                    <a:pt x="1" y="3809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271753" y="0"/>
                  </a:lnTo>
                  <a:lnTo>
                    <a:pt x="303833" y="28186"/>
                  </a:lnTo>
                  <a:lnTo>
                    <a:pt x="304799" y="33047"/>
                  </a:lnTo>
                  <a:lnTo>
                    <a:pt x="304799" y="43152"/>
                  </a:lnTo>
                  <a:lnTo>
                    <a:pt x="276612" y="75232"/>
                  </a:lnTo>
                  <a:lnTo>
                    <a:pt x="271753" y="76199"/>
                  </a:lnTo>
                  <a:close/>
                </a:path>
              </a:pathLst>
            </a:custGeom>
            <a:solidFill>
              <a:srgbClr val="60A5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10972797" y="6476999"/>
              <a:ext cx="609600" cy="76200"/>
            </a:xfrm>
            <a:custGeom>
              <a:avLst/>
              <a:gdLst/>
              <a:ahLst/>
              <a:cxnLst/>
              <a:rect l="l" t="t" r="r" b="b"/>
              <a:pathLst>
                <a:path w="609600" h="76200">
                  <a:moveTo>
                    <a:pt x="576553" y="76199"/>
                  </a:moveTo>
                  <a:lnTo>
                    <a:pt x="33047" y="76199"/>
                  </a:lnTo>
                  <a:lnTo>
                    <a:pt x="28186" y="75232"/>
                  </a:lnTo>
                  <a:lnTo>
                    <a:pt x="967" y="48012"/>
                  </a:lnTo>
                  <a:lnTo>
                    <a:pt x="0" y="43152"/>
                  </a:lnTo>
                  <a:lnTo>
                    <a:pt x="1" y="38099"/>
                  </a:lnTo>
                  <a:lnTo>
                    <a:pt x="0" y="33047"/>
                  </a:lnTo>
                  <a:lnTo>
                    <a:pt x="28186" y="966"/>
                  </a:lnTo>
                  <a:lnTo>
                    <a:pt x="33047" y="0"/>
                  </a:lnTo>
                  <a:lnTo>
                    <a:pt x="576553" y="0"/>
                  </a:lnTo>
                  <a:lnTo>
                    <a:pt x="608632" y="28186"/>
                  </a:lnTo>
                  <a:lnTo>
                    <a:pt x="609599" y="33047"/>
                  </a:lnTo>
                  <a:lnTo>
                    <a:pt x="609599" y="43152"/>
                  </a:lnTo>
                  <a:lnTo>
                    <a:pt x="581412" y="75232"/>
                  </a:lnTo>
                  <a:lnTo>
                    <a:pt x="576553" y="76199"/>
                  </a:lnTo>
                  <a:close/>
                </a:path>
              </a:pathLst>
            </a:custGeom>
            <a:solidFill>
              <a:srgbClr val="93C4F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10620374" y="6343649"/>
              <a:ext cx="1381125" cy="323850"/>
            </a:xfrm>
            <a:custGeom>
              <a:avLst/>
              <a:gdLst/>
              <a:ahLst/>
              <a:cxnLst/>
              <a:rect l="l" t="t" r="r" b="b"/>
              <a:pathLst>
                <a:path w="1381125" h="323850">
                  <a:moveTo>
                    <a:pt x="1348077" y="323849"/>
                  </a:moveTo>
                  <a:lnTo>
                    <a:pt x="33047" y="323849"/>
                  </a:lnTo>
                  <a:lnTo>
                    <a:pt x="28187" y="322883"/>
                  </a:lnTo>
                  <a:lnTo>
                    <a:pt x="966" y="295662"/>
                  </a:lnTo>
                  <a:lnTo>
                    <a:pt x="0" y="290802"/>
                  </a:lnTo>
                  <a:lnTo>
                    <a:pt x="0" y="28574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1348077" y="0"/>
                  </a:lnTo>
                  <a:lnTo>
                    <a:pt x="1380157" y="28187"/>
                  </a:lnTo>
                  <a:lnTo>
                    <a:pt x="1381124" y="33047"/>
                  </a:lnTo>
                  <a:lnTo>
                    <a:pt x="1381124" y="290802"/>
                  </a:lnTo>
                  <a:lnTo>
                    <a:pt x="1352937" y="322883"/>
                  </a:lnTo>
                  <a:lnTo>
                    <a:pt x="1348077" y="323849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7" name="object 37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734674" y="6438899"/>
              <a:ext cx="133349" cy="133349"/>
            </a:xfrm>
            <a:prstGeom prst="rect">
              <a:avLst/>
            </a:prstGeom>
          </p:spPr>
        </p:pic>
      </p:grpSp>
      <p:sp>
        <p:nvSpPr>
          <p:cNvPr id="38" name="object 38" descr=""/>
          <p:cNvSpPr txBox="1"/>
          <p:nvPr/>
        </p:nvSpPr>
        <p:spPr>
          <a:xfrm>
            <a:off x="10912176" y="6401815"/>
            <a:ext cx="988060" cy="18097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000" spc="-160">
                <a:solidFill>
                  <a:srgbClr val="FFFFFF"/>
                </a:solidFill>
                <a:latin typeface="SimSun"/>
                <a:cs typeface="SimSun"/>
              </a:rPr>
              <a:t>由 </a:t>
            </a:r>
            <a:r>
              <a:rPr dirty="0" sz="900">
                <a:solidFill>
                  <a:srgbClr val="FFFFFF"/>
                </a:solidFill>
                <a:latin typeface="DejaVu Sans"/>
                <a:cs typeface="DejaVu Sans"/>
              </a:rPr>
              <a:t>Genspark</a:t>
            </a:r>
            <a:r>
              <a:rPr dirty="0" sz="900" spc="-45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000" spc="-75">
                <a:solidFill>
                  <a:srgbClr val="FFFFFF"/>
                </a:solidFill>
                <a:latin typeface="SimSun"/>
                <a:cs typeface="SimSun"/>
              </a:rPr>
              <a:t>制作</a:t>
            </a:r>
            <a:endParaRPr sz="1000">
              <a:latin typeface="SimSun"/>
              <a:cs typeface="SimSu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609599" y="1066799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914399" y="38099"/>
                </a:moveTo>
                <a:lnTo>
                  <a:pt x="0" y="38099"/>
                </a:lnTo>
                <a:lnTo>
                  <a:pt x="0" y="0"/>
                </a:lnTo>
                <a:lnTo>
                  <a:pt x="914399" y="0"/>
                </a:lnTo>
                <a:lnTo>
                  <a:pt x="914399" y="38099"/>
                </a:lnTo>
                <a:close/>
              </a:path>
            </a:pathLst>
          </a:custGeom>
          <a:solidFill>
            <a:srgbClr val="3B81F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370">
                <a:latin typeface="BIZ UDPGothic"/>
                <a:cs typeface="BIZ UDPGothic"/>
              </a:rPr>
              <a:t>合作</a:t>
            </a:r>
            <a:r>
              <a:rPr dirty="0" spc="-370"/>
              <a:t>总</a:t>
            </a:r>
            <a:r>
              <a:rPr dirty="0" spc="-370">
                <a:latin typeface="BIZ UDPGothic"/>
                <a:cs typeface="BIZ UDPGothic"/>
              </a:rPr>
              <a:t>体思</a:t>
            </a:r>
            <a:r>
              <a:rPr dirty="0" spc="-370"/>
              <a:t>路</a:t>
            </a:r>
            <a:r>
              <a:rPr dirty="0" spc="-390">
                <a:latin typeface="BIZ UDPGothic"/>
                <a:cs typeface="BIZ UDPGothic"/>
              </a:rPr>
              <a:t>与愿景</a:t>
            </a: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599" y="1409699"/>
            <a:ext cx="6305548" cy="4724399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1435099" y="1668424"/>
            <a:ext cx="2082800" cy="34036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050" spc="-280">
                <a:solidFill>
                  <a:srgbClr val="1F2937"/>
                </a:solidFill>
                <a:latin typeface="SimSun"/>
                <a:cs typeface="SimSun"/>
              </a:rPr>
              <a:t>园区转型与价值重塑</a:t>
            </a:r>
            <a:endParaRPr sz="2050">
              <a:latin typeface="SimSun"/>
              <a:cs typeface="SimSun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825500" y="2263013"/>
            <a:ext cx="2616200" cy="2324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50" spc="-170">
                <a:solidFill>
                  <a:srgbClr val="374050"/>
                </a:solidFill>
                <a:latin typeface="Microsoft JhengHei"/>
                <a:cs typeface="Microsoft JhengHei"/>
              </a:rPr>
              <a:t>从传</a:t>
            </a: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统园区到智慧科创</a:t>
            </a:r>
            <a:r>
              <a:rPr dirty="0" sz="1350" spc="-170">
                <a:solidFill>
                  <a:srgbClr val="374050"/>
                </a:solidFill>
                <a:latin typeface="Meiryo"/>
                <a:cs typeface="Meiryo"/>
              </a:rPr>
              <a:t>⽣</a:t>
            </a:r>
            <a:r>
              <a:rPr dirty="0" sz="1350" spc="-150">
                <a:solidFill>
                  <a:srgbClr val="374050"/>
                </a:solidFill>
                <a:latin typeface="SimSun"/>
                <a:cs typeface="SimSun"/>
              </a:rPr>
              <a:t>态空间的跃迁</a:t>
            </a:r>
            <a:endParaRPr sz="1350">
              <a:latin typeface="SimSun"/>
              <a:cs typeface="SimSun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358899" y="2730401"/>
            <a:ext cx="1758950" cy="465455"/>
          </a:xfrm>
          <a:prstGeom prst="rect">
            <a:avLst/>
          </a:prstGeom>
        </p:spPr>
        <p:txBody>
          <a:bodyPr wrap="square" lIns="0" tIns="412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dirty="0" sz="1350" spc="-140">
                <a:solidFill>
                  <a:srgbClr val="1F2937"/>
                </a:solidFill>
                <a:latin typeface="SimSun"/>
                <a:cs typeface="SimSun"/>
              </a:rPr>
              <a:t>传统阶段</a:t>
            </a:r>
            <a:endParaRPr sz="135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229"/>
              </a:spcBef>
            </a:pPr>
            <a:r>
              <a:rPr dirty="0" sz="1150" spc="-110">
                <a:solidFill>
                  <a:srgbClr val="4A5462"/>
                </a:solidFill>
                <a:latin typeface="SimSun"/>
                <a:cs typeface="SimSun"/>
              </a:rPr>
              <a:t>物理空间出租、单</a:t>
            </a:r>
            <a:r>
              <a:rPr dirty="0" sz="1150" spc="-110">
                <a:solidFill>
                  <a:srgbClr val="4A5462"/>
                </a:solidFill>
                <a:latin typeface="Meiryo"/>
                <a:cs typeface="Meiryo"/>
              </a:rPr>
              <a:t>⼀</a:t>
            </a:r>
            <a:r>
              <a:rPr dirty="0" sz="1150" spc="-110">
                <a:solidFill>
                  <a:srgbClr val="4A5462"/>
                </a:solidFill>
                <a:latin typeface="SimSun"/>
                <a:cs typeface="SimSun"/>
              </a:rPr>
              <a:t>收</a:t>
            </a:r>
            <a:r>
              <a:rPr dirty="0" sz="1150" spc="-110">
                <a:solidFill>
                  <a:srgbClr val="4A5462"/>
                </a:solidFill>
                <a:latin typeface="Meiryo"/>
                <a:cs typeface="Meiryo"/>
              </a:rPr>
              <a:t>⼊</a:t>
            </a:r>
            <a:r>
              <a:rPr dirty="0" sz="1150" spc="-90">
                <a:solidFill>
                  <a:srgbClr val="4A5462"/>
                </a:solidFill>
                <a:latin typeface="SimSun"/>
                <a:cs typeface="SimSun"/>
              </a:rPr>
              <a:t>模式</a:t>
            </a:r>
            <a:endParaRPr sz="1150">
              <a:latin typeface="SimSun"/>
              <a:cs typeface="SimSun"/>
            </a:endParaRPr>
          </a:p>
        </p:txBody>
      </p:sp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143749" y="1233487"/>
            <a:ext cx="4438649" cy="4900612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1358899" y="3911501"/>
            <a:ext cx="1758950" cy="465455"/>
          </a:xfrm>
          <a:prstGeom prst="rect">
            <a:avLst/>
          </a:prstGeom>
        </p:spPr>
        <p:txBody>
          <a:bodyPr wrap="square" lIns="0" tIns="412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dirty="0" sz="1350" spc="-140">
                <a:solidFill>
                  <a:srgbClr val="1F2937"/>
                </a:solidFill>
                <a:latin typeface="SimSun"/>
                <a:cs typeface="SimSun"/>
              </a:rPr>
              <a:t>转型阶段</a:t>
            </a:r>
            <a:endParaRPr sz="135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229"/>
              </a:spcBef>
            </a:pPr>
            <a:r>
              <a:rPr dirty="0" sz="1150" spc="-110">
                <a:solidFill>
                  <a:srgbClr val="4A5462"/>
                </a:solidFill>
                <a:latin typeface="SimSun"/>
                <a:cs typeface="SimSun"/>
              </a:rPr>
              <a:t>智能化改造、功能性配套升级</a:t>
            </a:r>
            <a:endParaRPr sz="1150">
              <a:latin typeface="SimSun"/>
              <a:cs typeface="SimSun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358899" y="5092601"/>
            <a:ext cx="1892300" cy="465455"/>
          </a:xfrm>
          <a:prstGeom prst="rect">
            <a:avLst/>
          </a:prstGeom>
        </p:spPr>
        <p:txBody>
          <a:bodyPr wrap="square" lIns="0" tIns="412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dirty="0" sz="1350" spc="-170">
                <a:solidFill>
                  <a:srgbClr val="1F2937"/>
                </a:solidFill>
                <a:latin typeface="Meiryo"/>
                <a:cs typeface="Meiryo"/>
              </a:rPr>
              <a:t>⽬</a:t>
            </a:r>
            <a:r>
              <a:rPr dirty="0" sz="1350" spc="-130">
                <a:solidFill>
                  <a:srgbClr val="1F2937"/>
                </a:solidFill>
                <a:latin typeface="SimSun"/>
                <a:cs typeface="SimSun"/>
              </a:rPr>
              <a:t>标阶段</a:t>
            </a:r>
            <a:endParaRPr sz="135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229"/>
              </a:spcBef>
            </a:pPr>
            <a:r>
              <a:rPr dirty="0" sz="1150" spc="-110">
                <a:solidFill>
                  <a:srgbClr val="4A5462"/>
                </a:solidFill>
                <a:latin typeface="SimSun"/>
                <a:cs typeface="SimSun"/>
              </a:rPr>
              <a:t>赋能型科创</a:t>
            </a:r>
            <a:r>
              <a:rPr dirty="0" sz="1150" spc="-110">
                <a:solidFill>
                  <a:srgbClr val="4A5462"/>
                </a:solidFill>
                <a:latin typeface="Meiryo"/>
                <a:cs typeface="Meiryo"/>
              </a:rPr>
              <a:t>⽣</a:t>
            </a:r>
            <a:r>
              <a:rPr dirty="0" sz="1150" spc="-110">
                <a:solidFill>
                  <a:srgbClr val="4A5462"/>
                </a:solidFill>
                <a:latin typeface="SimSun"/>
                <a:cs typeface="SimSun"/>
              </a:rPr>
              <a:t>态体、多</a:t>
            </a:r>
            <a:r>
              <a:rPr dirty="0" sz="1150" spc="-110">
                <a:solidFill>
                  <a:srgbClr val="4A5462"/>
                </a:solidFill>
                <a:latin typeface="Meiryo"/>
                <a:cs typeface="Meiryo"/>
              </a:rPr>
              <a:t>元</a:t>
            </a:r>
            <a:r>
              <a:rPr dirty="0" sz="1150" spc="-90">
                <a:solidFill>
                  <a:srgbClr val="4A5462"/>
                </a:solidFill>
                <a:latin typeface="SimSun"/>
                <a:cs typeface="SimSun"/>
              </a:rPr>
              <a:t>化收益</a:t>
            </a:r>
            <a:endParaRPr sz="1150">
              <a:latin typeface="SimSun"/>
              <a:cs typeface="SimSun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7854950" y="1664461"/>
            <a:ext cx="1739900" cy="28765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700" spc="-204">
                <a:solidFill>
                  <a:srgbClr val="1F2937"/>
                </a:solidFill>
                <a:latin typeface="SimSun"/>
                <a:cs typeface="SimSun"/>
              </a:rPr>
              <a:t>战略协同与科技驱动</a:t>
            </a:r>
            <a:endParaRPr sz="1700">
              <a:latin typeface="SimSun"/>
              <a:cs typeface="SimSun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7512050" y="2148713"/>
            <a:ext cx="3530600" cy="2324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智慧园区</a:t>
            </a:r>
            <a:r>
              <a:rPr dirty="0" sz="1350" spc="-170">
                <a:solidFill>
                  <a:srgbClr val="374050"/>
                </a:solidFill>
                <a:latin typeface="Meiryo"/>
                <a:cs typeface="Meiryo"/>
              </a:rPr>
              <a:t>⽰</a:t>
            </a: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范运营</a:t>
            </a:r>
            <a:r>
              <a:rPr dirty="0" sz="1350" spc="-170">
                <a:solidFill>
                  <a:srgbClr val="374050"/>
                </a:solidFill>
                <a:latin typeface="Microsoft JhengHei"/>
                <a:cs typeface="Microsoft JhengHei"/>
              </a:rPr>
              <a:t>与</a:t>
            </a: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四</a:t>
            </a:r>
            <a:r>
              <a:rPr dirty="0" sz="1350" spc="-170">
                <a:solidFill>
                  <a:srgbClr val="374050"/>
                </a:solidFill>
                <a:latin typeface="Meiryo"/>
                <a:cs typeface="Meiryo"/>
              </a:rPr>
              <a:t>川</a:t>
            </a: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能源发展集团战</a:t>
            </a:r>
            <a:r>
              <a:rPr dirty="0" sz="1350" spc="-170">
                <a:solidFill>
                  <a:srgbClr val="374050"/>
                </a:solidFill>
                <a:latin typeface="Meiryo"/>
                <a:cs typeface="Meiryo"/>
              </a:rPr>
              <a:t>略</a:t>
            </a:r>
            <a:r>
              <a:rPr dirty="0" sz="1350" spc="-140">
                <a:solidFill>
                  <a:srgbClr val="374050"/>
                </a:solidFill>
                <a:latin typeface="SimSun"/>
                <a:cs typeface="SimSun"/>
              </a:rPr>
              <a:t>深度融合</a:t>
            </a:r>
            <a:endParaRPr sz="1350">
              <a:latin typeface="SimSun"/>
              <a:cs typeface="SimSun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7512050" y="2491613"/>
            <a:ext cx="3225800" cy="2324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50" spc="-170">
                <a:solidFill>
                  <a:srgbClr val="374050"/>
                </a:solidFill>
                <a:latin typeface="Microsoft JhengHei"/>
                <a:cs typeface="Microsoft JhengHei"/>
              </a:rPr>
              <a:t>以⼈</a:t>
            </a:r>
            <a:r>
              <a:rPr dirty="0" sz="1350" spc="-170">
                <a:solidFill>
                  <a:srgbClr val="374050"/>
                </a:solidFill>
                <a:latin typeface="Meiryo"/>
                <a:cs typeface="Meiryo"/>
              </a:rPr>
              <a:t>⼯</a:t>
            </a: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智能、边缘计算、储能技术引领</a:t>
            </a:r>
            <a:r>
              <a:rPr dirty="0" sz="1350" spc="-170">
                <a:solidFill>
                  <a:srgbClr val="374050"/>
                </a:solidFill>
                <a:latin typeface="Microsoft JhengHei"/>
                <a:cs typeface="Microsoft JhengHei"/>
              </a:rPr>
              <a:t>产业</a:t>
            </a:r>
            <a:r>
              <a:rPr dirty="0" sz="1350" spc="-110">
                <a:solidFill>
                  <a:srgbClr val="374050"/>
                </a:solidFill>
                <a:latin typeface="SimSun"/>
                <a:cs typeface="SimSun"/>
              </a:rPr>
              <a:t>升级</a:t>
            </a:r>
            <a:endParaRPr sz="1350">
              <a:latin typeface="SimSun"/>
              <a:cs typeface="SimSun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7512050" y="2834513"/>
            <a:ext cx="2768600" cy="2324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通过</a:t>
            </a:r>
            <a:r>
              <a:rPr dirty="0" sz="1350" spc="-170">
                <a:solidFill>
                  <a:srgbClr val="374050"/>
                </a:solidFill>
                <a:latin typeface="Microsoft JhengHei"/>
                <a:cs typeface="Microsoft JhengHei"/>
              </a:rPr>
              <a:t>产</a:t>
            </a:r>
            <a:r>
              <a:rPr dirty="0" sz="1350" spc="-165">
                <a:solidFill>
                  <a:srgbClr val="374050"/>
                </a:solidFill>
                <a:latin typeface="SimSun"/>
                <a:cs typeface="SimSun"/>
              </a:rPr>
              <a:t>学研协同创新，促进双向赋能发展</a:t>
            </a:r>
            <a:endParaRPr sz="1350">
              <a:latin typeface="SimSun"/>
              <a:cs typeface="SimSun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7512050" y="3177413"/>
            <a:ext cx="3073400" cy="2324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打造源</a:t>
            </a:r>
            <a:r>
              <a:rPr dirty="0" sz="1350" spc="-170">
                <a:solidFill>
                  <a:srgbClr val="374050"/>
                </a:solidFill>
                <a:latin typeface="Meiryo"/>
                <a:cs typeface="Meiryo"/>
              </a:rPr>
              <a:t>⽹</a:t>
            </a: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荷储</a:t>
            </a:r>
            <a:r>
              <a:rPr dirty="0" sz="1350" spc="-170">
                <a:solidFill>
                  <a:srgbClr val="374050"/>
                </a:solidFill>
                <a:latin typeface="Microsoft JhengHei"/>
                <a:cs typeface="Microsoft JhengHei"/>
              </a:rPr>
              <a:t>⼀</a:t>
            </a: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体化</a:t>
            </a:r>
            <a:r>
              <a:rPr dirty="0" sz="1350" spc="-170">
                <a:solidFill>
                  <a:srgbClr val="374050"/>
                </a:solidFill>
                <a:latin typeface="Meiryo"/>
                <a:cs typeface="Meiryo"/>
              </a:rPr>
              <a:t>⽰</a:t>
            </a: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范园区、服务</a:t>
            </a:r>
            <a:r>
              <a:rPr dirty="0" sz="1350" spc="-170">
                <a:solidFill>
                  <a:srgbClr val="374050"/>
                </a:solidFill>
                <a:latin typeface="Meiryo"/>
                <a:cs typeface="Meiryo"/>
              </a:rPr>
              <a:t>⼯</a:t>
            </a:r>
            <a:r>
              <a:rPr dirty="0" sz="1350" spc="-170">
                <a:solidFill>
                  <a:srgbClr val="374050"/>
                </a:solidFill>
                <a:latin typeface="Microsoft JhengHei"/>
                <a:cs typeface="Microsoft JhengHei"/>
              </a:rPr>
              <a:t>业</a:t>
            </a:r>
            <a:r>
              <a:rPr dirty="0" sz="1350" spc="-110">
                <a:solidFill>
                  <a:srgbClr val="374050"/>
                </a:solidFill>
                <a:latin typeface="SimSun"/>
                <a:cs typeface="SimSun"/>
              </a:rPr>
              <a:t>升级</a:t>
            </a:r>
            <a:endParaRPr sz="1350">
              <a:latin typeface="SimSun"/>
              <a:cs typeface="SimSun"/>
            </a:endParaRPr>
          </a:p>
        </p:txBody>
      </p:sp>
      <p:grpSp>
        <p:nvGrpSpPr>
          <p:cNvPr id="16" name="object 16" descr=""/>
          <p:cNvGrpSpPr/>
          <p:nvPr/>
        </p:nvGrpSpPr>
        <p:grpSpPr>
          <a:xfrm>
            <a:off x="609599" y="6362699"/>
            <a:ext cx="4438650" cy="495300"/>
            <a:chOff x="609599" y="6362699"/>
            <a:chExt cx="4438650" cy="495300"/>
          </a:xfrm>
        </p:grpSpPr>
        <p:sp>
          <p:nvSpPr>
            <p:cNvPr id="17" name="object 17" descr=""/>
            <p:cNvSpPr/>
            <p:nvPr/>
          </p:nvSpPr>
          <p:spPr>
            <a:xfrm>
              <a:off x="609599" y="6362699"/>
              <a:ext cx="4438650" cy="495300"/>
            </a:xfrm>
            <a:custGeom>
              <a:avLst/>
              <a:gdLst/>
              <a:ahLst/>
              <a:cxnLst/>
              <a:rect l="l" t="t" r="r" b="b"/>
              <a:pathLst>
                <a:path w="4438650" h="495300">
                  <a:moveTo>
                    <a:pt x="4438649" y="495300"/>
                  </a:moveTo>
                  <a:lnTo>
                    <a:pt x="0" y="495300"/>
                  </a:lnTo>
                  <a:lnTo>
                    <a:pt x="0" y="106794"/>
                  </a:lnTo>
                  <a:lnTo>
                    <a:pt x="11572" y="63624"/>
                  </a:lnTo>
                  <a:lnTo>
                    <a:pt x="38784" y="28169"/>
                  </a:lnTo>
                  <a:lnTo>
                    <a:pt x="77493" y="5828"/>
                  </a:lnTo>
                  <a:lnTo>
                    <a:pt x="106795" y="0"/>
                  </a:lnTo>
                  <a:lnTo>
                    <a:pt x="4331854" y="0"/>
                  </a:lnTo>
                  <a:lnTo>
                    <a:pt x="4375023" y="11571"/>
                  </a:lnTo>
                  <a:lnTo>
                    <a:pt x="4410477" y="38783"/>
                  </a:lnTo>
                  <a:lnTo>
                    <a:pt x="4432820" y="77491"/>
                  </a:lnTo>
                  <a:lnTo>
                    <a:pt x="4438649" y="106794"/>
                  </a:lnTo>
                  <a:lnTo>
                    <a:pt x="4438649" y="4953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838199" y="6591299"/>
              <a:ext cx="381000" cy="266700"/>
            </a:xfrm>
            <a:custGeom>
              <a:avLst/>
              <a:gdLst/>
              <a:ahLst/>
              <a:cxnLst/>
              <a:rect l="l" t="t" r="r" b="b"/>
              <a:pathLst>
                <a:path w="381000" h="266700">
                  <a:moveTo>
                    <a:pt x="365036" y="266700"/>
                  </a:moveTo>
                  <a:lnTo>
                    <a:pt x="15963" y="266700"/>
                  </a:lnTo>
                  <a:lnTo>
                    <a:pt x="14500" y="263400"/>
                  </a:lnTo>
                  <a:lnTo>
                    <a:pt x="2058" y="218440"/>
                  </a:lnTo>
                  <a:lnTo>
                    <a:pt x="0" y="190499"/>
                  </a:lnTo>
                  <a:lnTo>
                    <a:pt x="228" y="181140"/>
                  </a:lnTo>
                  <a:lnTo>
                    <a:pt x="8200" y="135198"/>
                  </a:lnTo>
                  <a:lnTo>
                    <a:pt x="27095" y="92571"/>
                  </a:lnTo>
                  <a:lnTo>
                    <a:pt x="55796" y="55795"/>
                  </a:lnTo>
                  <a:lnTo>
                    <a:pt x="92572" y="27094"/>
                  </a:lnTo>
                  <a:lnTo>
                    <a:pt x="135200" y="8200"/>
                  </a:lnTo>
                  <a:lnTo>
                    <a:pt x="181141" y="228"/>
                  </a:lnTo>
                  <a:lnTo>
                    <a:pt x="190499" y="0"/>
                  </a:lnTo>
                  <a:lnTo>
                    <a:pt x="199858" y="228"/>
                  </a:lnTo>
                  <a:lnTo>
                    <a:pt x="245799" y="8200"/>
                  </a:lnTo>
                  <a:lnTo>
                    <a:pt x="288427" y="27094"/>
                  </a:lnTo>
                  <a:lnTo>
                    <a:pt x="325203" y="55795"/>
                  </a:lnTo>
                  <a:lnTo>
                    <a:pt x="353904" y="92571"/>
                  </a:lnTo>
                  <a:lnTo>
                    <a:pt x="372799" y="135198"/>
                  </a:lnTo>
                  <a:lnTo>
                    <a:pt x="380771" y="181140"/>
                  </a:lnTo>
                  <a:lnTo>
                    <a:pt x="380999" y="190499"/>
                  </a:lnTo>
                  <a:lnTo>
                    <a:pt x="380771" y="199858"/>
                  </a:lnTo>
                  <a:lnTo>
                    <a:pt x="372799" y="245798"/>
                  </a:lnTo>
                  <a:lnTo>
                    <a:pt x="365036" y="266700"/>
                  </a:lnTo>
                  <a:close/>
                </a:path>
              </a:pathLst>
            </a:custGeom>
            <a:solidFill>
              <a:srgbClr val="ECE8F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9" name="object 19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33449" y="6698456"/>
              <a:ext cx="190499" cy="159544"/>
            </a:xfrm>
            <a:prstGeom prst="rect">
              <a:avLst/>
            </a:prstGeom>
          </p:spPr>
        </p:pic>
      </p:grpSp>
      <p:sp>
        <p:nvSpPr>
          <p:cNvPr id="20" name="object 20" descr=""/>
          <p:cNvSpPr txBox="1"/>
          <p:nvPr/>
        </p:nvSpPr>
        <p:spPr>
          <a:xfrm>
            <a:off x="1320799" y="6617461"/>
            <a:ext cx="1739900" cy="28765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700" spc="-210">
                <a:solidFill>
                  <a:srgbClr val="1F2937"/>
                </a:solidFill>
                <a:latin typeface="SimSun"/>
                <a:cs typeface="SimSun"/>
              </a:rPr>
              <a:t>未来</a:t>
            </a:r>
            <a:r>
              <a:rPr dirty="0" sz="1700" spc="-210">
                <a:solidFill>
                  <a:srgbClr val="1F2937"/>
                </a:solidFill>
                <a:latin typeface="Meiryo"/>
                <a:cs typeface="Meiryo"/>
              </a:rPr>
              <a:t>⽬</a:t>
            </a:r>
            <a:r>
              <a:rPr dirty="0" sz="1700" spc="-200">
                <a:solidFill>
                  <a:srgbClr val="1F2937"/>
                </a:solidFill>
                <a:latin typeface="SimSun"/>
                <a:cs typeface="SimSun"/>
              </a:rPr>
              <a:t>标与预期成果</a:t>
            </a:r>
            <a:endParaRPr sz="1700">
              <a:latin typeface="SimSun"/>
              <a:cs typeface="SimSun"/>
            </a:endParaRPr>
          </a:p>
        </p:txBody>
      </p:sp>
      <p:pic>
        <p:nvPicPr>
          <p:cNvPr id="21" name="object 21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439397" y="6476999"/>
            <a:ext cx="76201" cy="76199"/>
          </a:xfrm>
          <a:prstGeom prst="rect">
            <a:avLst/>
          </a:prstGeom>
        </p:spPr>
      </p:pic>
      <p:grpSp>
        <p:nvGrpSpPr>
          <p:cNvPr id="22" name="object 22" descr=""/>
          <p:cNvGrpSpPr/>
          <p:nvPr/>
        </p:nvGrpSpPr>
        <p:grpSpPr>
          <a:xfrm>
            <a:off x="10591797" y="6343649"/>
            <a:ext cx="1409700" cy="323850"/>
            <a:chOff x="10591797" y="6343649"/>
            <a:chExt cx="1409700" cy="323850"/>
          </a:xfrm>
        </p:grpSpPr>
        <p:sp>
          <p:nvSpPr>
            <p:cNvPr id="23" name="object 23" descr=""/>
            <p:cNvSpPr/>
            <p:nvPr/>
          </p:nvSpPr>
          <p:spPr>
            <a:xfrm>
              <a:off x="10591797" y="6476999"/>
              <a:ext cx="304800" cy="76200"/>
            </a:xfrm>
            <a:custGeom>
              <a:avLst/>
              <a:gdLst/>
              <a:ahLst/>
              <a:cxnLst/>
              <a:rect l="l" t="t" r="r" b="b"/>
              <a:pathLst>
                <a:path w="304800" h="76200">
                  <a:moveTo>
                    <a:pt x="271753" y="76199"/>
                  </a:moveTo>
                  <a:lnTo>
                    <a:pt x="33047" y="76199"/>
                  </a:lnTo>
                  <a:lnTo>
                    <a:pt x="28187" y="75232"/>
                  </a:lnTo>
                  <a:lnTo>
                    <a:pt x="966" y="48012"/>
                  </a:lnTo>
                  <a:lnTo>
                    <a:pt x="0" y="43152"/>
                  </a:lnTo>
                  <a:lnTo>
                    <a:pt x="1" y="3809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271753" y="0"/>
                  </a:lnTo>
                  <a:lnTo>
                    <a:pt x="303833" y="28186"/>
                  </a:lnTo>
                  <a:lnTo>
                    <a:pt x="304799" y="33047"/>
                  </a:lnTo>
                  <a:lnTo>
                    <a:pt x="304799" y="43152"/>
                  </a:lnTo>
                  <a:lnTo>
                    <a:pt x="276612" y="75232"/>
                  </a:lnTo>
                  <a:lnTo>
                    <a:pt x="271753" y="76199"/>
                  </a:lnTo>
                  <a:close/>
                </a:path>
              </a:pathLst>
            </a:custGeom>
            <a:solidFill>
              <a:srgbClr val="60A5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10972797" y="6476999"/>
              <a:ext cx="609600" cy="76200"/>
            </a:xfrm>
            <a:custGeom>
              <a:avLst/>
              <a:gdLst/>
              <a:ahLst/>
              <a:cxnLst/>
              <a:rect l="l" t="t" r="r" b="b"/>
              <a:pathLst>
                <a:path w="609600" h="76200">
                  <a:moveTo>
                    <a:pt x="576553" y="76199"/>
                  </a:moveTo>
                  <a:lnTo>
                    <a:pt x="33047" y="76199"/>
                  </a:lnTo>
                  <a:lnTo>
                    <a:pt x="28186" y="75232"/>
                  </a:lnTo>
                  <a:lnTo>
                    <a:pt x="967" y="48012"/>
                  </a:lnTo>
                  <a:lnTo>
                    <a:pt x="0" y="43152"/>
                  </a:lnTo>
                  <a:lnTo>
                    <a:pt x="1" y="38099"/>
                  </a:lnTo>
                  <a:lnTo>
                    <a:pt x="0" y="33047"/>
                  </a:lnTo>
                  <a:lnTo>
                    <a:pt x="28186" y="966"/>
                  </a:lnTo>
                  <a:lnTo>
                    <a:pt x="33047" y="0"/>
                  </a:lnTo>
                  <a:lnTo>
                    <a:pt x="576553" y="0"/>
                  </a:lnTo>
                  <a:lnTo>
                    <a:pt x="608632" y="28186"/>
                  </a:lnTo>
                  <a:lnTo>
                    <a:pt x="609599" y="33047"/>
                  </a:lnTo>
                  <a:lnTo>
                    <a:pt x="609599" y="43152"/>
                  </a:lnTo>
                  <a:lnTo>
                    <a:pt x="581412" y="75232"/>
                  </a:lnTo>
                  <a:lnTo>
                    <a:pt x="576553" y="76199"/>
                  </a:lnTo>
                  <a:close/>
                </a:path>
              </a:pathLst>
            </a:custGeom>
            <a:solidFill>
              <a:srgbClr val="93C4F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10620374" y="6343649"/>
              <a:ext cx="1381125" cy="323850"/>
            </a:xfrm>
            <a:custGeom>
              <a:avLst/>
              <a:gdLst/>
              <a:ahLst/>
              <a:cxnLst/>
              <a:rect l="l" t="t" r="r" b="b"/>
              <a:pathLst>
                <a:path w="1381125" h="323850">
                  <a:moveTo>
                    <a:pt x="1348077" y="323849"/>
                  </a:moveTo>
                  <a:lnTo>
                    <a:pt x="33047" y="323849"/>
                  </a:lnTo>
                  <a:lnTo>
                    <a:pt x="28187" y="322883"/>
                  </a:lnTo>
                  <a:lnTo>
                    <a:pt x="966" y="295662"/>
                  </a:lnTo>
                  <a:lnTo>
                    <a:pt x="0" y="290802"/>
                  </a:lnTo>
                  <a:lnTo>
                    <a:pt x="0" y="28574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1348077" y="0"/>
                  </a:lnTo>
                  <a:lnTo>
                    <a:pt x="1380157" y="28187"/>
                  </a:lnTo>
                  <a:lnTo>
                    <a:pt x="1381124" y="33047"/>
                  </a:lnTo>
                  <a:lnTo>
                    <a:pt x="1381124" y="290802"/>
                  </a:lnTo>
                  <a:lnTo>
                    <a:pt x="1352937" y="322883"/>
                  </a:lnTo>
                  <a:lnTo>
                    <a:pt x="1348077" y="323849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6" name="object 26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734674" y="6438899"/>
              <a:ext cx="133349" cy="133349"/>
            </a:xfrm>
            <a:prstGeom prst="rect">
              <a:avLst/>
            </a:prstGeom>
          </p:spPr>
        </p:pic>
      </p:grpSp>
      <p:sp>
        <p:nvSpPr>
          <p:cNvPr id="27" name="object 27" descr=""/>
          <p:cNvSpPr txBox="1"/>
          <p:nvPr/>
        </p:nvSpPr>
        <p:spPr>
          <a:xfrm>
            <a:off x="10912176" y="6401815"/>
            <a:ext cx="988060" cy="18097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000" spc="-160">
                <a:solidFill>
                  <a:srgbClr val="FFFFFF"/>
                </a:solidFill>
                <a:latin typeface="SimSun"/>
                <a:cs typeface="SimSun"/>
              </a:rPr>
              <a:t>由 </a:t>
            </a:r>
            <a:r>
              <a:rPr dirty="0" sz="900">
                <a:solidFill>
                  <a:srgbClr val="FFFFFF"/>
                </a:solidFill>
                <a:latin typeface="DejaVu Sans"/>
                <a:cs typeface="DejaVu Sans"/>
              </a:rPr>
              <a:t>Genspark</a:t>
            </a:r>
            <a:r>
              <a:rPr dirty="0" sz="900" spc="-45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000" spc="-75">
                <a:solidFill>
                  <a:srgbClr val="FFFFFF"/>
                </a:solidFill>
                <a:latin typeface="SimSun"/>
                <a:cs typeface="SimSun"/>
              </a:rPr>
              <a:t>制作</a:t>
            </a:r>
            <a:endParaRPr sz="1000">
              <a:latin typeface="SimSun"/>
              <a:cs typeface="SimSu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380"/>
              <a:t>联合运营与平台建设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599" y="1409699"/>
            <a:ext cx="6305548" cy="4724399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1435099" y="1668424"/>
            <a:ext cx="1625600" cy="34036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050" spc="-270">
                <a:solidFill>
                  <a:srgbClr val="1F2937"/>
                </a:solidFill>
                <a:latin typeface="SimSun"/>
                <a:cs typeface="SimSun"/>
              </a:rPr>
              <a:t>园区平台化战</a:t>
            </a:r>
            <a:r>
              <a:rPr dirty="0" sz="2050" spc="-320">
                <a:solidFill>
                  <a:srgbClr val="1F2937"/>
                </a:solidFill>
                <a:latin typeface="Meiryo"/>
                <a:cs typeface="Meiryo"/>
              </a:rPr>
              <a:t>略</a:t>
            </a:r>
            <a:endParaRPr sz="2050">
              <a:latin typeface="Meiryo"/>
              <a:cs typeface="Meiryo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320799" y="2200712"/>
            <a:ext cx="4438650" cy="485140"/>
          </a:xfrm>
          <a:prstGeom prst="rect">
            <a:avLst/>
          </a:prstGeom>
        </p:spPr>
        <p:txBody>
          <a:bodyPr wrap="square" lIns="0" tIns="374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95"/>
              </a:spcBef>
            </a:pPr>
            <a:r>
              <a:rPr dirty="0" sz="1350" spc="-170">
                <a:solidFill>
                  <a:srgbClr val="1F2937"/>
                </a:solidFill>
                <a:latin typeface="Microsoft JhengHei"/>
                <a:cs typeface="Microsoft JhengHei"/>
              </a:rPr>
              <a:t>⼈</a:t>
            </a:r>
            <a:r>
              <a:rPr dirty="0" sz="1350" spc="-170">
                <a:solidFill>
                  <a:srgbClr val="1F2937"/>
                </a:solidFill>
                <a:latin typeface="Meiryo"/>
                <a:cs typeface="Meiryo"/>
              </a:rPr>
              <a:t>⼯</a:t>
            </a:r>
            <a:r>
              <a:rPr dirty="0" sz="1350" spc="-170">
                <a:solidFill>
                  <a:srgbClr val="1F2937"/>
                </a:solidFill>
                <a:latin typeface="SimSun"/>
                <a:cs typeface="SimSun"/>
              </a:rPr>
              <a:t>智能概</a:t>
            </a:r>
            <a:r>
              <a:rPr dirty="0" sz="1350" spc="-170">
                <a:solidFill>
                  <a:srgbClr val="1F2937"/>
                </a:solidFill>
                <a:latin typeface="Microsoft JhengHei"/>
                <a:cs typeface="Microsoft JhengHei"/>
              </a:rPr>
              <a:t>念</a:t>
            </a:r>
            <a:r>
              <a:rPr dirty="0" sz="1350" spc="-170">
                <a:solidFill>
                  <a:srgbClr val="1F2937"/>
                </a:solidFill>
                <a:latin typeface="SimSun"/>
                <a:cs typeface="SimSun"/>
              </a:rPr>
              <a:t>验证中</a:t>
            </a:r>
            <a:r>
              <a:rPr dirty="0" sz="1350" spc="-50">
                <a:solidFill>
                  <a:srgbClr val="1F2937"/>
                </a:solidFill>
                <a:latin typeface="Microsoft JhengHei"/>
                <a:cs typeface="Microsoft JhengHei"/>
              </a:rPr>
              <a:t>⼼</a:t>
            </a:r>
            <a:endParaRPr sz="1350">
              <a:latin typeface="Microsoft JhengHei"/>
              <a:cs typeface="Microsoft JhengHei"/>
            </a:endParaRPr>
          </a:p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提供</a:t>
            </a:r>
            <a:r>
              <a:rPr dirty="0" sz="1200" spc="-10">
                <a:solidFill>
                  <a:srgbClr val="374050"/>
                </a:solidFill>
                <a:latin typeface="DejaVu Sans"/>
                <a:cs typeface="DejaVu Sans"/>
              </a:rPr>
              <a:t>AI</a:t>
            </a: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技术验证、应</a:t>
            </a:r>
            <a:r>
              <a:rPr dirty="0" sz="1350" spc="-170">
                <a:solidFill>
                  <a:srgbClr val="374050"/>
                </a:solidFill>
                <a:latin typeface="Meiryo"/>
                <a:cs typeface="Meiryo"/>
              </a:rPr>
              <a:t>⽤</a:t>
            </a: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场景落地和</a:t>
            </a:r>
            <a:r>
              <a:rPr dirty="0" sz="1350" spc="-170">
                <a:solidFill>
                  <a:srgbClr val="374050"/>
                </a:solidFill>
                <a:latin typeface="Microsoft JhengHei"/>
                <a:cs typeface="Microsoft JhengHei"/>
              </a:rPr>
              <a:t>⼈</a:t>
            </a: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才培训服</a:t>
            </a:r>
            <a:r>
              <a:rPr dirty="0" sz="1350" spc="-170">
                <a:solidFill>
                  <a:srgbClr val="374050"/>
                </a:solidFill>
                <a:latin typeface="Microsoft JhengHei"/>
                <a:cs typeface="Microsoft JhengHei"/>
              </a:rPr>
              <a:t>务</a:t>
            </a: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，</a:t>
            </a:r>
            <a:r>
              <a:rPr dirty="0" sz="1350" spc="-170">
                <a:solidFill>
                  <a:srgbClr val="374050"/>
                </a:solidFill>
                <a:latin typeface="Microsoft JhengHei"/>
                <a:cs typeface="Microsoft JhengHei"/>
              </a:rPr>
              <a:t>加</a:t>
            </a: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速</a:t>
            </a:r>
            <a:r>
              <a:rPr dirty="0" sz="1350" spc="-170">
                <a:solidFill>
                  <a:srgbClr val="374050"/>
                </a:solidFill>
                <a:latin typeface="Microsoft JhengHei"/>
                <a:cs typeface="Microsoft JhengHei"/>
              </a:rPr>
              <a:t>企</a:t>
            </a: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业</a:t>
            </a:r>
            <a:r>
              <a:rPr dirty="0" sz="1200" spc="-10">
                <a:solidFill>
                  <a:srgbClr val="374050"/>
                </a:solidFill>
                <a:latin typeface="DejaVu Sans"/>
                <a:cs typeface="DejaVu Sans"/>
              </a:rPr>
              <a:t>AI</a:t>
            </a:r>
            <a:r>
              <a:rPr dirty="0" sz="1350" spc="-110">
                <a:solidFill>
                  <a:srgbClr val="374050"/>
                </a:solidFill>
                <a:latin typeface="SimSun"/>
                <a:cs typeface="SimSun"/>
              </a:rPr>
              <a:t>转型</a:t>
            </a:r>
            <a:endParaRPr sz="1350">
              <a:latin typeface="SimSun"/>
              <a:cs typeface="SimSun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143749" y="1233487"/>
            <a:ext cx="4438649" cy="4900612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1320799" y="2848412"/>
            <a:ext cx="4598035" cy="485140"/>
          </a:xfrm>
          <a:prstGeom prst="rect">
            <a:avLst/>
          </a:prstGeom>
        </p:spPr>
        <p:txBody>
          <a:bodyPr wrap="square" lIns="0" tIns="374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95"/>
              </a:spcBef>
            </a:pPr>
            <a:r>
              <a:rPr dirty="0" sz="1350" spc="-170">
                <a:solidFill>
                  <a:srgbClr val="1F2937"/>
                </a:solidFill>
                <a:latin typeface="SimSun"/>
                <a:cs typeface="SimSun"/>
              </a:rPr>
              <a:t>智慧</a:t>
            </a:r>
            <a:r>
              <a:rPr dirty="0" sz="1350" spc="-170">
                <a:solidFill>
                  <a:srgbClr val="1F2937"/>
                </a:solidFill>
                <a:latin typeface="Meiryo"/>
                <a:cs typeface="Meiryo"/>
              </a:rPr>
              <a:t>⼯</a:t>
            </a:r>
            <a:r>
              <a:rPr dirty="0" sz="1350" spc="-170">
                <a:solidFill>
                  <a:srgbClr val="1F2937"/>
                </a:solidFill>
                <a:latin typeface="SimSun"/>
                <a:cs typeface="SimSun"/>
              </a:rPr>
              <a:t>地</a:t>
            </a:r>
            <a:r>
              <a:rPr dirty="0" sz="1350" spc="-170">
                <a:solidFill>
                  <a:srgbClr val="1F2937"/>
                </a:solidFill>
                <a:latin typeface="Microsoft JhengHei"/>
                <a:cs typeface="Microsoft JhengHei"/>
              </a:rPr>
              <a:t>产</a:t>
            </a:r>
            <a:r>
              <a:rPr dirty="0" sz="1350" spc="-150">
                <a:solidFill>
                  <a:srgbClr val="1F2937"/>
                </a:solidFill>
                <a:latin typeface="SimSun"/>
                <a:cs typeface="SimSun"/>
              </a:rPr>
              <a:t>品中试基地</a:t>
            </a:r>
            <a:endParaRPr sz="135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为智慧</a:t>
            </a:r>
            <a:r>
              <a:rPr dirty="0" sz="1350" spc="-170">
                <a:solidFill>
                  <a:srgbClr val="374050"/>
                </a:solidFill>
                <a:latin typeface="Meiryo"/>
                <a:cs typeface="Meiryo"/>
              </a:rPr>
              <a:t>⼯</a:t>
            </a: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地软硬</a:t>
            </a:r>
            <a:r>
              <a:rPr dirty="0" sz="1350" spc="-170">
                <a:solidFill>
                  <a:srgbClr val="374050"/>
                </a:solidFill>
                <a:latin typeface="Microsoft JhengHei"/>
                <a:cs typeface="Microsoft JhengHei"/>
              </a:rPr>
              <a:t>件企</a:t>
            </a: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业提供</a:t>
            </a:r>
            <a:r>
              <a:rPr dirty="0" sz="1350" spc="-170">
                <a:solidFill>
                  <a:srgbClr val="374050"/>
                </a:solidFill>
                <a:latin typeface="Microsoft JhengHei"/>
                <a:cs typeface="Microsoft JhengHei"/>
              </a:rPr>
              <a:t>产</a:t>
            </a: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品测试环境和技术</a:t>
            </a:r>
            <a:r>
              <a:rPr dirty="0" sz="1350" spc="-170">
                <a:solidFill>
                  <a:srgbClr val="374050"/>
                </a:solidFill>
                <a:latin typeface="Meiryo"/>
                <a:cs typeface="Meiryo"/>
              </a:rPr>
              <a:t>⽀</a:t>
            </a: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持，</a:t>
            </a:r>
            <a:r>
              <a:rPr dirty="0" sz="1350" spc="-170">
                <a:solidFill>
                  <a:srgbClr val="374050"/>
                </a:solidFill>
                <a:latin typeface="Microsoft JhengHei"/>
                <a:cs typeface="Microsoft JhengHei"/>
              </a:rPr>
              <a:t>加</a:t>
            </a: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速</a:t>
            </a:r>
            <a:r>
              <a:rPr dirty="0" sz="1350" spc="-170">
                <a:solidFill>
                  <a:srgbClr val="374050"/>
                </a:solidFill>
                <a:latin typeface="Microsoft JhengHei"/>
                <a:cs typeface="Microsoft JhengHei"/>
              </a:rPr>
              <a:t>产</a:t>
            </a:r>
            <a:r>
              <a:rPr dirty="0" sz="1350" spc="-130">
                <a:solidFill>
                  <a:srgbClr val="374050"/>
                </a:solidFill>
                <a:latin typeface="SimSun"/>
                <a:cs typeface="SimSun"/>
              </a:rPr>
              <a:t>品成熟</a:t>
            </a:r>
            <a:endParaRPr sz="1350">
              <a:latin typeface="SimSun"/>
              <a:cs typeface="SimSun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320799" y="3496112"/>
            <a:ext cx="4293235" cy="485140"/>
          </a:xfrm>
          <a:prstGeom prst="rect">
            <a:avLst/>
          </a:prstGeom>
        </p:spPr>
        <p:txBody>
          <a:bodyPr wrap="square" lIns="0" tIns="374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95"/>
              </a:spcBef>
            </a:pPr>
            <a:r>
              <a:rPr dirty="0" sz="1350" spc="-170">
                <a:solidFill>
                  <a:srgbClr val="1F2937"/>
                </a:solidFill>
                <a:latin typeface="SimSun"/>
                <a:cs typeface="SimSun"/>
              </a:rPr>
              <a:t>国</a:t>
            </a:r>
            <a:r>
              <a:rPr dirty="0" sz="1350" spc="-170">
                <a:solidFill>
                  <a:srgbClr val="1F2937"/>
                </a:solidFill>
                <a:latin typeface="Meiryo"/>
                <a:cs typeface="Meiryo"/>
              </a:rPr>
              <a:t>家</a:t>
            </a:r>
            <a:r>
              <a:rPr dirty="0" sz="1350" spc="-170">
                <a:solidFill>
                  <a:srgbClr val="1F2937"/>
                </a:solidFill>
                <a:latin typeface="SimSun"/>
                <a:cs typeface="SimSun"/>
              </a:rPr>
              <a:t>级中</a:t>
            </a:r>
            <a:r>
              <a:rPr dirty="0" sz="1350" spc="-170">
                <a:solidFill>
                  <a:srgbClr val="1F2937"/>
                </a:solidFill>
                <a:latin typeface="Meiryo"/>
                <a:cs typeface="Meiryo"/>
              </a:rPr>
              <a:t>⼩</a:t>
            </a:r>
            <a:r>
              <a:rPr dirty="0" sz="1350" spc="-170">
                <a:solidFill>
                  <a:srgbClr val="1F2937"/>
                </a:solidFill>
                <a:latin typeface="Microsoft JhengHei"/>
                <a:cs typeface="Microsoft JhengHei"/>
              </a:rPr>
              <a:t>企</a:t>
            </a:r>
            <a:r>
              <a:rPr dirty="0" sz="1350" spc="-150">
                <a:solidFill>
                  <a:srgbClr val="1F2937"/>
                </a:solidFill>
                <a:latin typeface="SimSun"/>
                <a:cs typeface="SimSun"/>
              </a:rPr>
              <a:t>业创业基地</a:t>
            </a:r>
            <a:endParaRPr sz="135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提供孵化、培育和</a:t>
            </a:r>
            <a:r>
              <a:rPr dirty="0" sz="1350" spc="-170">
                <a:solidFill>
                  <a:srgbClr val="374050"/>
                </a:solidFill>
                <a:latin typeface="Meiryo"/>
                <a:cs typeface="Meiryo"/>
              </a:rPr>
              <a:t>政</a:t>
            </a: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策辅</a:t>
            </a:r>
            <a:r>
              <a:rPr dirty="0" sz="1350" spc="-170">
                <a:solidFill>
                  <a:srgbClr val="374050"/>
                </a:solidFill>
                <a:latin typeface="Microsoft JhengHei"/>
                <a:cs typeface="Microsoft JhengHei"/>
              </a:rPr>
              <a:t>导</a:t>
            </a: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，降低</a:t>
            </a:r>
            <a:r>
              <a:rPr dirty="0" sz="1350" spc="-170">
                <a:solidFill>
                  <a:srgbClr val="374050"/>
                </a:solidFill>
                <a:latin typeface="Microsoft JhengHei"/>
                <a:cs typeface="Microsoft JhengHei"/>
              </a:rPr>
              <a:t>企</a:t>
            </a: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业运营成本，</a:t>
            </a:r>
            <a:r>
              <a:rPr dirty="0" sz="1350" spc="-170">
                <a:solidFill>
                  <a:srgbClr val="374050"/>
                </a:solidFill>
                <a:latin typeface="Microsoft JhengHei"/>
                <a:cs typeface="Microsoft JhengHei"/>
              </a:rPr>
              <a:t>助⼒</a:t>
            </a:r>
            <a:r>
              <a:rPr dirty="0" sz="1350" spc="-140">
                <a:solidFill>
                  <a:srgbClr val="374050"/>
                </a:solidFill>
                <a:latin typeface="SimSun"/>
                <a:cs typeface="SimSun"/>
              </a:rPr>
              <a:t>快速发展</a:t>
            </a:r>
            <a:endParaRPr sz="1350">
              <a:latin typeface="SimSun"/>
              <a:cs typeface="SimSun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7854950" y="1664461"/>
            <a:ext cx="1739900" cy="28765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700" spc="-210">
                <a:solidFill>
                  <a:srgbClr val="1F2937"/>
                </a:solidFill>
                <a:latin typeface="SimSun"/>
                <a:cs typeface="SimSun"/>
              </a:rPr>
              <a:t>招商策</a:t>
            </a:r>
            <a:r>
              <a:rPr dirty="0" sz="1700" spc="-210">
                <a:solidFill>
                  <a:srgbClr val="1F2937"/>
                </a:solidFill>
                <a:latin typeface="Meiryo"/>
                <a:cs typeface="Meiryo"/>
              </a:rPr>
              <a:t>略</a:t>
            </a:r>
            <a:r>
              <a:rPr dirty="0" sz="1700" spc="-195">
                <a:solidFill>
                  <a:srgbClr val="1F2937"/>
                </a:solidFill>
                <a:latin typeface="SimSun"/>
                <a:cs typeface="SimSun"/>
              </a:rPr>
              <a:t>与资源协同</a:t>
            </a:r>
            <a:endParaRPr sz="1700">
              <a:latin typeface="SimSun"/>
              <a:cs typeface="SimSun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7512050" y="2148713"/>
            <a:ext cx="3530600" cy="2324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组建联合招商运营团队，发挥国</a:t>
            </a:r>
            <a:r>
              <a:rPr dirty="0" sz="1350" spc="-170">
                <a:solidFill>
                  <a:srgbClr val="374050"/>
                </a:solidFill>
                <a:latin typeface="Microsoft JhengHei"/>
                <a:cs typeface="Microsoft JhengHei"/>
              </a:rPr>
              <a:t>企</a:t>
            </a: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背景与科技园</a:t>
            </a:r>
            <a:r>
              <a:rPr dirty="0" sz="1350" spc="-110">
                <a:solidFill>
                  <a:srgbClr val="374050"/>
                </a:solidFill>
                <a:latin typeface="Microsoft JhengHei"/>
                <a:cs typeface="Microsoft JhengHei"/>
              </a:rPr>
              <a:t>优势</a:t>
            </a:r>
            <a:endParaRPr sz="1350">
              <a:latin typeface="Microsoft JhengHei"/>
              <a:cs typeface="Microsoft JhengHei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7512050" y="2491613"/>
            <a:ext cx="3213735" cy="2324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50" spc="-170">
                <a:solidFill>
                  <a:srgbClr val="374050"/>
                </a:solidFill>
                <a:latin typeface="Meiryo"/>
                <a:cs typeface="Meiryo"/>
              </a:rPr>
              <a:t>申</a:t>
            </a: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报</a:t>
            </a:r>
            <a:r>
              <a:rPr dirty="0" sz="1200">
                <a:solidFill>
                  <a:srgbClr val="374050"/>
                </a:solidFill>
                <a:latin typeface="DejaVu Sans"/>
                <a:cs typeface="DejaVu Sans"/>
              </a:rPr>
              <a:t>"</a:t>
            </a: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园区服</a:t>
            </a:r>
            <a:r>
              <a:rPr dirty="0" sz="1350" spc="-170">
                <a:solidFill>
                  <a:srgbClr val="374050"/>
                </a:solidFill>
                <a:latin typeface="Microsoft JhengHei"/>
                <a:cs typeface="Microsoft JhengHei"/>
              </a:rPr>
              <a:t>务</a:t>
            </a: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型</a:t>
            </a:r>
            <a:r>
              <a:rPr dirty="0" sz="1350" spc="-170">
                <a:solidFill>
                  <a:srgbClr val="374050"/>
                </a:solidFill>
                <a:latin typeface="Microsoft JhengHei"/>
                <a:cs typeface="Microsoft JhengHei"/>
              </a:rPr>
              <a:t>企</a:t>
            </a: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业科协</a:t>
            </a:r>
            <a:r>
              <a:rPr dirty="0" sz="1200" spc="-90">
                <a:solidFill>
                  <a:srgbClr val="374050"/>
                </a:solidFill>
                <a:latin typeface="DejaVu Sans"/>
                <a:cs typeface="DejaVu Sans"/>
              </a:rPr>
              <a:t>"</a:t>
            </a:r>
            <a:r>
              <a:rPr dirty="0" sz="1350" spc="-145">
                <a:solidFill>
                  <a:srgbClr val="374050"/>
                </a:solidFill>
                <a:latin typeface="SimSun"/>
                <a:cs typeface="SimSun"/>
              </a:rPr>
              <a:t>，链接</a:t>
            </a:r>
            <a:r>
              <a:rPr dirty="0" sz="1350" spc="-170">
                <a:solidFill>
                  <a:srgbClr val="374050"/>
                </a:solidFill>
                <a:latin typeface="Meiryo"/>
                <a:cs typeface="Meiryo"/>
              </a:rPr>
              <a:t>⾼</a:t>
            </a:r>
            <a:r>
              <a:rPr dirty="0" sz="1350" spc="-150">
                <a:solidFill>
                  <a:srgbClr val="374050"/>
                </a:solidFill>
                <a:latin typeface="SimSun"/>
                <a:cs typeface="SimSun"/>
              </a:rPr>
              <a:t>校科技资源</a:t>
            </a:r>
            <a:endParaRPr sz="1350">
              <a:latin typeface="SimSun"/>
              <a:cs typeface="SimSun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7512050" y="2834513"/>
            <a:ext cx="3225800" cy="2324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50" spc="-170">
                <a:solidFill>
                  <a:srgbClr val="374050"/>
                </a:solidFill>
                <a:latin typeface="Microsoft JhengHei"/>
                <a:cs typeface="Microsoft JhengHei"/>
              </a:rPr>
              <a:t>优</a:t>
            </a:r>
            <a:r>
              <a:rPr dirty="0" sz="1350" spc="-170">
                <a:solidFill>
                  <a:srgbClr val="374050"/>
                </a:solidFill>
                <a:latin typeface="Meiryo"/>
                <a:cs typeface="Meiryo"/>
              </a:rPr>
              <a:t>先</a:t>
            </a: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引</a:t>
            </a:r>
            <a:r>
              <a:rPr dirty="0" sz="1350" spc="-170">
                <a:solidFill>
                  <a:srgbClr val="374050"/>
                </a:solidFill>
                <a:latin typeface="Meiryo"/>
                <a:cs typeface="Meiryo"/>
              </a:rPr>
              <a:t>⼊⼤</a:t>
            </a: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型</a:t>
            </a:r>
            <a:r>
              <a:rPr dirty="0" sz="1350" spc="-170">
                <a:solidFill>
                  <a:srgbClr val="374050"/>
                </a:solidFill>
                <a:latin typeface="Microsoft JhengHei"/>
                <a:cs typeface="Microsoft JhengHei"/>
              </a:rPr>
              <a:t>企</a:t>
            </a: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业填补清</a:t>
            </a:r>
            <a:r>
              <a:rPr dirty="0" sz="1350" spc="-170">
                <a:solidFill>
                  <a:srgbClr val="374050"/>
                </a:solidFill>
                <a:latin typeface="Meiryo"/>
                <a:cs typeface="Meiryo"/>
              </a:rPr>
              <a:t>⽔</a:t>
            </a: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房，</a:t>
            </a:r>
            <a:r>
              <a:rPr dirty="0" sz="1350" spc="-170">
                <a:solidFill>
                  <a:srgbClr val="374050"/>
                </a:solidFill>
                <a:latin typeface="Meiryo"/>
                <a:cs typeface="Meiryo"/>
              </a:rPr>
              <a:t>再</a:t>
            </a: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吸引中</a:t>
            </a:r>
            <a:r>
              <a:rPr dirty="0" sz="1350" spc="-170">
                <a:solidFill>
                  <a:srgbClr val="374050"/>
                </a:solidFill>
                <a:latin typeface="Microsoft JhengHei"/>
                <a:cs typeface="Microsoft JhengHei"/>
              </a:rPr>
              <a:t>⼩企</a:t>
            </a:r>
            <a:r>
              <a:rPr dirty="0" sz="1350" spc="-50">
                <a:solidFill>
                  <a:srgbClr val="374050"/>
                </a:solidFill>
                <a:latin typeface="SimSun"/>
                <a:cs typeface="SimSun"/>
              </a:rPr>
              <a:t>业</a:t>
            </a:r>
            <a:endParaRPr sz="1350">
              <a:latin typeface="SimSun"/>
              <a:cs typeface="SimSun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7512050" y="3177413"/>
            <a:ext cx="2768600" cy="2324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重点引进智慧</a:t>
            </a:r>
            <a:r>
              <a:rPr dirty="0" sz="1350" spc="-170">
                <a:solidFill>
                  <a:srgbClr val="374050"/>
                </a:solidFill>
                <a:latin typeface="Meiryo"/>
                <a:cs typeface="Meiryo"/>
              </a:rPr>
              <a:t>⼯</a:t>
            </a: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地</a:t>
            </a:r>
            <a:r>
              <a:rPr dirty="0" sz="1350" spc="-170">
                <a:solidFill>
                  <a:srgbClr val="374050"/>
                </a:solidFill>
                <a:latin typeface="Microsoft JhengHei"/>
                <a:cs typeface="Microsoft JhengHei"/>
              </a:rPr>
              <a:t>产</a:t>
            </a: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业链上下游</a:t>
            </a:r>
            <a:r>
              <a:rPr dirty="0" sz="1350" spc="-170">
                <a:solidFill>
                  <a:srgbClr val="374050"/>
                </a:solidFill>
                <a:latin typeface="Meiryo"/>
                <a:cs typeface="Meiryo"/>
              </a:rPr>
              <a:t>关</a:t>
            </a: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联</a:t>
            </a:r>
            <a:r>
              <a:rPr dirty="0" sz="1350" spc="-170">
                <a:solidFill>
                  <a:srgbClr val="374050"/>
                </a:solidFill>
                <a:latin typeface="Microsoft JhengHei"/>
                <a:cs typeface="Microsoft JhengHei"/>
              </a:rPr>
              <a:t>企</a:t>
            </a:r>
            <a:r>
              <a:rPr dirty="0" sz="1350" spc="-50">
                <a:solidFill>
                  <a:srgbClr val="374050"/>
                </a:solidFill>
                <a:latin typeface="SimSun"/>
                <a:cs typeface="SimSun"/>
              </a:rPr>
              <a:t>业</a:t>
            </a:r>
            <a:endParaRPr sz="1350">
              <a:latin typeface="SimSun"/>
              <a:cs typeface="SimSun"/>
            </a:endParaRPr>
          </a:p>
        </p:txBody>
      </p:sp>
      <p:grpSp>
        <p:nvGrpSpPr>
          <p:cNvPr id="14" name="object 14" descr=""/>
          <p:cNvGrpSpPr/>
          <p:nvPr/>
        </p:nvGrpSpPr>
        <p:grpSpPr>
          <a:xfrm>
            <a:off x="609599" y="6362699"/>
            <a:ext cx="4438650" cy="495300"/>
            <a:chOff x="609599" y="6362699"/>
            <a:chExt cx="4438650" cy="495300"/>
          </a:xfrm>
        </p:grpSpPr>
        <p:sp>
          <p:nvSpPr>
            <p:cNvPr id="15" name="object 15" descr=""/>
            <p:cNvSpPr/>
            <p:nvPr/>
          </p:nvSpPr>
          <p:spPr>
            <a:xfrm>
              <a:off x="609599" y="6362699"/>
              <a:ext cx="4438650" cy="495300"/>
            </a:xfrm>
            <a:custGeom>
              <a:avLst/>
              <a:gdLst/>
              <a:ahLst/>
              <a:cxnLst/>
              <a:rect l="l" t="t" r="r" b="b"/>
              <a:pathLst>
                <a:path w="4438650" h="495300">
                  <a:moveTo>
                    <a:pt x="4438649" y="495300"/>
                  </a:moveTo>
                  <a:lnTo>
                    <a:pt x="0" y="495300"/>
                  </a:lnTo>
                  <a:lnTo>
                    <a:pt x="0" y="106794"/>
                  </a:lnTo>
                  <a:lnTo>
                    <a:pt x="11572" y="63624"/>
                  </a:lnTo>
                  <a:lnTo>
                    <a:pt x="38784" y="28169"/>
                  </a:lnTo>
                  <a:lnTo>
                    <a:pt x="77493" y="5828"/>
                  </a:lnTo>
                  <a:lnTo>
                    <a:pt x="106795" y="0"/>
                  </a:lnTo>
                  <a:lnTo>
                    <a:pt x="4331854" y="0"/>
                  </a:lnTo>
                  <a:lnTo>
                    <a:pt x="4375023" y="11571"/>
                  </a:lnTo>
                  <a:lnTo>
                    <a:pt x="4410477" y="38783"/>
                  </a:lnTo>
                  <a:lnTo>
                    <a:pt x="4432820" y="77491"/>
                  </a:lnTo>
                  <a:lnTo>
                    <a:pt x="4438649" y="106794"/>
                  </a:lnTo>
                  <a:lnTo>
                    <a:pt x="4438649" y="4953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838199" y="6591299"/>
              <a:ext cx="381000" cy="266700"/>
            </a:xfrm>
            <a:custGeom>
              <a:avLst/>
              <a:gdLst/>
              <a:ahLst/>
              <a:cxnLst/>
              <a:rect l="l" t="t" r="r" b="b"/>
              <a:pathLst>
                <a:path w="381000" h="266700">
                  <a:moveTo>
                    <a:pt x="365036" y="266700"/>
                  </a:moveTo>
                  <a:lnTo>
                    <a:pt x="15963" y="266700"/>
                  </a:lnTo>
                  <a:lnTo>
                    <a:pt x="14500" y="263400"/>
                  </a:lnTo>
                  <a:lnTo>
                    <a:pt x="2058" y="218440"/>
                  </a:lnTo>
                  <a:lnTo>
                    <a:pt x="0" y="190499"/>
                  </a:lnTo>
                  <a:lnTo>
                    <a:pt x="228" y="181140"/>
                  </a:lnTo>
                  <a:lnTo>
                    <a:pt x="8200" y="135198"/>
                  </a:lnTo>
                  <a:lnTo>
                    <a:pt x="27095" y="92571"/>
                  </a:lnTo>
                  <a:lnTo>
                    <a:pt x="55796" y="55795"/>
                  </a:lnTo>
                  <a:lnTo>
                    <a:pt x="92572" y="27094"/>
                  </a:lnTo>
                  <a:lnTo>
                    <a:pt x="135200" y="8200"/>
                  </a:lnTo>
                  <a:lnTo>
                    <a:pt x="181141" y="228"/>
                  </a:lnTo>
                  <a:lnTo>
                    <a:pt x="190499" y="0"/>
                  </a:lnTo>
                  <a:lnTo>
                    <a:pt x="199858" y="228"/>
                  </a:lnTo>
                  <a:lnTo>
                    <a:pt x="245799" y="8200"/>
                  </a:lnTo>
                  <a:lnTo>
                    <a:pt x="288427" y="27094"/>
                  </a:lnTo>
                  <a:lnTo>
                    <a:pt x="325203" y="55795"/>
                  </a:lnTo>
                  <a:lnTo>
                    <a:pt x="353904" y="92571"/>
                  </a:lnTo>
                  <a:lnTo>
                    <a:pt x="372799" y="135198"/>
                  </a:lnTo>
                  <a:lnTo>
                    <a:pt x="380771" y="181140"/>
                  </a:lnTo>
                  <a:lnTo>
                    <a:pt x="380999" y="190499"/>
                  </a:lnTo>
                  <a:lnTo>
                    <a:pt x="380771" y="199858"/>
                  </a:lnTo>
                  <a:lnTo>
                    <a:pt x="372799" y="245798"/>
                  </a:lnTo>
                  <a:lnTo>
                    <a:pt x="365036" y="266700"/>
                  </a:lnTo>
                  <a:close/>
                </a:path>
              </a:pathLst>
            </a:custGeom>
            <a:solidFill>
              <a:srgbClr val="ECE8F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62024" y="6686549"/>
              <a:ext cx="142874" cy="171450"/>
            </a:xfrm>
            <a:prstGeom prst="rect">
              <a:avLst/>
            </a:prstGeom>
          </p:spPr>
        </p:pic>
      </p:grpSp>
      <p:sp>
        <p:nvSpPr>
          <p:cNvPr id="18" name="object 18" descr=""/>
          <p:cNvSpPr txBox="1"/>
          <p:nvPr/>
        </p:nvSpPr>
        <p:spPr>
          <a:xfrm>
            <a:off x="1320799" y="6617461"/>
            <a:ext cx="1168400" cy="28765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700" spc="-210">
                <a:solidFill>
                  <a:srgbClr val="1F2937"/>
                </a:solidFill>
                <a:latin typeface="SimSun"/>
                <a:cs typeface="SimSun"/>
              </a:rPr>
              <a:t>平台赋能</a:t>
            </a:r>
            <a:r>
              <a:rPr dirty="0" sz="1700" spc="-210">
                <a:solidFill>
                  <a:srgbClr val="1F2937"/>
                </a:solidFill>
                <a:latin typeface="Meiryo"/>
                <a:cs typeface="Meiryo"/>
              </a:rPr>
              <a:t>⽣</a:t>
            </a:r>
            <a:r>
              <a:rPr dirty="0" sz="1700" spc="-140">
                <a:solidFill>
                  <a:srgbClr val="1F2937"/>
                </a:solidFill>
                <a:latin typeface="Microsoft JhengHei"/>
                <a:cs typeface="Microsoft JhengHei"/>
              </a:rPr>
              <a:t>态</a:t>
            </a:r>
            <a:endParaRPr sz="1700">
              <a:latin typeface="Microsoft JhengHei"/>
              <a:cs typeface="Microsoft JhengHei"/>
            </a:endParaRPr>
          </a:p>
        </p:txBody>
      </p:sp>
      <p:pic>
        <p:nvPicPr>
          <p:cNvPr id="19" name="object 19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439397" y="6476999"/>
            <a:ext cx="76201" cy="76199"/>
          </a:xfrm>
          <a:prstGeom prst="rect">
            <a:avLst/>
          </a:prstGeom>
        </p:spPr>
      </p:pic>
      <p:grpSp>
        <p:nvGrpSpPr>
          <p:cNvPr id="20" name="object 20" descr=""/>
          <p:cNvGrpSpPr/>
          <p:nvPr/>
        </p:nvGrpSpPr>
        <p:grpSpPr>
          <a:xfrm>
            <a:off x="990599" y="4648199"/>
            <a:ext cx="5543550" cy="609600"/>
            <a:chOff x="990599" y="4648199"/>
            <a:chExt cx="5543550" cy="609600"/>
          </a:xfrm>
        </p:grpSpPr>
        <p:sp>
          <p:nvSpPr>
            <p:cNvPr id="21" name="object 21" descr=""/>
            <p:cNvSpPr/>
            <p:nvPr/>
          </p:nvSpPr>
          <p:spPr>
            <a:xfrm>
              <a:off x="990587" y="4648199"/>
              <a:ext cx="5543550" cy="609600"/>
            </a:xfrm>
            <a:custGeom>
              <a:avLst/>
              <a:gdLst/>
              <a:ahLst/>
              <a:cxnLst/>
              <a:rect l="l" t="t" r="r" b="b"/>
              <a:pathLst>
                <a:path w="5543550" h="609600">
                  <a:moveTo>
                    <a:pt x="5543550" y="304800"/>
                  </a:moveTo>
                  <a:lnTo>
                    <a:pt x="609600" y="304800"/>
                  </a:lnTo>
                  <a:lnTo>
                    <a:pt x="609244" y="289852"/>
                  </a:lnTo>
                  <a:lnTo>
                    <a:pt x="608139" y="274929"/>
                  </a:lnTo>
                  <a:lnTo>
                    <a:pt x="600468" y="230746"/>
                  </a:lnTo>
                  <a:lnTo>
                    <a:pt x="586409" y="188163"/>
                  </a:lnTo>
                  <a:lnTo>
                    <a:pt x="566242" y="148107"/>
                  </a:lnTo>
                  <a:lnTo>
                    <a:pt x="540423" y="111442"/>
                  </a:lnTo>
                  <a:lnTo>
                    <a:pt x="509498" y="78968"/>
                  </a:lnTo>
                  <a:lnTo>
                    <a:pt x="474141" y="51371"/>
                  </a:lnTo>
                  <a:lnTo>
                    <a:pt x="435127" y="29273"/>
                  </a:lnTo>
                  <a:lnTo>
                    <a:pt x="393280" y="13131"/>
                  </a:lnTo>
                  <a:lnTo>
                    <a:pt x="349529" y="3302"/>
                  </a:lnTo>
                  <a:lnTo>
                    <a:pt x="304800" y="0"/>
                  </a:lnTo>
                  <a:lnTo>
                    <a:pt x="289852" y="368"/>
                  </a:lnTo>
                  <a:lnTo>
                    <a:pt x="245338" y="5867"/>
                  </a:lnTo>
                  <a:lnTo>
                    <a:pt x="202120" y="17818"/>
                  </a:lnTo>
                  <a:lnTo>
                    <a:pt x="161124" y="35991"/>
                  </a:lnTo>
                  <a:lnTo>
                    <a:pt x="123240" y="59982"/>
                  </a:lnTo>
                  <a:lnTo>
                    <a:pt x="89281" y="89281"/>
                  </a:lnTo>
                  <a:lnTo>
                    <a:pt x="59982" y="123240"/>
                  </a:lnTo>
                  <a:lnTo>
                    <a:pt x="35991" y="161124"/>
                  </a:lnTo>
                  <a:lnTo>
                    <a:pt x="17818" y="202120"/>
                  </a:lnTo>
                  <a:lnTo>
                    <a:pt x="5867" y="245338"/>
                  </a:lnTo>
                  <a:lnTo>
                    <a:pt x="368" y="289852"/>
                  </a:lnTo>
                  <a:lnTo>
                    <a:pt x="0" y="304800"/>
                  </a:lnTo>
                  <a:lnTo>
                    <a:pt x="0" y="342900"/>
                  </a:lnTo>
                  <a:lnTo>
                    <a:pt x="2476" y="342900"/>
                  </a:lnTo>
                  <a:lnTo>
                    <a:pt x="3302" y="349529"/>
                  </a:lnTo>
                  <a:lnTo>
                    <a:pt x="13131" y="393280"/>
                  </a:lnTo>
                  <a:lnTo>
                    <a:pt x="29273" y="435127"/>
                  </a:lnTo>
                  <a:lnTo>
                    <a:pt x="51371" y="474141"/>
                  </a:lnTo>
                  <a:lnTo>
                    <a:pt x="78968" y="509498"/>
                  </a:lnTo>
                  <a:lnTo>
                    <a:pt x="111442" y="540423"/>
                  </a:lnTo>
                  <a:lnTo>
                    <a:pt x="148107" y="566242"/>
                  </a:lnTo>
                  <a:lnTo>
                    <a:pt x="188163" y="586409"/>
                  </a:lnTo>
                  <a:lnTo>
                    <a:pt x="230746" y="600468"/>
                  </a:lnTo>
                  <a:lnTo>
                    <a:pt x="274929" y="608139"/>
                  </a:lnTo>
                  <a:lnTo>
                    <a:pt x="304800" y="609600"/>
                  </a:lnTo>
                  <a:lnTo>
                    <a:pt x="319760" y="609244"/>
                  </a:lnTo>
                  <a:lnTo>
                    <a:pt x="364274" y="603745"/>
                  </a:lnTo>
                  <a:lnTo>
                    <a:pt x="407492" y="591794"/>
                  </a:lnTo>
                  <a:lnTo>
                    <a:pt x="448487" y="573620"/>
                  </a:lnTo>
                  <a:lnTo>
                    <a:pt x="486371" y="549617"/>
                  </a:lnTo>
                  <a:lnTo>
                    <a:pt x="520331" y="520331"/>
                  </a:lnTo>
                  <a:lnTo>
                    <a:pt x="549617" y="486371"/>
                  </a:lnTo>
                  <a:lnTo>
                    <a:pt x="573620" y="448487"/>
                  </a:lnTo>
                  <a:lnTo>
                    <a:pt x="591794" y="407492"/>
                  </a:lnTo>
                  <a:lnTo>
                    <a:pt x="603745" y="364274"/>
                  </a:lnTo>
                  <a:lnTo>
                    <a:pt x="607123" y="342900"/>
                  </a:lnTo>
                  <a:lnTo>
                    <a:pt x="5543550" y="342900"/>
                  </a:lnTo>
                  <a:lnTo>
                    <a:pt x="5543550" y="304800"/>
                  </a:lnTo>
                  <a:close/>
                </a:path>
              </a:pathLst>
            </a:custGeom>
            <a:solidFill>
              <a:srgbClr val="BEDAF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2" name="object 22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00149" y="4857749"/>
              <a:ext cx="191653" cy="191690"/>
            </a:xfrm>
            <a:prstGeom prst="rect">
              <a:avLst/>
            </a:prstGeom>
          </p:spPr>
        </p:pic>
        <p:sp>
          <p:nvSpPr>
            <p:cNvPr id="23" name="object 23" descr=""/>
            <p:cNvSpPr/>
            <p:nvPr/>
          </p:nvSpPr>
          <p:spPr>
            <a:xfrm>
              <a:off x="2638424" y="4648199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304799" y="609599"/>
                  </a:moveTo>
                  <a:lnTo>
                    <a:pt x="260076" y="606301"/>
                  </a:lnTo>
                  <a:lnTo>
                    <a:pt x="216321" y="596475"/>
                  </a:lnTo>
                  <a:lnTo>
                    <a:pt x="174480" y="580335"/>
                  </a:lnTo>
                  <a:lnTo>
                    <a:pt x="135461" y="558231"/>
                  </a:lnTo>
                  <a:lnTo>
                    <a:pt x="100108" y="530641"/>
                  </a:lnTo>
                  <a:lnTo>
                    <a:pt x="69186" y="498163"/>
                  </a:lnTo>
                  <a:lnTo>
                    <a:pt x="43364" y="461498"/>
                  </a:lnTo>
                  <a:lnTo>
                    <a:pt x="23201" y="421441"/>
                  </a:lnTo>
                  <a:lnTo>
                    <a:pt x="9134" y="378860"/>
                  </a:lnTo>
                  <a:lnTo>
                    <a:pt x="1467" y="334676"/>
                  </a:lnTo>
                  <a:lnTo>
                    <a:pt x="0" y="304799"/>
                  </a:lnTo>
                  <a:lnTo>
                    <a:pt x="366" y="289844"/>
                  </a:lnTo>
                  <a:lnTo>
                    <a:pt x="5856" y="245336"/>
                  </a:lnTo>
                  <a:lnTo>
                    <a:pt x="17817" y="202115"/>
                  </a:lnTo>
                  <a:lnTo>
                    <a:pt x="35990" y="161118"/>
                  </a:lnTo>
                  <a:lnTo>
                    <a:pt x="59982" y="123230"/>
                  </a:lnTo>
                  <a:lnTo>
                    <a:pt x="89273" y="89273"/>
                  </a:lnTo>
                  <a:lnTo>
                    <a:pt x="123230" y="59982"/>
                  </a:lnTo>
                  <a:lnTo>
                    <a:pt x="161117" y="35990"/>
                  </a:lnTo>
                  <a:lnTo>
                    <a:pt x="202115" y="17817"/>
                  </a:lnTo>
                  <a:lnTo>
                    <a:pt x="245336" y="5856"/>
                  </a:lnTo>
                  <a:lnTo>
                    <a:pt x="289844" y="367"/>
                  </a:lnTo>
                  <a:lnTo>
                    <a:pt x="304799" y="0"/>
                  </a:lnTo>
                  <a:lnTo>
                    <a:pt x="319755" y="367"/>
                  </a:lnTo>
                  <a:lnTo>
                    <a:pt x="364263" y="5856"/>
                  </a:lnTo>
                  <a:lnTo>
                    <a:pt x="407483" y="17817"/>
                  </a:lnTo>
                  <a:lnTo>
                    <a:pt x="448481" y="35990"/>
                  </a:lnTo>
                  <a:lnTo>
                    <a:pt x="486368" y="59982"/>
                  </a:lnTo>
                  <a:lnTo>
                    <a:pt x="520326" y="89273"/>
                  </a:lnTo>
                  <a:lnTo>
                    <a:pt x="549617" y="123230"/>
                  </a:lnTo>
                  <a:lnTo>
                    <a:pt x="573609" y="161118"/>
                  </a:lnTo>
                  <a:lnTo>
                    <a:pt x="591782" y="202115"/>
                  </a:lnTo>
                  <a:lnTo>
                    <a:pt x="603743" y="245336"/>
                  </a:lnTo>
                  <a:lnTo>
                    <a:pt x="609233" y="289844"/>
                  </a:lnTo>
                  <a:lnTo>
                    <a:pt x="609599" y="304799"/>
                  </a:lnTo>
                  <a:lnTo>
                    <a:pt x="609233" y="319755"/>
                  </a:lnTo>
                  <a:lnTo>
                    <a:pt x="603743" y="364262"/>
                  </a:lnTo>
                  <a:lnTo>
                    <a:pt x="591782" y="407484"/>
                  </a:lnTo>
                  <a:lnTo>
                    <a:pt x="573609" y="448481"/>
                  </a:lnTo>
                  <a:lnTo>
                    <a:pt x="549617" y="486369"/>
                  </a:lnTo>
                  <a:lnTo>
                    <a:pt x="520326" y="520325"/>
                  </a:lnTo>
                  <a:lnTo>
                    <a:pt x="486368" y="549618"/>
                  </a:lnTo>
                  <a:lnTo>
                    <a:pt x="448481" y="573609"/>
                  </a:lnTo>
                  <a:lnTo>
                    <a:pt x="407483" y="591782"/>
                  </a:lnTo>
                  <a:lnTo>
                    <a:pt x="364263" y="603743"/>
                  </a:lnTo>
                  <a:lnTo>
                    <a:pt x="319755" y="609232"/>
                  </a:lnTo>
                  <a:lnTo>
                    <a:pt x="304799" y="609599"/>
                  </a:lnTo>
                  <a:close/>
                </a:path>
              </a:pathLst>
            </a:custGeom>
            <a:solidFill>
              <a:srgbClr val="93C4F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4" name="object 24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28924" y="4869656"/>
              <a:ext cx="214312" cy="166687"/>
            </a:xfrm>
            <a:prstGeom prst="rect">
              <a:avLst/>
            </a:prstGeom>
          </p:spPr>
        </p:pic>
        <p:sp>
          <p:nvSpPr>
            <p:cNvPr id="25" name="object 25" descr=""/>
            <p:cNvSpPr/>
            <p:nvPr/>
          </p:nvSpPr>
          <p:spPr>
            <a:xfrm>
              <a:off x="4276724" y="4648199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304799" y="609599"/>
                  </a:moveTo>
                  <a:lnTo>
                    <a:pt x="260076" y="606301"/>
                  </a:lnTo>
                  <a:lnTo>
                    <a:pt x="216321" y="596475"/>
                  </a:lnTo>
                  <a:lnTo>
                    <a:pt x="174480" y="580335"/>
                  </a:lnTo>
                  <a:lnTo>
                    <a:pt x="135461" y="558231"/>
                  </a:lnTo>
                  <a:lnTo>
                    <a:pt x="100108" y="530641"/>
                  </a:lnTo>
                  <a:lnTo>
                    <a:pt x="69186" y="498163"/>
                  </a:lnTo>
                  <a:lnTo>
                    <a:pt x="43363" y="461498"/>
                  </a:lnTo>
                  <a:lnTo>
                    <a:pt x="23200" y="421441"/>
                  </a:lnTo>
                  <a:lnTo>
                    <a:pt x="9134" y="378860"/>
                  </a:lnTo>
                  <a:lnTo>
                    <a:pt x="1467" y="334676"/>
                  </a:lnTo>
                  <a:lnTo>
                    <a:pt x="0" y="304799"/>
                  </a:lnTo>
                  <a:lnTo>
                    <a:pt x="366" y="289844"/>
                  </a:lnTo>
                  <a:lnTo>
                    <a:pt x="5856" y="245336"/>
                  </a:lnTo>
                  <a:lnTo>
                    <a:pt x="17816" y="202115"/>
                  </a:lnTo>
                  <a:lnTo>
                    <a:pt x="35989" y="161118"/>
                  </a:lnTo>
                  <a:lnTo>
                    <a:pt x="59981" y="123230"/>
                  </a:lnTo>
                  <a:lnTo>
                    <a:pt x="89273" y="89273"/>
                  </a:lnTo>
                  <a:lnTo>
                    <a:pt x="123230" y="59982"/>
                  </a:lnTo>
                  <a:lnTo>
                    <a:pt x="161118" y="35990"/>
                  </a:lnTo>
                  <a:lnTo>
                    <a:pt x="202115" y="17817"/>
                  </a:lnTo>
                  <a:lnTo>
                    <a:pt x="245336" y="5856"/>
                  </a:lnTo>
                  <a:lnTo>
                    <a:pt x="289844" y="367"/>
                  </a:lnTo>
                  <a:lnTo>
                    <a:pt x="304799" y="0"/>
                  </a:lnTo>
                  <a:lnTo>
                    <a:pt x="319755" y="367"/>
                  </a:lnTo>
                  <a:lnTo>
                    <a:pt x="364262" y="5856"/>
                  </a:lnTo>
                  <a:lnTo>
                    <a:pt x="407483" y="17817"/>
                  </a:lnTo>
                  <a:lnTo>
                    <a:pt x="448481" y="35990"/>
                  </a:lnTo>
                  <a:lnTo>
                    <a:pt x="486368" y="59982"/>
                  </a:lnTo>
                  <a:lnTo>
                    <a:pt x="520325" y="89273"/>
                  </a:lnTo>
                  <a:lnTo>
                    <a:pt x="549617" y="123230"/>
                  </a:lnTo>
                  <a:lnTo>
                    <a:pt x="573609" y="161118"/>
                  </a:lnTo>
                  <a:lnTo>
                    <a:pt x="591782" y="202115"/>
                  </a:lnTo>
                  <a:lnTo>
                    <a:pt x="603742" y="245336"/>
                  </a:lnTo>
                  <a:lnTo>
                    <a:pt x="609233" y="289844"/>
                  </a:lnTo>
                  <a:lnTo>
                    <a:pt x="609599" y="304799"/>
                  </a:lnTo>
                  <a:lnTo>
                    <a:pt x="609233" y="319755"/>
                  </a:lnTo>
                  <a:lnTo>
                    <a:pt x="603742" y="364262"/>
                  </a:lnTo>
                  <a:lnTo>
                    <a:pt x="591782" y="407484"/>
                  </a:lnTo>
                  <a:lnTo>
                    <a:pt x="573609" y="448481"/>
                  </a:lnTo>
                  <a:lnTo>
                    <a:pt x="549617" y="486369"/>
                  </a:lnTo>
                  <a:lnTo>
                    <a:pt x="520325" y="520325"/>
                  </a:lnTo>
                  <a:lnTo>
                    <a:pt x="486368" y="549618"/>
                  </a:lnTo>
                  <a:lnTo>
                    <a:pt x="448481" y="573609"/>
                  </a:lnTo>
                  <a:lnTo>
                    <a:pt x="407483" y="591782"/>
                  </a:lnTo>
                  <a:lnTo>
                    <a:pt x="364262" y="603743"/>
                  </a:lnTo>
                  <a:lnTo>
                    <a:pt x="319755" y="609232"/>
                  </a:lnTo>
                  <a:lnTo>
                    <a:pt x="304799" y="609599"/>
                  </a:lnTo>
                  <a:close/>
                </a:path>
              </a:pathLst>
            </a:custGeom>
            <a:solidFill>
              <a:srgbClr val="60A5F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6" name="object 26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467820" y="4860726"/>
              <a:ext cx="234408" cy="186853"/>
            </a:xfrm>
            <a:prstGeom prst="rect">
              <a:avLst/>
            </a:prstGeom>
          </p:spPr>
        </p:pic>
        <p:sp>
          <p:nvSpPr>
            <p:cNvPr id="27" name="object 27" descr=""/>
            <p:cNvSpPr/>
            <p:nvPr/>
          </p:nvSpPr>
          <p:spPr>
            <a:xfrm>
              <a:off x="5924549" y="4648199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304799" y="609599"/>
                  </a:moveTo>
                  <a:lnTo>
                    <a:pt x="260075" y="606301"/>
                  </a:lnTo>
                  <a:lnTo>
                    <a:pt x="216320" y="596475"/>
                  </a:lnTo>
                  <a:lnTo>
                    <a:pt x="174480" y="580335"/>
                  </a:lnTo>
                  <a:lnTo>
                    <a:pt x="135461" y="558231"/>
                  </a:lnTo>
                  <a:lnTo>
                    <a:pt x="100108" y="530641"/>
                  </a:lnTo>
                  <a:lnTo>
                    <a:pt x="69185" y="498163"/>
                  </a:lnTo>
                  <a:lnTo>
                    <a:pt x="43364" y="461498"/>
                  </a:lnTo>
                  <a:lnTo>
                    <a:pt x="23200" y="421441"/>
                  </a:lnTo>
                  <a:lnTo>
                    <a:pt x="9134" y="378860"/>
                  </a:lnTo>
                  <a:lnTo>
                    <a:pt x="1467" y="334676"/>
                  </a:lnTo>
                  <a:lnTo>
                    <a:pt x="0" y="304799"/>
                  </a:lnTo>
                  <a:lnTo>
                    <a:pt x="367" y="289844"/>
                  </a:lnTo>
                  <a:lnTo>
                    <a:pt x="5856" y="245336"/>
                  </a:lnTo>
                  <a:lnTo>
                    <a:pt x="17816" y="202115"/>
                  </a:lnTo>
                  <a:lnTo>
                    <a:pt x="35990" y="161118"/>
                  </a:lnTo>
                  <a:lnTo>
                    <a:pt x="59981" y="123230"/>
                  </a:lnTo>
                  <a:lnTo>
                    <a:pt x="89273" y="89273"/>
                  </a:lnTo>
                  <a:lnTo>
                    <a:pt x="123230" y="59982"/>
                  </a:lnTo>
                  <a:lnTo>
                    <a:pt x="161117" y="35990"/>
                  </a:lnTo>
                  <a:lnTo>
                    <a:pt x="202115" y="17817"/>
                  </a:lnTo>
                  <a:lnTo>
                    <a:pt x="245335" y="5856"/>
                  </a:lnTo>
                  <a:lnTo>
                    <a:pt x="289844" y="367"/>
                  </a:lnTo>
                  <a:lnTo>
                    <a:pt x="304799" y="0"/>
                  </a:lnTo>
                  <a:lnTo>
                    <a:pt x="319755" y="367"/>
                  </a:lnTo>
                  <a:lnTo>
                    <a:pt x="364263" y="5856"/>
                  </a:lnTo>
                  <a:lnTo>
                    <a:pt x="407483" y="17817"/>
                  </a:lnTo>
                  <a:lnTo>
                    <a:pt x="448480" y="35990"/>
                  </a:lnTo>
                  <a:lnTo>
                    <a:pt x="486368" y="59982"/>
                  </a:lnTo>
                  <a:lnTo>
                    <a:pt x="520325" y="89273"/>
                  </a:lnTo>
                  <a:lnTo>
                    <a:pt x="549617" y="123230"/>
                  </a:lnTo>
                  <a:lnTo>
                    <a:pt x="573608" y="161118"/>
                  </a:lnTo>
                  <a:lnTo>
                    <a:pt x="591781" y="202115"/>
                  </a:lnTo>
                  <a:lnTo>
                    <a:pt x="603742" y="245336"/>
                  </a:lnTo>
                  <a:lnTo>
                    <a:pt x="609232" y="289844"/>
                  </a:lnTo>
                  <a:lnTo>
                    <a:pt x="609599" y="304799"/>
                  </a:lnTo>
                  <a:lnTo>
                    <a:pt x="609232" y="319755"/>
                  </a:lnTo>
                  <a:lnTo>
                    <a:pt x="603742" y="364262"/>
                  </a:lnTo>
                  <a:lnTo>
                    <a:pt x="591781" y="407484"/>
                  </a:lnTo>
                  <a:lnTo>
                    <a:pt x="573608" y="448481"/>
                  </a:lnTo>
                  <a:lnTo>
                    <a:pt x="549617" y="486369"/>
                  </a:lnTo>
                  <a:lnTo>
                    <a:pt x="520325" y="520325"/>
                  </a:lnTo>
                  <a:lnTo>
                    <a:pt x="486368" y="549618"/>
                  </a:lnTo>
                  <a:lnTo>
                    <a:pt x="448480" y="573609"/>
                  </a:lnTo>
                  <a:lnTo>
                    <a:pt x="407483" y="591782"/>
                  </a:lnTo>
                  <a:lnTo>
                    <a:pt x="364263" y="603743"/>
                  </a:lnTo>
                  <a:lnTo>
                    <a:pt x="319755" y="609232"/>
                  </a:lnTo>
                  <a:lnTo>
                    <a:pt x="304799" y="609599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8" name="object 28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134099" y="4869656"/>
              <a:ext cx="190499" cy="166687"/>
            </a:xfrm>
            <a:prstGeom prst="rect">
              <a:avLst/>
            </a:prstGeom>
          </p:spPr>
        </p:pic>
      </p:grpSp>
      <p:grpSp>
        <p:nvGrpSpPr>
          <p:cNvPr id="29" name="object 29" descr=""/>
          <p:cNvGrpSpPr/>
          <p:nvPr/>
        </p:nvGrpSpPr>
        <p:grpSpPr>
          <a:xfrm>
            <a:off x="10591797" y="6343649"/>
            <a:ext cx="1409700" cy="323850"/>
            <a:chOff x="10591797" y="6343649"/>
            <a:chExt cx="1409700" cy="323850"/>
          </a:xfrm>
        </p:grpSpPr>
        <p:sp>
          <p:nvSpPr>
            <p:cNvPr id="30" name="object 30" descr=""/>
            <p:cNvSpPr/>
            <p:nvPr/>
          </p:nvSpPr>
          <p:spPr>
            <a:xfrm>
              <a:off x="10591797" y="6476999"/>
              <a:ext cx="304800" cy="76200"/>
            </a:xfrm>
            <a:custGeom>
              <a:avLst/>
              <a:gdLst/>
              <a:ahLst/>
              <a:cxnLst/>
              <a:rect l="l" t="t" r="r" b="b"/>
              <a:pathLst>
                <a:path w="304800" h="76200">
                  <a:moveTo>
                    <a:pt x="271753" y="76199"/>
                  </a:moveTo>
                  <a:lnTo>
                    <a:pt x="33047" y="76199"/>
                  </a:lnTo>
                  <a:lnTo>
                    <a:pt x="28187" y="75232"/>
                  </a:lnTo>
                  <a:lnTo>
                    <a:pt x="966" y="48012"/>
                  </a:lnTo>
                  <a:lnTo>
                    <a:pt x="0" y="43152"/>
                  </a:lnTo>
                  <a:lnTo>
                    <a:pt x="1" y="3809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271753" y="0"/>
                  </a:lnTo>
                  <a:lnTo>
                    <a:pt x="303833" y="28186"/>
                  </a:lnTo>
                  <a:lnTo>
                    <a:pt x="304799" y="33047"/>
                  </a:lnTo>
                  <a:lnTo>
                    <a:pt x="304799" y="43152"/>
                  </a:lnTo>
                  <a:lnTo>
                    <a:pt x="276612" y="75232"/>
                  </a:lnTo>
                  <a:lnTo>
                    <a:pt x="271753" y="76199"/>
                  </a:lnTo>
                  <a:close/>
                </a:path>
              </a:pathLst>
            </a:custGeom>
            <a:solidFill>
              <a:srgbClr val="60A5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10972797" y="6476999"/>
              <a:ext cx="609600" cy="76200"/>
            </a:xfrm>
            <a:custGeom>
              <a:avLst/>
              <a:gdLst/>
              <a:ahLst/>
              <a:cxnLst/>
              <a:rect l="l" t="t" r="r" b="b"/>
              <a:pathLst>
                <a:path w="609600" h="76200">
                  <a:moveTo>
                    <a:pt x="576553" y="76199"/>
                  </a:moveTo>
                  <a:lnTo>
                    <a:pt x="33047" y="76199"/>
                  </a:lnTo>
                  <a:lnTo>
                    <a:pt x="28186" y="75232"/>
                  </a:lnTo>
                  <a:lnTo>
                    <a:pt x="967" y="48012"/>
                  </a:lnTo>
                  <a:lnTo>
                    <a:pt x="0" y="43152"/>
                  </a:lnTo>
                  <a:lnTo>
                    <a:pt x="1" y="38099"/>
                  </a:lnTo>
                  <a:lnTo>
                    <a:pt x="0" y="33047"/>
                  </a:lnTo>
                  <a:lnTo>
                    <a:pt x="28186" y="966"/>
                  </a:lnTo>
                  <a:lnTo>
                    <a:pt x="33047" y="0"/>
                  </a:lnTo>
                  <a:lnTo>
                    <a:pt x="576553" y="0"/>
                  </a:lnTo>
                  <a:lnTo>
                    <a:pt x="608632" y="28186"/>
                  </a:lnTo>
                  <a:lnTo>
                    <a:pt x="609599" y="33047"/>
                  </a:lnTo>
                  <a:lnTo>
                    <a:pt x="609599" y="43152"/>
                  </a:lnTo>
                  <a:lnTo>
                    <a:pt x="581412" y="75232"/>
                  </a:lnTo>
                  <a:lnTo>
                    <a:pt x="576553" y="76199"/>
                  </a:lnTo>
                  <a:close/>
                </a:path>
              </a:pathLst>
            </a:custGeom>
            <a:solidFill>
              <a:srgbClr val="93C4F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10620374" y="6343649"/>
              <a:ext cx="1381125" cy="323850"/>
            </a:xfrm>
            <a:custGeom>
              <a:avLst/>
              <a:gdLst/>
              <a:ahLst/>
              <a:cxnLst/>
              <a:rect l="l" t="t" r="r" b="b"/>
              <a:pathLst>
                <a:path w="1381125" h="323850">
                  <a:moveTo>
                    <a:pt x="1348077" y="323849"/>
                  </a:moveTo>
                  <a:lnTo>
                    <a:pt x="33047" y="323849"/>
                  </a:lnTo>
                  <a:lnTo>
                    <a:pt x="28187" y="322883"/>
                  </a:lnTo>
                  <a:lnTo>
                    <a:pt x="966" y="295662"/>
                  </a:lnTo>
                  <a:lnTo>
                    <a:pt x="0" y="290802"/>
                  </a:lnTo>
                  <a:lnTo>
                    <a:pt x="0" y="28574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1348077" y="0"/>
                  </a:lnTo>
                  <a:lnTo>
                    <a:pt x="1380157" y="28187"/>
                  </a:lnTo>
                  <a:lnTo>
                    <a:pt x="1381124" y="33047"/>
                  </a:lnTo>
                  <a:lnTo>
                    <a:pt x="1381124" y="290802"/>
                  </a:lnTo>
                  <a:lnTo>
                    <a:pt x="1352937" y="322883"/>
                  </a:lnTo>
                  <a:lnTo>
                    <a:pt x="1348077" y="323849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3" name="object 33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0734674" y="6438899"/>
              <a:ext cx="133349" cy="133349"/>
            </a:xfrm>
            <a:prstGeom prst="rect">
              <a:avLst/>
            </a:prstGeom>
          </p:spPr>
        </p:pic>
      </p:grpSp>
      <p:sp>
        <p:nvSpPr>
          <p:cNvPr id="34" name="object 34" descr=""/>
          <p:cNvSpPr txBox="1"/>
          <p:nvPr/>
        </p:nvSpPr>
        <p:spPr>
          <a:xfrm>
            <a:off x="1053951" y="5304611"/>
            <a:ext cx="482600" cy="1828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000" spc="-90">
                <a:solidFill>
                  <a:srgbClr val="4A5462"/>
                </a:solidFill>
                <a:latin typeface="SimSun"/>
                <a:cs typeface="SimSun"/>
              </a:rPr>
              <a:t>需求分析</a:t>
            </a:r>
            <a:endParaRPr sz="1000">
              <a:latin typeface="SimSun"/>
              <a:cs typeface="SimSun"/>
            </a:endParaRPr>
          </a:p>
        </p:txBody>
      </p:sp>
      <p:sp>
        <p:nvSpPr>
          <p:cNvPr id="35" name="object 35" descr=""/>
          <p:cNvSpPr txBox="1"/>
          <p:nvPr/>
        </p:nvSpPr>
        <p:spPr>
          <a:xfrm>
            <a:off x="2698501" y="5304611"/>
            <a:ext cx="482600" cy="1828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000" spc="-90">
                <a:solidFill>
                  <a:srgbClr val="4A5462"/>
                </a:solidFill>
                <a:latin typeface="SimSun"/>
                <a:cs typeface="SimSun"/>
              </a:rPr>
              <a:t>平台对接</a:t>
            </a:r>
            <a:endParaRPr sz="1000">
              <a:latin typeface="SimSun"/>
              <a:cs typeface="SimSun"/>
            </a:endParaRPr>
          </a:p>
        </p:txBody>
      </p:sp>
      <p:sp>
        <p:nvSpPr>
          <p:cNvPr id="36" name="object 36" descr=""/>
          <p:cNvSpPr txBox="1"/>
          <p:nvPr/>
        </p:nvSpPr>
        <p:spPr>
          <a:xfrm>
            <a:off x="4343052" y="5304611"/>
            <a:ext cx="482600" cy="1828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000" spc="-90">
                <a:solidFill>
                  <a:srgbClr val="4A5462"/>
                </a:solidFill>
                <a:latin typeface="SimSun"/>
                <a:cs typeface="SimSun"/>
              </a:rPr>
              <a:t>服务输出</a:t>
            </a:r>
            <a:endParaRPr sz="1000">
              <a:latin typeface="SimSun"/>
              <a:cs typeface="SimSun"/>
            </a:endParaRPr>
          </a:p>
        </p:txBody>
      </p:sp>
      <p:sp>
        <p:nvSpPr>
          <p:cNvPr id="37" name="object 37" descr=""/>
          <p:cNvSpPr txBox="1"/>
          <p:nvPr/>
        </p:nvSpPr>
        <p:spPr>
          <a:xfrm>
            <a:off x="5987603" y="5304611"/>
            <a:ext cx="482600" cy="1828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000" spc="-90">
                <a:solidFill>
                  <a:srgbClr val="4A5462"/>
                </a:solidFill>
                <a:latin typeface="SimSun"/>
                <a:cs typeface="SimSun"/>
              </a:rPr>
              <a:t>价值创造</a:t>
            </a:r>
            <a:endParaRPr sz="1000">
              <a:latin typeface="SimSun"/>
              <a:cs typeface="SimSun"/>
            </a:endParaRPr>
          </a:p>
        </p:txBody>
      </p:sp>
      <p:sp>
        <p:nvSpPr>
          <p:cNvPr id="38" name="object 38" descr=""/>
          <p:cNvSpPr txBox="1"/>
          <p:nvPr/>
        </p:nvSpPr>
        <p:spPr>
          <a:xfrm>
            <a:off x="10912176" y="6401815"/>
            <a:ext cx="988060" cy="18097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000" spc="-160">
                <a:solidFill>
                  <a:srgbClr val="FFFFFF"/>
                </a:solidFill>
                <a:latin typeface="SimSun"/>
                <a:cs typeface="SimSun"/>
              </a:rPr>
              <a:t>由 </a:t>
            </a:r>
            <a:r>
              <a:rPr dirty="0" sz="900">
                <a:solidFill>
                  <a:srgbClr val="FFFFFF"/>
                </a:solidFill>
                <a:latin typeface="DejaVu Sans"/>
                <a:cs typeface="DejaVu Sans"/>
              </a:rPr>
              <a:t>Genspark</a:t>
            </a:r>
            <a:r>
              <a:rPr dirty="0" sz="900" spc="-45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000" spc="-75">
                <a:solidFill>
                  <a:srgbClr val="FFFFFF"/>
                </a:solidFill>
                <a:latin typeface="SimSun"/>
                <a:cs typeface="SimSun"/>
              </a:rPr>
              <a:t>制作</a:t>
            </a:r>
            <a:endParaRPr sz="1000">
              <a:latin typeface="SimSun"/>
              <a:cs typeface="SimSu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29487" y="1233487"/>
            <a:ext cx="2867024" cy="2867024"/>
          </a:xfrm>
          <a:prstGeom prst="rect">
            <a:avLst/>
          </a:prstGeom>
        </p:spPr>
      </p:pic>
      <p:sp>
        <p:nvSpPr>
          <p:cNvPr id="3" name="object 3" descr=""/>
          <p:cNvSpPr/>
          <p:nvPr/>
        </p:nvSpPr>
        <p:spPr>
          <a:xfrm>
            <a:off x="609599" y="1066799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914399" y="38099"/>
                </a:moveTo>
                <a:lnTo>
                  <a:pt x="0" y="38099"/>
                </a:lnTo>
                <a:lnTo>
                  <a:pt x="0" y="0"/>
                </a:lnTo>
                <a:lnTo>
                  <a:pt x="914399" y="0"/>
                </a:lnTo>
                <a:lnTo>
                  <a:pt x="914399" y="38099"/>
                </a:lnTo>
                <a:close/>
              </a:path>
            </a:pathLst>
          </a:custGeom>
          <a:solidFill>
            <a:srgbClr val="3B81F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96899" y="552323"/>
            <a:ext cx="4483100" cy="4908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370">
                <a:latin typeface="BIZ UDPGothic"/>
                <a:cs typeface="BIZ UDPGothic"/>
              </a:rPr>
              <a:t>智慧</a:t>
            </a:r>
            <a:r>
              <a:rPr dirty="0" spc="-370"/>
              <a:t>工地系统开发与创</a:t>
            </a:r>
            <a:r>
              <a:rPr dirty="0" spc="-370">
                <a:latin typeface="BIZ UDPGothic"/>
                <a:cs typeface="BIZ UDPGothic"/>
              </a:rPr>
              <a:t>新</a:t>
            </a:r>
            <a:r>
              <a:rPr dirty="0" spc="-370"/>
              <a:t>路</a:t>
            </a:r>
            <a:r>
              <a:rPr dirty="0" spc="-420">
                <a:latin typeface="BIZ UDPGothic"/>
                <a:cs typeface="BIZ UDPGothic"/>
              </a:rPr>
              <a:t>径</a:t>
            </a:r>
          </a:p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9599" y="1409699"/>
            <a:ext cx="6305549" cy="5448299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1435099" y="1668424"/>
            <a:ext cx="2716530" cy="34036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050" spc="-270">
                <a:solidFill>
                  <a:srgbClr val="1F2937"/>
                </a:solidFill>
                <a:latin typeface="SimSun"/>
                <a:cs typeface="SimSun"/>
              </a:rPr>
              <a:t>智慧</a:t>
            </a:r>
            <a:r>
              <a:rPr dirty="0" sz="2050" spc="-270">
                <a:solidFill>
                  <a:srgbClr val="1F2937"/>
                </a:solidFill>
                <a:latin typeface="Meiryo"/>
                <a:cs typeface="Meiryo"/>
              </a:rPr>
              <a:t>⼯</a:t>
            </a:r>
            <a:r>
              <a:rPr dirty="0" sz="2050" spc="-270">
                <a:solidFill>
                  <a:srgbClr val="1F2937"/>
                </a:solidFill>
                <a:latin typeface="SimSun"/>
                <a:cs typeface="SimSun"/>
              </a:rPr>
              <a:t>地安全管理系统</a:t>
            </a:r>
            <a:r>
              <a:rPr dirty="0" sz="1800" spc="-25" b="1">
                <a:solidFill>
                  <a:srgbClr val="1F2937"/>
                </a:solidFill>
                <a:latin typeface="DejaVu Sans"/>
                <a:cs typeface="DejaVu Sans"/>
              </a:rPr>
              <a:t>1.0</a:t>
            </a:r>
            <a:endParaRPr sz="1800">
              <a:latin typeface="DejaVu Sans"/>
              <a:cs typeface="DejaVu Sans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977900" y="2224913"/>
            <a:ext cx="3378200" cy="12611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基于</a:t>
            </a:r>
            <a:r>
              <a:rPr dirty="0" sz="1350" spc="-170">
                <a:solidFill>
                  <a:srgbClr val="374050"/>
                </a:solidFill>
                <a:latin typeface="Microsoft JhengHei"/>
                <a:cs typeface="Microsoft JhengHei"/>
              </a:rPr>
              <a:t>⼈</a:t>
            </a:r>
            <a:r>
              <a:rPr dirty="0" sz="1350" spc="-170">
                <a:solidFill>
                  <a:srgbClr val="374050"/>
                </a:solidFill>
                <a:latin typeface="Meiryo"/>
                <a:cs typeface="Meiryo"/>
              </a:rPr>
              <a:t>⼯</a:t>
            </a: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智能技术的</a:t>
            </a:r>
            <a:r>
              <a:rPr dirty="0" sz="1350" spc="-170">
                <a:solidFill>
                  <a:srgbClr val="374050"/>
                </a:solidFill>
                <a:latin typeface="Meiryo"/>
                <a:cs typeface="Meiryo"/>
              </a:rPr>
              <a:t>⼯</a:t>
            </a: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地</a:t>
            </a:r>
            <a:r>
              <a:rPr dirty="0" sz="1350" spc="-170">
                <a:solidFill>
                  <a:srgbClr val="374050"/>
                </a:solidFill>
                <a:latin typeface="Microsoft JhengHei"/>
                <a:cs typeface="Microsoft JhengHei"/>
              </a:rPr>
              <a:t>安</a:t>
            </a: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全监控与</a:t>
            </a:r>
            <a:r>
              <a:rPr dirty="0" sz="1350" spc="-170">
                <a:solidFill>
                  <a:srgbClr val="374050"/>
                </a:solidFill>
                <a:latin typeface="Microsoft JhengHei"/>
                <a:cs typeface="Microsoft JhengHei"/>
              </a:rPr>
              <a:t>预</a:t>
            </a:r>
            <a:r>
              <a:rPr dirty="0" sz="1350" spc="-130">
                <a:solidFill>
                  <a:srgbClr val="374050"/>
                </a:solidFill>
                <a:latin typeface="SimSun"/>
                <a:cs typeface="SimSun"/>
              </a:rPr>
              <a:t>警系统</a:t>
            </a:r>
            <a:endParaRPr sz="1350">
              <a:latin typeface="SimSun"/>
              <a:cs typeface="SimSun"/>
            </a:endParaRPr>
          </a:p>
          <a:p>
            <a:pPr marL="12700" marR="614680">
              <a:lnSpc>
                <a:spcPct val="166700"/>
              </a:lnSpc>
            </a:pPr>
            <a:r>
              <a:rPr dirty="0" sz="1350" spc="-170">
                <a:solidFill>
                  <a:srgbClr val="374050"/>
                </a:solidFill>
                <a:latin typeface="Meiryo"/>
                <a:cs typeface="Meiryo"/>
              </a:rPr>
              <a:t>多</a:t>
            </a: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模态</a:t>
            </a:r>
            <a:r>
              <a:rPr dirty="0" sz="1350" spc="-170">
                <a:solidFill>
                  <a:srgbClr val="374050"/>
                </a:solidFill>
                <a:latin typeface="Meiryo"/>
                <a:cs typeface="Meiryo"/>
              </a:rPr>
              <a:t>数</a:t>
            </a: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据采集与</a:t>
            </a:r>
            <a:r>
              <a:rPr dirty="0" sz="1350" spc="-170">
                <a:solidFill>
                  <a:srgbClr val="374050"/>
                </a:solidFill>
                <a:latin typeface="Microsoft JhengHei"/>
                <a:cs typeface="Microsoft JhengHei"/>
              </a:rPr>
              <a:t>安</a:t>
            </a: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全</a:t>
            </a:r>
            <a:r>
              <a:rPr dirty="0" sz="1350" spc="-170">
                <a:solidFill>
                  <a:srgbClr val="374050"/>
                </a:solidFill>
                <a:latin typeface="Microsoft JhengHei"/>
                <a:cs typeface="Microsoft JhengHei"/>
              </a:rPr>
              <a:t>⻛</a:t>
            </a:r>
            <a:r>
              <a:rPr dirty="0" sz="1350" spc="-155">
                <a:solidFill>
                  <a:srgbClr val="374050"/>
                </a:solidFill>
                <a:latin typeface="SimSun"/>
                <a:cs typeface="SimSun"/>
              </a:rPr>
              <a:t>险智能识别分析</a:t>
            </a: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全景化</a:t>
            </a:r>
            <a:r>
              <a:rPr dirty="0" sz="1350" spc="-170">
                <a:solidFill>
                  <a:srgbClr val="374050"/>
                </a:solidFill>
                <a:latin typeface="Microsoft JhengHei"/>
                <a:cs typeface="Microsoft JhengHei"/>
              </a:rPr>
              <a:t>安</a:t>
            </a: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全看板与管理流程</a:t>
            </a:r>
            <a:r>
              <a:rPr dirty="0" sz="1350" spc="-170">
                <a:solidFill>
                  <a:srgbClr val="374050"/>
                </a:solidFill>
                <a:latin typeface="Meiryo"/>
                <a:cs typeface="Meiryo"/>
              </a:rPr>
              <a:t>数</a:t>
            </a:r>
            <a:r>
              <a:rPr dirty="0" sz="1350" spc="-170">
                <a:solidFill>
                  <a:srgbClr val="374050"/>
                </a:solidFill>
                <a:latin typeface="Microsoft JhengHei"/>
                <a:cs typeface="Microsoft JhengHei"/>
              </a:rPr>
              <a:t>字</a:t>
            </a:r>
            <a:r>
              <a:rPr dirty="0" sz="1350" spc="-50">
                <a:solidFill>
                  <a:srgbClr val="374050"/>
                </a:solidFill>
                <a:latin typeface="SimSun"/>
                <a:cs typeface="SimSun"/>
              </a:rPr>
              <a:t>化</a:t>
            </a:r>
            <a:endParaRPr sz="135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概念验证</a:t>
            </a:r>
            <a:r>
              <a:rPr dirty="0" sz="1350" spc="-170">
                <a:solidFill>
                  <a:srgbClr val="374050"/>
                </a:solidFill>
                <a:latin typeface="Meiryo"/>
                <a:cs typeface="Meiryo"/>
              </a:rPr>
              <a:t>⽅</a:t>
            </a: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式开发，电</a:t>
            </a:r>
            <a:r>
              <a:rPr dirty="0" sz="1350" spc="-170">
                <a:solidFill>
                  <a:srgbClr val="374050"/>
                </a:solidFill>
                <a:latin typeface="Microsoft JhengHei"/>
                <a:cs typeface="Microsoft JhengHei"/>
              </a:rPr>
              <a:t>⼦</a:t>
            </a: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科</a:t>
            </a:r>
            <a:r>
              <a:rPr dirty="0" sz="1350" spc="-170">
                <a:solidFill>
                  <a:srgbClr val="374050"/>
                </a:solidFill>
                <a:latin typeface="Meiryo"/>
                <a:cs typeface="Meiryo"/>
              </a:rPr>
              <a:t>⼤</a:t>
            </a: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科技园提供技术</a:t>
            </a:r>
            <a:r>
              <a:rPr dirty="0" sz="1350" spc="-170">
                <a:solidFill>
                  <a:srgbClr val="374050"/>
                </a:solidFill>
                <a:latin typeface="Meiryo"/>
                <a:cs typeface="Meiryo"/>
              </a:rPr>
              <a:t>⽀</a:t>
            </a:r>
            <a:r>
              <a:rPr dirty="0" sz="1350" spc="-60">
                <a:solidFill>
                  <a:srgbClr val="374050"/>
                </a:solidFill>
                <a:latin typeface="SimSun"/>
                <a:cs typeface="SimSun"/>
              </a:rPr>
              <a:t>持</a:t>
            </a:r>
            <a:endParaRPr sz="1350">
              <a:latin typeface="SimSun"/>
              <a:cs typeface="SimSun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337468" y="3979989"/>
            <a:ext cx="692150" cy="206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-100">
                <a:latin typeface="SimSun"/>
                <a:cs typeface="SimSun"/>
              </a:rPr>
              <a:t>数据采集层</a:t>
            </a:r>
            <a:endParaRPr sz="1150">
              <a:latin typeface="SimSun"/>
              <a:cs typeface="SimSun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2723356" y="3979989"/>
            <a:ext cx="692150" cy="206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-100">
                <a:latin typeface="SimSun"/>
                <a:cs typeface="SimSun"/>
              </a:rPr>
              <a:t>分析处理层</a:t>
            </a:r>
            <a:endParaRPr sz="1150">
              <a:latin typeface="SimSun"/>
              <a:cs typeface="SimSun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4109243" y="3979989"/>
            <a:ext cx="692150" cy="206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-110">
                <a:latin typeface="SimSun"/>
                <a:cs typeface="SimSun"/>
              </a:rPr>
              <a:t>应</a:t>
            </a:r>
            <a:r>
              <a:rPr dirty="0" sz="1150" spc="-110">
                <a:latin typeface="Meiryo"/>
                <a:cs typeface="Meiryo"/>
              </a:rPr>
              <a:t>⽤</a:t>
            </a:r>
            <a:r>
              <a:rPr dirty="0" sz="1150" spc="-90">
                <a:latin typeface="SimSun"/>
                <a:cs typeface="SimSun"/>
              </a:rPr>
              <a:t>服务层</a:t>
            </a:r>
            <a:endParaRPr sz="1150">
              <a:latin typeface="SimSun"/>
              <a:cs typeface="SimSun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5495130" y="3979989"/>
            <a:ext cx="692150" cy="206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-110">
                <a:solidFill>
                  <a:srgbClr val="FFFFFF"/>
                </a:solidFill>
                <a:latin typeface="SimSun"/>
                <a:cs typeface="SimSun"/>
              </a:rPr>
              <a:t>展</a:t>
            </a:r>
            <a:r>
              <a:rPr dirty="0" sz="1150" spc="-110">
                <a:solidFill>
                  <a:srgbClr val="FFFFFF"/>
                </a:solidFill>
                <a:latin typeface="Meiryo"/>
                <a:cs typeface="Meiryo"/>
              </a:rPr>
              <a:t>⽰</a:t>
            </a:r>
            <a:r>
              <a:rPr dirty="0" sz="1150" spc="-90">
                <a:solidFill>
                  <a:srgbClr val="FFFFFF"/>
                </a:solidFill>
                <a:latin typeface="SimSun"/>
                <a:cs typeface="SimSun"/>
              </a:rPr>
              <a:t>交互层</a:t>
            </a:r>
            <a:endParaRPr sz="1150">
              <a:latin typeface="SimSun"/>
              <a:cs typeface="SimSun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1422895" y="4582540"/>
            <a:ext cx="521334" cy="18097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000" spc="-100">
                <a:solidFill>
                  <a:srgbClr val="4A5462"/>
                </a:solidFill>
                <a:latin typeface="SimSun"/>
                <a:cs typeface="SimSun"/>
              </a:rPr>
              <a:t>视</a:t>
            </a:r>
            <a:r>
              <a:rPr dirty="0" sz="1000" spc="-100">
                <a:solidFill>
                  <a:srgbClr val="4A5462"/>
                </a:solidFill>
                <a:latin typeface="Microsoft JhengHei"/>
                <a:cs typeface="Microsoft JhengHei"/>
              </a:rPr>
              <a:t>频</a:t>
            </a:r>
            <a:r>
              <a:rPr dirty="0" sz="900">
                <a:solidFill>
                  <a:srgbClr val="4A5462"/>
                </a:solidFill>
                <a:latin typeface="DejaVu Sans"/>
                <a:cs typeface="DejaVu Sans"/>
              </a:rPr>
              <a:t>/</a:t>
            </a:r>
            <a:r>
              <a:rPr dirty="0" sz="1000" spc="-75">
                <a:solidFill>
                  <a:srgbClr val="4A5462"/>
                </a:solidFill>
                <a:latin typeface="SimSun"/>
                <a:cs typeface="SimSun"/>
              </a:rPr>
              <a:t>图像</a:t>
            </a:r>
            <a:endParaRPr sz="1000">
              <a:latin typeface="SimSun"/>
              <a:cs typeface="SimSun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5599757" y="4582540"/>
            <a:ext cx="482600" cy="18097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000" spc="-90">
                <a:solidFill>
                  <a:srgbClr val="4A5462"/>
                </a:solidFill>
                <a:latin typeface="SimSun"/>
                <a:cs typeface="SimSun"/>
              </a:rPr>
              <a:t>安全看板</a:t>
            </a:r>
            <a:endParaRPr sz="1000">
              <a:latin typeface="SimSun"/>
              <a:cs typeface="SimSun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2886471" y="4582540"/>
            <a:ext cx="1810385" cy="48577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14"/>
              </a:spcBef>
              <a:tabLst>
                <a:tab pos="1327150" algn="l"/>
              </a:tabLst>
            </a:pPr>
            <a:r>
              <a:rPr dirty="0" sz="900">
                <a:solidFill>
                  <a:srgbClr val="4A5462"/>
                </a:solidFill>
                <a:latin typeface="DejaVu Sans"/>
                <a:cs typeface="DejaVu Sans"/>
              </a:rPr>
              <a:t>AI</a:t>
            </a:r>
            <a:r>
              <a:rPr dirty="0" sz="1000" spc="-100">
                <a:solidFill>
                  <a:srgbClr val="4A5462"/>
                </a:solidFill>
                <a:latin typeface="SimSun"/>
                <a:cs typeface="SimSun"/>
              </a:rPr>
              <a:t>分</a:t>
            </a:r>
            <a:r>
              <a:rPr dirty="0" sz="1000" spc="-50">
                <a:solidFill>
                  <a:srgbClr val="4A5462"/>
                </a:solidFill>
                <a:latin typeface="SimSun"/>
                <a:cs typeface="SimSun"/>
              </a:rPr>
              <a:t>析</a:t>
            </a:r>
            <a:r>
              <a:rPr dirty="0" sz="1000">
                <a:solidFill>
                  <a:srgbClr val="4A5462"/>
                </a:solidFill>
                <a:latin typeface="SimSun"/>
                <a:cs typeface="SimSun"/>
              </a:rPr>
              <a:t>	</a:t>
            </a:r>
            <a:r>
              <a:rPr dirty="0" sz="1000" spc="-100">
                <a:solidFill>
                  <a:srgbClr val="4A5462"/>
                </a:solidFill>
                <a:latin typeface="Microsoft JhengHei"/>
                <a:cs typeface="Microsoft JhengHei"/>
              </a:rPr>
              <a:t>⻛</a:t>
            </a:r>
            <a:r>
              <a:rPr dirty="0" sz="1000" spc="-100">
                <a:solidFill>
                  <a:srgbClr val="4A5462"/>
                </a:solidFill>
                <a:latin typeface="SimSun"/>
                <a:cs typeface="SimSun"/>
              </a:rPr>
              <a:t>险</a:t>
            </a:r>
            <a:r>
              <a:rPr dirty="0" sz="1000" spc="-100">
                <a:solidFill>
                  <a:srgbClr val="4A5462"/>
                </a:solidFill>
                <a:latin typeface="Microsoft JhengHei"/>
                <a:cs typeface="Microsoft JhengHei"/>
              </a:rPr>
              <a:t>预</a:t>
            </a:r>
            <a:r>
              <a:rPr dirty="0" sz="1000" spc="-50">
                <a:solidFill>
                  <a:srgbClr val="4A5462"/>
                </a:solidFill>
                <a:latin typeface="SimSun"/>
                <a:cs typeface="SimSun"/>
              </a:rPr>
              <a:t>警</a:t>
            </a:r>
            <a:endParaRPr sz="1000">
              <a:latin typeface="SimSun"/>
              <a:cs typeface="SimSu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900">
              <a:latin typeface="SimSun"/>
              <a:cs typeface="SimSun"/>
            </a:endParaRPr>
          </a:p>
          <a:p>
            <a:pPr algn="ctr" marR="50800">
              <a:lnSpc>
                <a:spcPct val="100000"/>
              </a:lnSpc>
            </a:pPr>
            <a:r>
              <a:rPr dirty="0" sz="1000" spc="-100">
                <a:solidFill>
                  <a:srgbClr val="6A7280"/>
                </a:solidFill>
                <a:latin typeface="SimSun"/>
                <a:cs typeface="SimSun"/>
              </a:rPr>
              <a:t>智慧</a:t>
            </a:r>
            <a:r>
              <a:rPr dirty="0" sz="1000" spc="-100">
                <a:solidFill>
                  <a:srgbClr val="6A7280"/>
                </a:solidFill>
                <a:latin typeface="Meiryo"/>
                <a:cs typeface="Meiryo"/>
              </a:rPr>
              <a:t>⼯</a:t>
            </a:r>
            <a:r>
              <a:rPr dirty="0" sz="1000" spc="-95">
                <a:solidFill>
                  <a:srgbClr val="6A7280"/>
                </a:solidFill>
                <a:latin typeface="SimSun"/>
                <a:cs typeface="SimSun"/>
              </a:rPr>
              <a:t>地安全管理系统架构图</a:t>
            </a:r>
            <a:endParaRPr sz="1000">
              <a:latin typeface="SimSun"/>
              <a:cs typeface="SimSun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1206499" y="5512561"/>
            <a:ext cx="3073400" cy="71691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354965">
              <a:lnSpc>
                <a:spcPct val="100000"/>
              </a:lnSpc>
              <a:spcBef>
                <a:spcPts val="114"/>
              </a:spcBef>
            </a:pPr>
            <a:r>
              <a:rPr dirty="0" sz="1700" spc="-210">
                <a:solidFill>
                  <a:srgbClr val="1F2937"/>
                </a:solidFill>
                <a:latin typeface="SimSun"/>
                <a:cs typeface="SimSun"/>
              </a:rPr>
              <a:t>知识产权形成与核</a:t>
            </a:r>
            <a:r>
              <a:rPr dirty="0" sz="1700" spc="-210">
                <a:solidFill>
                  <a:srgbClr val="1F2937"/>
                </a:solidFill>
                <a:latin typeface="Meiryo"/>
                <a:cs typeface="Meiryo"/>
              </a:rPr>
              <a:t>⼼</a:t>
            </a:r>
            <a:r>
              <a:rPr dirty="0" sz="1700" spc="-130">
                <a:solidFill>
                  <a:srgbClr val="1F2937"/>
                </a:solidFill>
                <a:latin typeface="SimSun"/>
                <a:cs typeface="SimSun"/>
              </a:rPr>
              <a:t>技术</a:t>
            </a:r>
            <a:endParaRPr sz="170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1760"/>
              </a:spcBef>
            </a:pP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系统知识</a:t>
            </a:r>
            <a:r>
              <a:rPr dirty="0" sz="1350" spc="-170">
                <a:solidFill>
                  <a:srgbClr val="374050"/>
                </a:solidFill>
                <a:latin typeface="Microsoft JhengHei"/>
                <a:cs typeface="Microsoft JhengHei"/>
              </a:rPr>
              <a:t>产</a:t>
            </a: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权归属能投光电，形成软</a:t>
            </a:r>
            <a:r>
              <a:rPr dirty="0" sz="1350" spc="-170">
                <a:solidFill>
                  <a:srgbClr val="374050"/>
                </a:solidFill>
                <a:latin typeface="Microsoft JhengHei"/>
                <a:cs typeface="Microsoft JhengHei"/>
              </a:rPr>
              <a:t>件</a:t>
            </a:r>
            <a:r>
              <a:rPr dirty="0" sz="1350" spc="-130">
                <a:solidFill>
                  <a:srgbClr val="374050"/>
                </a:solidFill>
                <a:latin typeface="SimSun"/>
                <a:cs typeface="SimSun"/>
              </a:rPr>
              <a:t>著作权</a:t>
            </a:r>
            <a:endParaRPr sz="1350">
              <a:latin typeface="SimSun"/>
              <a:cs typeface="SimSun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1206499" y="6339712"/>
            <a:ext cx="2616200" cy="2324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基于</a:t>
            </a:r>
            <a:r>
              <a:rPr dirty="0" sz="1350" spc="-170">
                <a:solidFill>
                  <a:srgbClr val="374050"/>
                </a:solidFill>
                <a:latin typeface="Meiryo"/>
                <a:cs typeface="Meiryo"/>
              </a:rPr>
              <a:t>⼯</a:t>
            </a: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地场景的</a:t>
            </a:r>
            <a:r>
              <a:rPr dirty="0" sz="1350" spc="-170">
                <a:solidFill>
                  <a:srgbClr val="374050"/>
                </a:solidFill>
                <a:latin typeface="Microsoft JhengHei"/>
                <a:cs typeface="Microsoft JhengHei"/>
              </a:rPr>
              <a:t>安</a:t>
            </a: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全</a:t>
            </a:r>
            <a:r>
              <a:rPr dirty="0" sz="1350" spc="-170">
                <a:solidFill>
                  <a:srgbClr val="374050"/>
                </a:solidFill>
                <a:latin typeface="Microsoft JhengHei"/>
                <a:cs typeface="Microsoft JhengHei"/>
              </a:rPr>
              <a:t>⻛</a:t>
            </a:r>
            <a:r>
              <a:rPr dirty="0" sz="1350" spc="-155">
                <a:solidFill>
                  <a:srgbClr val="374050"/>
                </a:solidFill>
                <a:latin typeface="SimSun"/>
                <a:cs typeface="SimSun"/>
              </a:rPr>
              <a:t>险识别模型专利</a:t>
            </a:r>
            <a:endParaRPr sz="1350">
              <a:latin typeface="SimSun"/>
              <a:cs typeface="SimSun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1206499" y="6682613"/>
            <a:ext cx="2616200" cy="2324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50" spc="-170">
                <a:solidFill>
                  <a:srgbClr val="374050"/>
                </a:solidFill>
                <a:latin typeface="Meiryo"/>
                <a:cs typeface="Meiryo"/>
              </a:rPr>
              <a:t>多</a:t>
            </a: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模态</a:t>
            </a:r>
            <a:r>
              <a:rPr dirty="0" sz="1350" spc="-170">
                <a:solidFill>
                  <a:srgbClr val="374050"/>
                </a:solidFill>
                <a:latin typeface="Meiryo"/>
                <a:cs typeface="Meiryo"/>
              </a:rPr>
              <a:t>数</a:t>
            </a: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据库与</a:t>
            </a:r>
            <a:r>
              <a:rPr dirty="0" sz="1350" spc="-170">
                <a:solidFill>
                  <a:srgbClr val="374050"/>
                </a:solidFill>
                <a:latin typeface="Microsoft JhengHei"/>
                <a:cs typeface="Microsoft JhengHei"/>
              </a:rPr>
              <a:t>实</a:t>
            </a: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时分析决策</a:t>
            </a:r>
            <a:r>
              <a:rPr dirty="0" sz="1350" spc="-170">
                <a:solidFill>
                  <a:srgbClr val="374050"/>
                </a:solidFill>
                <a:latin typeface="Meiryo"/>
                <a:cs typeface="Meiryo"/>
              </a:rPr>
              <a:t>⽀</a:t>
            </a:r>
            <a:r>
              <a:rPr dirty="0" sz="1350" spc="-130">
                <a:solidFill>
                  <a:srgbClr val="374050"/>
                </a:solidFill>
                <a:latin typeface="SimSun"/>
                <a:cs typeface="SimSun"/>
              </a:rPr>
              <a:t>持系统</a:t>
            </a:r>
            <a:endParaRPr sz="1350">
              <a:latin typeface="SimSun"/>
              <a:cs typeface="SimSun"/>
            </a:endParaRPr>
          </a:p>
        </p:txBody>
      </p:sp>
      <p:pic>
        <p:nvPicPr>
          <p:cNvPr id="18" name="object 18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439397" y="6476999"/>
            <a:ext cx="76201" cy="76199"/>
          </a:xfrm>
          <a:prstGeom prst="rect">
            <a:avLst/>
          </a:prstGeom>
        </p:spPr>
      </p:pic>
      <p:grpSp>
        <p:nvGrpSpPr>
          <p:cNvPr id="19" name="object 19" descr=""/>
          <p:cNvGrpSpPr/>
          <p:nvPr/>
        </p:nvGrpSpPr>
        <p:grpSpPr>
          <a:xfrm>
            <a:off x="10591797" y="6343649"/>
            <a:ext cx="1409700" cy="323850"/>
            <a:chOff x="10591797" y="6343649"/>
            <a:chExt cx="1409700" cy="323850"/>
          </a:xfrm>
        </p:grpSpPr>
        <p:sp>
          <p:nvSpPr>
            <p:cNvPr id="20" name="object 20" descr=""/>
            <p:cNvSpPr/>
            <p:nvPr/>
          </p:nvSpPr>
          <p:spPr>
            <a:xfrm>
              <a:off x="10591797" y="6476999"/>
              <a:ext cx="304800" cy="76200"/>
            </a:xfrm>
            <a:custGeom>
              <a:avLst/>
              <a:gdLst/>
              <a:ahLst/>
              <a:cxnLst/>
              <a:rect l="l" t="t" r="r" b="b"/>
              <a:pathLst>
                <a:path w="304800" h="76200">
                  <a:moveTo>
                    <a:pt x="271753" y="76199"/>
                  </a:moveTo>
                  <a:lnTo>
                    <a:pt x="33047" y="76199"/>
                  </a:lnTo>
                  <a:lnTo>
                    <a:pt x="28187" y="75232"/>
                  </a:lnTo>
                  <a:lnTo>
                    <a:pt x="966" y="48012"/>
                  </a:lnTo>
                  <a:lnTo>
                    <a:pt x="0" y="43152"/>
                  </a:lnTo>
                  <a:lnTo>
                    <a:pt x="1" y="3809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271753" y="0"/>
                  </a:lnTo>
                  <a:lnTo>
                    <a:pt x="303833" y="28186"/>
                  </a:lnTo>
                  <a:lnTo>
                    <a:pt x="304799" y="33047"/>
                  </a:lnTo>
                  <a:lnTo>
                    <a:pt x="304799" y="43152"/>
                  </a:lnTo>
                  <a:lnTo>
                    <a:pt x="276612" y="75232"/>
                  </a:lnTo>
                  <a:lnTo>
                    <a:pt x="271753" y="76199"/>
                  </a:lnTo>
                  <a:close/>
                </a:path>
              </a:pathLst>
            </a:custGeom>
            <a:solidFill>
              <a:srgbClr val="60A5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10972797" y="6476999"/>
              <a:ext cx="609600" cy="76200"/>
            </a:xfrm>
            <a:custGeom>
              <a:avLst/>
              <a:gdLst/>
              <a:ahLst/>
              <a:cxnLst/>
              <a:rect l="l" t="t" r="r" b="b"/>
              <a:pathLst>
                <a:path w="609600" h="76200">
                  <a:moveTo>
                    <a:pt x="576553" y="76199"/>
                  </a:moveTo>
                  <a:lnTo>
                    <a:pt x="33047" y="76199"/>
                  </a:lnTo>
                  <a:lnTo>
                    <a:pt x="28186" y="75232"/>
                  </a:lnTo>
                  <a:lnTo>
                    <a:pt x="967" y="48012"/>
                  </a:lnTo>
                  <a:lnTo>
                    <a:pt x="0" y="43152"/>
                  </a:lnTo>
                  <a:lnTo>
                    <a:pt x="1" y="38099"/>
                  </a:lnTo>
                  <a:lnTo>
                    <a:pt x="0" y="33047"/>
                  </a:lnTo>
                  <a:lnTo>
                    <a:pt x="28186" y="966"/>
                  </a:lnTo>
                  <a:lnTo>
                    <a:pt x="33047" y="0"/>
                  </a:lnTo>
                  <a:lnTo>
                    <a:pt x="576553" y="0"/>
                  </a:lnTo>
                  <a:lnTo>
                    <a:pt x="608632" y="28186"/>
                  </a:lnTo>
                  <a:lnTo>
                    <a:pt x="609599" y="33047"/>
                  </a:lnTo>
                  <a:lnTo>
                    <a:pt x="609599" y="43152"/>
                  </a:lnTo>
                  <a:lnTo>
                    <a:pt x="581412" y="75232"/>
                  </a:lnTo>
                  <a:lnTo>
                    <a:pt x="576553" y="76199"/>
                  </a:lnTo>
                  <a:close/>
                </a:path>
              </a:pathLst>
            </a:custGeom>
            <a:solidFill>
              <a:srgbClr val="93C4F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10620374" y="6343649"/>
              <a:ext cx="1381125" cy="323850"/>
            </a:xfrm>
            <a:custGeom>
              <a:avLst/>
              <a:gdLst/>
              <a:ahLst/>
              <a:cxnLst/>
              <a:rect l="l" t="t" r="r" b="b"/>
              <a:pathLst>
                <a:path w="1381125" h="323850">
                  <a:moveTo>
                    <a:pt x="1348077" y="323849"/>
                  </a:moveTo>
                  <a:lnTo>
                    <a:pt x="33047" y="323849"/>
                  </a:lnTo>
                  <a:lnTo>
                    <a:pt x="28187" y="322883"/>
                  </a:lnTo>
                  <a:lnTo>
                    <a:pt x="966" y="295662"/>
                  </a:lnTo>
                  <a:lnTo>
                    <a:pt x="0" y="290802"/>
                  </a:lnTo>
                  <a:lnTo>
                    <a:pt x="0" y="28574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1348077" y="0"/>
                  </a:lnTo>
                  <a:lnTo>
                    <a:pt x="1380157" y="28187"/>
                  </a:lnTo>
                  <a:lnTo>
                    <a:pt x="1381124" y="33047"/>
                  </a:lnTo>
                  <a:lnTo>
                    <a:pt x="1381124" y="290802"/>
                  </a:lnTo>
                  <a:lnTo>
                    <a:pt x="1352937" y="322883"/>
                  </a:lnTo>
                  <a:lnTo>
                    <a:pt x="1348077" y="323849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3" name="object 23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734674" y="6438899"/>
              <a:ext cx="133349" cy="133349"/>
            </a:xfrm>
            <a:prstGeom prst="rect">
              <a:avLst/>
            </a:prstGeom>
          </p:spPr>
        </p:pic>
      </p:grpSp>
      <p:sp>
        <p:nvSpPr>
          <p:cNvPr id="24" name="object 24" descr=""/>
          <p:cNvSpPr txBox="1"/>
          <p:nvPr/>
        </p:nvSpPr>
        <p:spPr>
          <a:xfrm>
            <a:off x="10912176" y="6401815"/>
            <a:ext cx="988060" cy="18097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000" spc="-160">
                <a:solidFill>
                  <a:srgbClr val="FFFFFF"/>
                </a:solidFill>
                <a:latin typeface="SimSun"/>
                <a:cs typeface="SimSun"/>
              </a:rPr>
              <a:t>由 </a:t>
            </a:r>
            <a:r>
              <a:rPr dirty="0" sz="900">
                <a:solidFill>
                  <a:srgbClr val="FFFFFF"/>
                </a:solidFill>
                <a:latin typeface="DejaVu Sans"/>
                <a:cs typeface="DejaVu Sans"/>
              </a:rPr>
              <a:t>Genspark</a:t>
            </a:r>
            <a:r>
              <a:rPr dirty="0" sz="900" spc="-45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000" spc="-75">
                <a:solidFill>
                  <a:srgbClr val="FFFFFF"/>
                </a:solidFill>
                <a:latin typeface="SimSun"/>
                <a:cs typeface="SimSun"/>
              </a:rPr>
              <a:t>制作</a:t>
            </a:r>
            <a:endParaRPr sz="1000">
              <a:latin typeface="SimSun"/>
              <a:cs typeface="SimSu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96899" y="552323"/>
            <a:ext cx="3656965" cy="4908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370"/>
              <a:t>储</a:t>
            </a:r>
            <a:r>
              <a:rPr dirty="0" spc="-370">
                <a:latin typeface="BIZ UDPGothic"/>
                <a:cs typeface="BIZ UDPGothic"/>
              </a:rPr>
              <a:t>能</a:t>
            </a:r>
            <a:r>
              <a:rPr dirty="0" spc="-204">
                <a:latin typeface="Arial"/>
                <a:cs typeface="Arial"/>
              </a:rPr>
              <a:t>+</a:t>
            </a:r>
            <a:r>
              <a:rPr dirty="0" spc="-370"/>
              <a:t>边缘计算示范</a:t>
            </a:r>
            <a:r>
              <a:rPr dirty="0" spc="-370">
                <a:latin typeface="BIZ UDPGothic"/>
                <a:cs typeface="BIZ UDPGothic"/>
              </a:rPr>
              <a:t>工</a:t>
            </a:r>
            <a:r>
              <a:rPr dirty="0" spc="-420"/>
              <a:t>程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599" y="1409699"/>
            <a:ext cx="6305548" cy="4076699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1435099" y="1668424"/>
            <a:ext cx="2731770" cy="34036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050" spc="-270">
                <a:solidFill>
                  <a:srgbClr val="1F2937"/>
                </a:solidFill>
                <a:latin typeface="SimSun"/>
                <a:cs typeface="SimSun"/>
              </a:rPr>
              <a:t>园区级储能</a:t>
            </a:r>
            <a:r>
              <a:rPr dirty="0" sz="1800" spc="-25" b="1">
                <a:solidFill>
                  <a:srgbClr val="1F2937"/>
                </a:solidFill>
                <a:latin typeface="DejaVu Sans"/>
                <a:cs typeface="DejaVu Sans"/>
              </a:rPr>
              <a:t>+</a:t>
            </a:r>
            <a:r>
              <a:rPr dirty="0" sz="2050" spc="-280">
                <a:solidFill>
                  <a:srgbClr val="1F2937"/>
                </a:solidFill>
                <a:latin typeface="SimSun"/>
                <a:cs typeface="SimSun"/>
              </a:rPr>
              <a:t>边缘计算系统</a:t>
            </a:r>
            <a:endParaRPr sz="2050">
              <a:latin typeface="SimSun"/>
              <a:cs typeface="SimSun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977900" y="2224913"/>
            <a:ext cx="4140835" cy="2324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部</a:t>
            </a:r>
            <a:r>
              <a:rPr dirty="0" sz="1350" spc="-170">
                <a:solidFill>
                  <a:srgbClr val="374050"/>
                </a:solidFill>
                <a:latin typeface="Meiryo"/>
                <a:cs typeface="Meiryo"/>
              </a:rPr>
              <a:t>署</a:t>
            </a: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分</a:t>
            </a:r>
            <a:r>
              <a:rPr dirty="0" sz="1350" spc="-170">
                <a:solidFill>
                  <a:srgbClr val="374050"/>
                </a:solidFill>
                <a:latin typeface="Microsoft JhengHei"/>
                <a:cs typeface="Microsoft JhengHei"/>
              </a:rPr>
              <a:t>布</a:t>
            </a: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式储能系统，实现园区</a:t>
            </a:r>
            <a:r>
              <a:rPr dirty="0" sz="1350" spc="-170">
                <a:solidFill>
                  <a:srgbClr val="374050"/>
                </a:solidFill>
                <a:latin typeface="Microsoft JhengHei"/>
                <a:cs typeface="Microsoft JhengHei"/>
              </a:rPr>
              <a:t>电⼒</a:t>
            </a: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峰</a:t>
            </a:r>
            <a:r>
              <a:rPr dirty="0" sz="1350" spc="-170">
                <a:solidFill>
                  <a:srgbClr val="374050"/>
                </a:solidFill>
                <a:latin typeface="Microsoft JhengHei"/>
                <a:cs typeface="Microsoft JhengHei"/>
              </a:rPr>
              <a:t>⾕调</a:t>
            </a: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节与能源</a:t>
            </a:r>
            <a:r>
              <a:rPr dirty="0" sz="1350" spc="-170">
                <a:solidFill>
                  <a:srgbClr val="374050"/>
                </a:solidFill>
                <a:latin typeface="Microsoft JhengHei"/>
                <a:cs typeface="Microsoft JhengHei"/>
              </a:rPr>
              <a:t>优</a:t>
            </a:r>
            <a:r>
              <a:rPr dirty="0" sz="1350" spc="-130">
                <a:solidFill>
                  <a:srgbClr val="374050"/>
                </a:solidFill>
                <a:latin typeface="SimSun"/>
                <a:cs typeface="SimSun"/>
              </a:rPr>
              <a:t>化管理</a:t>
            </a:r>
            <a:endParaRPr sz="1350">
              <a:latin typeface="SimSun"/>
              <a:cs typeface="SimSun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977900" y="2567813"/>
            <a:ext cx="3683635" cy="2324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边缘计算节点提供本地化、低时延的</a:t>
            </a:r>
            <a:r>
              <a:rPr dirty="0" sz="1350" spc="-170">
                <a:solidFill>
                  <a:srgbClr val="374050"/>
                </a:solidFill>
                <a:latin typeface="Microsoft JhengHei"/>
                <a:cs typeface="Microsoft JhengHei"/>
              </a:rPr>
              <a:t>⼈⼯</a:t>
            </a: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智能算</a:t>
            </a:r>
            <a:r>
              <a:rPr dirty="0" sz="1350" spc="-170">
                <a:solidFill>
                  <a:srgbClr val="374050"/>
                </a:solidFill>
                <a:latin typeface="Microsoft JhengHei"/>
                <a:cs typeface="Microsoft JhengHei"/>
              </a:rPr>
              <a:t>⼒</a:t>
            </a: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服</a:t>
            </a:r>
            <a:r>
              <a:rPr dirty="0" sz="1350" spc="-50">
                <a:solidFill>
                  <a:srgbClr val="374050"/>
                </a:solidFill>
                <a:latin typeface="Microsoft JhengHei"/>
                <a:cs typeface="Microsoft JhengHei"/>
              </a:rPr>
              <a:t>务</a:t>
            </a:r>
            <a:endParaRPr sz="1350">
              <a:latin typeface="Microsoft JhengHei"/>
              <a:cs typeface="Microsoft JhengHei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143749" y="1233487"/>
            <a:ext cx="4438649" cy="4252911"/>
          </a:xfrm>
          <a:prstGeom prst="rect">
            <a:avLst/>
          </a:prstGeom>
        </p:spPr>
      </p:pic>
      <p:sp>
        <p:nvSpPr>
          <p:cNvPr id="8" name="object 8" descr=""/>
          <p:cNvSpPr txBox="1"/>
          <p:nvPr/>
        </p:nvSpPr>
        <p:spPr>
          <a:xfrm>
            <a:off x="977900" y="2910713"/>
            <a:ext cx="3530600" cy="2324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通过物联</a:t>
            </a:r>
            <a:r>
              <a:rPr dirty="0" sz="1350" spc="-170">
                <a:solidFill>
                  <a:srgbClr val="374050"/>
                </a:solidFill>
                <a:latin typeface="Meiryo"/>
                <a:cs typeface="Meiryo"/>
              </a:rPr>
              <a:t>⽹</a:t>
            </a:r>
            <a:r>
              <a:rPr dirty="0" sz="1350" spc="-170">
                <a:solidFill>
                  <a:srgbClr val="374050"/>
                </a:solidFill>
                <a:latin typeface="Microsoft JhengHei"/>
                <a:cs typeface="Microsoft JhengHei"/>
              </a:rPr>
              <a:t>传</a:t>
            </a: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感与智能控制，实现能源与算</a:t>
            </a:r>
            <a:r>
              <a:rPr dirty="0" sz="1350" spc="-170">
                <a:solidFill>
                  <a:srgbClr val="374050"/>
                </a:solidFill>
                <a:latin typeface="Microsoft JhengHei"/>
                <a:cs typeface="Microsoft JhengHei"/>
              </a:rPr>
              <a:t>⼒</a:t>
            </a:r>
            <a:r>
              <a:rPr dirty="0" sz="1350" spc="-170">
                <a:solidFill>
                  <a:srgbClr val="374050"/>
                </a:solidFill>
                <a:latin typeface="Meiryo"/>
                <a:cs typeface="Meiryo"/>
              </a:rPr>
              <a:t>双</a:t>
            </a:r>
            <a:r>
              <a:rPr dirty="0" sz="1350" spc="-110">
                <a:solidFill>
                  <a:srgbClr val="374050"/>
                </a:solidFill>
                <a:latin typeface="SimSun"/>
                <a:cs typeface="SimSun"/>
              </a:rPr>
              <a:t>管理</a:t>
            </a:r>
            <a:endParaRPr sz="1350">
              <a:latin typeface="SimSun"/>
              <a:cs typeface="SimSun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1368276" y="3520312"/>
            <a:ext cx="1092200" cy="2324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50" spc="-155">
                <a:latin typeface="SimSun"/>
                <a:cs typeface="SimSun"/>
              </a:rPr>
              <a:t>园区级储能系统</a:t>
            </a:r>
            <a:endParaRPr sz="1350">
              <a:latin typeface="SimSun"/>
              <a:cs typeface="SimSun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5140176" y="3520312"/>
            <a:ext cx="939800" cy="2324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50" spc="-150">
                <a:latin typeface="SimSun"/>
                <a:cs typeface="SimSun"/>
              </a:rPr>
              <a:t>边缘计算节点</a:t>
            </a:r>
            <a:endParaRPr sz="1350">
              <a:latin typeface="SimSun"/>
              <a:cs typeface="SimSun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3292326" y="4053712"/>
            <a:ext cx="939800" cy="2324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50" spc="-150">
                <a:latin typeface="SimSun"/>
                <a:cs typeface="SimSun"/>
              </a:rPr>
              <a:t>智能管理平台</a:t>
            </a:r>
            <a:endParaRPr sz="1350">
              <a:latin typeface="SimSun"/>
              <a:cs typeface="SimSun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1404143" y="4551489"/>
            <a:ext cx="558800" cy="206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-100">
                <a:latin typeface="SimSun"/>
                <a:cs typeface="SimSun"/>
              </a:rPr>
              <a:t>光伏系统</a:t>
            </a:r>
            <a:endParaRPr sz="1150">
              <a:latin typeface="SimSun"/>
              <a:cs typeface="SimSun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5561805" y="4551489"/>
            <a:ext cx="558800" cy="206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-100">
                <a:latin typeface="SimSun"/>
                <a:cs typeface="SimSun"/>
              </a:rPr>
              <a:t>数据处理</a:t>
            </a:r>
            <a:endParaRPr sz="1150">
              <a:latin typeface="SimSun"/>
              <a:cs typeface="SimSun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2790031" y="4551489"/>
            <a:ext cx="1877060" cy="5543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1466215" algn="l"/>
              </a:tabLst>
            </a:pPr>
            <a:r>
              <a:rPr dirty="0" sz="1150" spc="-110">
                <a:latin typeface="SimSun"/>
                <a:cs typeface="SimSun"/>
              </a:rPr>
              <a:t>负荷管</a:t>
            </a:r>
            <a:r>
              <a:rPr dirty="0" sz="1150" spc="-50">
                <a:latin typeface="SimSun"/>
                <a:cs typeface="SimSun"/>
              </a:rPr>
              <a:t>理</a:t>
            </a:r>
            <a:r>
              <a:rPr dirty="0" sz="1150">
                <a:latin typeface="SimSun"/>
                <a:cs typeface="SimSun"/>
              </a:rPr>
              <a:t>	</a:t>
            </a:r>
            <a:r>
              <a:rPr dirty="0" sz="1050">
                <a:latin typeface="DejaVu Sans"/>
                <a:cs typeface="DejaVu Sans"/>
              </a:rPr>
              <a:t>AI</a:t>
            </a:r>
            <a:r>
              <a:rPr dirty="0" sz="1150" spc="-110">
                <a:latin typeface="SimSun"/>
                <a:cs typeface="SimSun"/>
              </a:rPr>
              <a:t>模</a:t>
            </a:r>
            <a:r>
              <a:rPr dirty="0" sz="1150" spc="-50">
                <a:latin typeface="SimSun"/>
                <a:cs typeface="SimSun"/>
              </a:rPr>
              <a:t>型</a:t>
            </a:r>
            <a:endParaRPr sz="1150">
              <a:latin typeface="SimSun"/>
              <a:cs typeface="SimSun"/>
            </a:endParaRPr>
          </a:p>
          <a:p>
            <a:pPr>
              <a:lnSpc>
                <a:spcPct val="100000"/>
              </a:lnSpc>
              <a:spcBef>
                <a:spcPts val="180"/>
              </a:spcBef>
            </a:pPr>
            <a:endParaRPr sz="1050">
              <a:latin typeface="SimSun"/>
              <a:cs typeface="SimSun"/>
            </a:endParaRPr>
          </a:p>
          <a:p>
            <a:pPr marL="295275">
              <a:lnSpc>
                <a:spcPct val="100000"/>
              </a:lnSpc>
            </a:pPr>
            <a:r>
              <a:rPr dirty="0" sz="1000" spc="-100">
                <a:solidFill>
                  <a:srgbClr val="6A7280"/>
                </a:solidFill>
                <a:latin typeface="SimSun"/>
                <a:cs typeface="SimSun"/>
              </a:rPr>
              <a:t>储能</a:t>
            </a:r>
            <a:r>
              <a:rPr dirty="0" sz="900">
                <a:solidFill>
                  <a:srgbClr val="6A7280"/>
                </a:solidFill>
                <a:latin typeface="DejaVu Sans"/>
                <a:cs typeface="DejaVu Sans"/>
              </a:rPr>
              <a:t>+</a:t>
            </a:r>
            <a:r>
              <a:rPr dirty="0" sz="1000" spc="-95">
                <a:solidFill>
                  <a:srgbClr val="6A7280"/>
                </a:solidFill>
                <a:latin typeface="SimSun"/>
                <a:cs typeface="SimSun"/>
              </a:rPr>
              <a:t>边缘计算系统架构图</a:t>
            </a:r>
            <a:endParaRPr sz="1000">
              <a:latin typeface="SimSun"/>
              <a:cs typeface="SimSun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7854950" y="1664461"/>
            <a:ext cx="1739900" cy="28765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700" spc="-210">
                <a:solidFill>
                  <a:srgbClr val="1F2937"/>
                </a:solidFill>
                <a:latin typeface="SimSun"/>
                <a:cs typeface="SimSun"/>
              </a:rPr>
              <a:t>核</a:t>
            </a:r>
            <a:r>
              <a:rPr dirty="0" sz="1700" spc="-210">
                <a:solidFill>
                  <a:srgbClr val="1F2937"/>
                </a:solidFill>
                <a:latin typeface="Meiryo"/>
                <a:cs typeface="Meiryo"/>
              </a:rPr>
              <a:t>⼼</a:t>
            </a:r>
            <a:r>
              <a:rPr dirty="0" sz="1700" spc="-210">
                <a:solidFill>
                  <a:srgbClr val="1F2937"/>
                </a:solidFill>
                <a:latin typeface="SimSun"/>
                <a:cs typeface="SimSun"/>
              </a:rPr>
              <a:t>应</a:t>
            </a:r>
            <a:r>
              <a:rPr dirty="0" sz="1700" spc="-210">
                <a:solidFill>
                  <a:srgbClr val="1F2937"/>
                </a:solidFill>
                <a:latin typeface="Meiryo"/>
                <a:cs typeface="Meiryo"/>
              </a:rPr>
              <a:t>⽤</a:t>
            </a:r>
            <a:r>
              <a:rPr dirty="0" sz="1700" spc="-195">
                <a:solidFill>
                  <a:srgbClr val="1F2937"/>
                </a:solidFill>
                <a:latin typeface="SimSun"/>
                <a:cs typeface="SimSun"/>
              </a:rPr>
              <a:t>场景与价值</a:t>
            </a:r>
            <a:endParaRPr sz="1700">
              <a:latin typeface="SimSun"/>
              <a:cs typeface="SimSun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7512050" y="2146274"/>
            <a:ext cx="3204210" cy="2355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峰</a:t>
            </a:r>
            <a:r>
              <a:rPr dirty="0" sz="1350" spc="-170">
                <a:solidFill>
                  <a:srgbClr val="374050"/>
                </a:solidFill>
                <a:latin typeface="Meiryo"/>
                <a:cs typeface="Meiryo"/>
              </a:rPr>
              <a:t>⾕</a:t>
            </a: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电价优化：降低园区</a:t>
            </a:r>
            <a:r>
              <a:rPr dirty="0" sz="1350" spc="-170">
                <a:solidFill>
                  <a:srgbClr val="374050"/>
                </a:solidFill>
                <a:latin typeface="Microsoft JhengHei"/>
                <a:cs typeface="Microsoft JhengHei"/>
              </a:rPr>
              <a:t>企</a:t>
            </a: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业</a:t>
            </a:r>
            <a:r>
              <a:rPr dirty="0" sz="1200">
                <a:solidFill>
                  <a:srgbClr val="374050"/>
                </a:solidFill>
                <a:latin typeface="DejaVu Sans"/>
                <a:cs typeface="DejaVu Sans"/>
              </a:rPr>
              <a:t>20-30%</a:t>
            </a:r>
            <a:r>
              <a:rPr dirty="0" sz="1350" spc="-170">
                <a:solidFill>
                  <a:srgbClr val="374050"/>
                </a:solidFill>
                <a:latin typeface="Microsoft JhengHei"/>
                <a:cs typeface="Microsoft JhengHei"/>
              </a:rPr>
              <a:t>电</a:t>
            </a: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费</a:t>
            </a:r>
            <a:r>
              <a:rPr dirty="0" sz="1350" spc="-170">
                <a:solidFill>
                  <a:srgbClr val="374050"/>
                </a:solidFill>
                <a:latin typeface="Meiryo"/>
                <a:cs typeface="Meiryo"/>
              </a:rPr>
              <a:t>⽀</a:t>
            </a:r>
            <a:r>
              <a:rPr dirty="0" sz="1350" spc="-50">
                <a:solidFill>
                  <a:srgbClr val="374050"/>
                </a:solidFill>
                <a:latin typeface="SimSun"/>
                <a:cs typeface="SimSun"/>
              </a:rPr>
              <a:t>出</a:t>
            </a:r>
            <a:endParaRPr sz="1350">
              <a:latin typeface="SimSun"/>
              <a:cs typeface="SimSun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7512050" y="2467412"/>
            <a:ext cx="3705860" cy="48514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 marR="5080">
              <a:lnSpc>
                <a:spcPct val="111100"/>
              </a:lnSpc>
              <a:spcBef>
                <a:spcPts val="114"/>
              </a:spcBef>
            </a:pP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本地</a:t>
            </a:r>
            <a:r>
              <a:rPr dirty="0" sz="1200" b="1">
                <a:solidFill>
                  <a:srgbClr val="374050"/>
                </a:solidFill>
                <a:latin typeface="DejaVu Sans"/>
                <a:cs typeface="DejaVu Sans"/>
              </a:rPr>
              <a:t>AI</a:t>
            </a: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算</a:t>
            </a:r>
            <a:r>
              <a:rPr dirty="0" sz="1350" spc="-170">
                <a:solidFill>
                  <a:srgbClr val="374050"/>
                </a:solidFill>
                <a:latin typeface="Meiryo"/>
                <a:cs typeface="Meiryo"/>
              </a:rPr>
              <a:t>⼒</a:t>
            </a: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：</a:t>
            </a:r>
            <a:r>
              <a:rPr dirty="0" sz="1350" spc="-170">
                <a:solidFill>
                  <a:srgbClr val="374050"/>
                </a:solidFill>
                <a:latin typeface="Meiryo"/>
                <a:cs typeface="Meiryo"/>
              </a:rPr>
              <a:t>⽀</a:t>
            </a: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持</a:t>
            </a:r>
            <a:r>
              <a:rPr dirty="0" sz="1350" spc="-170">
                <a:solidFill>
                  <a:srgbClr val="374050"/>
                </a:solidFill>
                <a:latin typeface="Meiryo"/>
                <a:cs typeface="Meiryo"/>
              </a:rPr>
              <a:t>⼤</a:t>
            </a: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模型本地部</a:t>
            </a:r>
            <a:r>
              <a:rPr dirty="0" sz="1350" spc="-170">
                <a:solidFill>
                  <a:srgbClr val="374050"/>
                </a:solidFill>
                <a:latin typeface="Meiryo"/>
                <a:cs typeface="Meiryo"/>
              </a:rPr>
              <a:t>署</a:t>
            </a: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，降低时延和出</a:t>
            </a:r>
            <a:r>
              <a:rPr dirty="0" sz="1350" spc="-170">
                <a:solidFill>
                  <a:srgbClr val="374050"/>
                </a:solidFill>
                <a:latin typeface="Meiryo"/>
                <a:cs typeface="Meiryo"/>
              </a:rPr>
              <a:t>⼝</a:t>
            </a:r>
            <a:r>
              <a:rPr dirty="0" sz="1350" spc="-50">
                <a:solidFill>
                  <a:srgbClr val="374050"/>
                </a:solidFill>
                <a:latin typeface="Microsoft JhengHei"/>
                <a:cs typeface="Microsoft JhengHei"/>
              </a:rPr>
              <a:t>带</a:t>
            </a:r>
            <a:r>
              <a:rPr dirty="0" sz="1350" spc="-50">
                <a:solidFill>
                  <a:srgbClr val="374050"/>
                </a:solidFill>
                <a:latin typeface="SimSun"/>
                <a:cs typeface="SimSun"/>
              </a:rPr>
              <a:t>宽</a:t>
            </a:r>
            <a:endParaRPr sz="1350">
              <a:latin typeface="SimSun"/>
              <a:cs typeface="SimSun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7512050" y="3060674"/>
            <a:ext cx="3223260" cy="2355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能源智能管理：结</a:t>
            </a:r>
            <a:r>
              <a:rPr dirty="0" sz="1350" spc="-170">
                <a:solidFill>
                  <a:srgbClr val="374050"/>
                </a:solidFill>
                <a:latin typeface="Meiryo"/>
                <a:cs typeface="Meiryo"/>
              </a:rPr>
              <a:t>合</a:t>
            </a:r>
            <a:r>
              <a:rPr dirty="0" sz="1200" spc="-10">
                <a:solidFill>
                  <a:srgbClr val="374050"/>
                </a:solidFill>
                <a:latin typeface="DejaVu Sans"/>
                <a:cs typeface="DejaVu Sans"/>
              </a:rPr>
              <a:t>AI</a:t>
            </a: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预测，</a:t>
            </a:r>
            <a:r>
              <a:rPr dirty="0" sz="1350" spc="-170">
                <a:solidFill>
                  <a:srgbClr val="374050"/>
                </a:solidFill>
                <a:latin typeface="Microsoft JhengHei"/>
                <a:cs typeface="Microsoft JhengHei"/>
              </a:rPr>
              <a:t>优</a:t>
            </a: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化能源使</a:t>
            </a:r>
            <a:r>
              <a:rPr dirty="0" sz="1350" spc="-170">
                <a:solidFill>
                  <a:srgbClr val="374050"/>
                </a:solidFill>
                <a:latin typeface="Microsoft JhengHei"/>
                <a:cs typeface="Microsoft JhengHei"/>
              </a:rPr>
              <a:t>⽤</a:t>
            </a:r>
            <a:r>
              <a:rPr dirty="0" sz="1350" spc="-170">
                <a:solidFill>
                  <a:srgbClr val="374050"/>
                </a:solidFill>
                <a:latin typeface="Meiryo"/>
                <a:cs typeface="Meiryo"/>
              </a:rPr>
              <a:t>效</a:t>
            </a:r>
            <a:r>
              <a:rPr dirty="0" sz="1350" spc="-50">
                <a:solidFill>
                  <a:srgbClr val="374050"/>
                </a:solidFill>
                <a:latin typeface="SimSun"/>
                <a:cs typeface="SimSun"/>
              </a:rPr>
              <a:t>率</a:t>
            </a:r>
            <a:endParaRPr sz="1350">
              <a:latin typeface="SimSun"/>
              <a:cs typeface="SimSun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7512050" y="3403574"/>
            <a:ext cx="3378835" cy="2355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可靠性保障：为园区关键设</a:t>
            </a:r>
            <a:r>
              <a:rPr dirty="0" sz="1350" spc="-170">
                <a:solidFill>
                  <a:srgbClr val="374050"/>
                </a:solidFill>
                <a:latin typeface="Meiryo"/>
                <a:cs typeface="Meiryo"/>
              </a:rPr>
              <a:t>施</a:t>
            </a: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提供不间</a:t>
            </a:r>
            <a:r>
              <a:rPr dirty="0" sz="1350" spc="-170">
                <a:solidFill>
                  <a:srgbClr val="374050"/>
                </a:solidFill>
                <a:latin typeface="Meiryo"/>
                <a:cs typeface="Meiryo"/>
              </a:rPr>
              <a:t>断</a:t>
            </a:r>
            <a:r>
              <a:rPr dirty="0" sz="1350" spc="-170">
                <a:solidFill>
                  <a:srgbClr val="374050"/>
                </a:solidFill>
                <a:latin typeface="Microsoft JhengHei"/>
                <a:cs typeface="Microsoft JhengHei"/>
              </a:rPr>
              <a:t>电⼒</a:t>
            </a:r>
            <a:r>
              <a:rPr dirty="0" sz="1350" spc="-114">
                <a:solidFill>
                  <a:srgbClr val="374050"/>
                </a:solidFill>
                <a:latin typeface="SimSun"/>
                <a:cs typeface="SimSun"/>
              </a:rPr>
              <a:t>保障</a:t>
            </a:r>
            <a:endParaRPr sz="1350">
              <a:latin typeface="SimSun"/>
              <a:cs typeface="SimSun"/>
            </a:endParaRPr>
          </a:p>
        </p:txBody>
      </p:sp>
      <p:grpSp>
        <p:nvGrpSpPr>
          <p:cNvPr id="20" name="object 20" descr=""/>
          <p:cNvGrpSpPr/>
          <p:nvPr/>
        </p:nvGrpSpPr>
        <p:grpSpPr>
          <a:xfrm>
            <a:off x="609599" y="5714999"/>
            <a:ext cx="4438650" cy="1143000"/>
            <a:chOff x="609599" y="5714999"/>
            <a:chExt cx="4438650" cy="1143000"/>
          </a:xfrm>
        </p:grpSpPr>
        <p:sp>
          <p:nvSpPr>
            <p:cNvPr id="21" name="object 21" descr=""/>
            <p:cNvSpPr/>
            <p:nvPr/>
          </p:nvSpPr>
          <p:spPr>
            <a:xfrm>
              <a:off x="609599" y="5714999"/>
              <a:ext cx="4438650" cy="1143000"/>
            </a:xfrm>
            <a:custGeom>
              <a:avLst/>
              <a:gdLst/>
              <a:ahLst/>
              <a:cxnLst/>
              <a:rect l="l" t="t" r="r" b="b"/>
              <a:pathLst>
                <a:path w="4438650" h="1143000">
                  <a:moveTo>
                    <a:pt x="4438649" y="1143000"/>
                  </a:moveTo>
                  <a:lnTo>
                    <a:pt x="0" y="1143000"/>
                  </a:lnTo>
                  <a:lnTo>
                    <a:pt x="0" y="106794"/>
                  </a:lnTo>
                  <a:lnTo>
                    <a:pt x="11572" y="63624"/>
                  </a:lnTo>
                  <a:lnTo>
                    <a:pt x="38784" y="28170"/>
                  </a:lnTo>
                  <a:lnTo>
                    <a:pt x="77493" y="5828"/>
                  </a:lnTo>
                  <a:lnTo>
                    <a:pt x="106795" y="0"/>
                  </a:lnTo>
                  <a:lnTo>
                    <a:pt x="4331854" y="0"/>
                  </a:lnTo>
                  <a:lnTo>
                    <a:pt x="4375023" y="11571"/>
                  </a:lnTo>
                  <a:lnTo>
                    <a:pt x="4410477" y="38784"/>
                  </a:lnTo>
                  <a:lnTo>
                    <a:pt x="4432820" y="77492"/>
                  </a:lnTo>
                  <a:lnTo>
                    <a:pt x="4438649" y="106794"/>
                  </a:lnTo>
                  <a:lnTo>
                    <a:pt x="4438649" y="1143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838199" y="5943599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90499" y="380999"/>
                  </a:moveTo>
                  <a:lnTo>
                    <a:pt x="144200" y="375289"/>
                  </a:lnTo>
                  <a:lnTo>
                    <a:pt x="100697" y="358507"/>
                  </a:lnTo>
                  <a:lnTo>
                    <a:pt x="62575" y="331659"/>
                  </a:lnTo>
                  <a:lnTo>
                    <a:pt x="32105" y="296335"/>
                  </a:lnTo>
                  <a:lnTo>
                    <a:pt x="11130" y="254666"/>
                  </a:lnTo>
                  <a:lnTo>
                    <a:pt x="915" y="209172"/>
                  </a:lnTo>
                  <a:lnTo>
                    <a:pt x="0" y="190499"/>
                  </a:lnTo>
                  <a:lnTo>
                    <a:pt x="228" y="181141"/>
                  </a:lnTo>
                  <a:lnTo>
                    <a:pt x="8200" y="135199"/>
                  </a:lnTo>
                  <a:lnTo>
                    <a:pt x="27095" y="92572"/>
                  </a:lnTo>
                  <a:lnTo>
                    <a:pt x="55796" y="55796"/>
                  </a:lnTo>
                  <a:lnTo>
                    <a:pt x="92572" y="27095"/>
                  </a:lnTo>
                  <a:lnTo>
                    <a:pt x="135200" y="8200"/>
                  </a:lnTo>
                  <a:lnTo>
                    <a:pt x="181141" y="228"/>
                  </a:lnTo>
                  <a:lnTo>
                    <a:pt x="190499" y="0"/>
                  </a:lnTo>
                  <a:lnTo>
                    <a:pt x="199858" y="228"/>
                  </a:lnTo>
                  <a:lnTo>
                    <a:pt x="245799" y="8200"/>
                  </a:lnTo>
                  <a:lnTo>
                    <a:pt x="288427" y="27095"/>
                  </a:lnTo>
                  <a:lnTo>
                    <a:pt x="325203" y="55796"/>
                  </a:lnTo>
                  <a:lnTo>
                    <a:pt x="353904" y="92572"/>
                  </a:lnTo>
                  <a:lnTo>
                    <a:pt x="372799" y="135199"/>
                  </a:lnTo>
                  <a:lnTo>
                    <a:pt x="380771" y="181141"/>
                  </a:lnTo>
                  <a:lnTo>
                    <a:pt x="380999" y="190499"/>
                  </a:lnTo>
                  <a:lnTo>
                    <a:pt x="380771" y="199858"/>
                  </a:lnTo>
                  <a:lnTo>
                    <a:pt x="372799" y="245799"/>
                  </a:lnTo>
                  <a:lnTo>
                    <a:pt x="353904" y="288426"/>
                  </a:lnTo>
                  <a:lnTo>
                    <a:pt x="325203" y="325203"/>
                  </a:lnTo>
                  <a:lnTo>
                    <a:pt x="288427" y="353903"/>
                  </a:lnTo>
                  <a:lnTo>
                    <a:pt x="245799" y="372799"/>
                  </a:lnTo>
                  <a:lnTo>
                    <a:pt x="199858" y="380771"/>
                  </a:lnTo>
                  <a:lnTo>
                    <a:pt x="190499" y="380999"/>
                  </a:lnTo>
                  <a:close/>
                </a:path>
              </a:pathLst>
            </a:custGeom>
            <a:solidFill>
              <a:srgbClr val="ECE8F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3" name="object 23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35831" y="6038849"/>
              <a:ext cx="202034" cy="190499"/>
            </a:xfrm>
            <a:prstGeom prst="rect">
              <a:avLst/>
            </a:prstGeom>
          </p:spPr>
        </p:pic>
      </p:grpSp>
      <p:sp>
        <p:nvSpPr>
          <p:cNvPr id="24" name="object 24" descr=""/>
          <p:cNvSpPr txBox="1"/>
          <p:nvPr/>
        </p:nvSpPr>
        <p:spPr>
          <a:xfrm>
            <a:off x="1320799" y="5969761"/>
            <a:ext cx="1739900" cy="28765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700" spc="-210">
                <a:solidFill>
                  <a:srgbClr val="1F2937"/>
                </a:solidFill>
                <a:latin typeface="Meiryo"/>
                <a:cs typeface="Meiryo"/>
              </a:rPr>
              <a:t>⽰</a:t>
            </a:r>
            <a:r>
              <a:rPr dirty="0" sz="1700" spc="-200">
                <a:solidFill>
                  <a:srgbClr val="1F2937"/>
                </a:solidFill>
                <a:latin typeface="SimSun"/>
                <a:cs typeface="SimSun"/>
              </a:rPr>
              <a:t>范效应与商业模式</a:t>
            </a:r>
            <a:endParaRPr sz="1700">
              <a:latin typeface="SimSun"/>
              <a:cs typeface="SimSun"/>
            </a:endParaRPr>
          </a:p>
        </p:txBody>
      </p:sp>
      <p:sp>
        <p:nvSpPr>
          <p:cNvPr id="25" name="object 25" descr=""/>
          <p:cNvSpPr/>
          <p:nvPr/>
        </p:nvSpPr>
        <p:spPr>
          <a:xfrm>
            <a:off x="838199" y="6591299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21576" y="38099"/>
                </a:moveTo>
                <a:lnTo>
                  <a:pt x="16523" y="38099"/>
                </a:lnTo>
                <a:lnTo>
                  <a:pt x="14093" y="37615"/>
                </a:lnTo>
                <a:lnTo>
                  <a:pt x="0" y="21576"/>
                </a:lnTo>
                <a:lnTo>
                  <a:pt x="0" y="16523"/>
                </a:lnTo>
                <a:lnTo>
                  <a:pt x="16523" y="0"/>
                </a:lnTo>
                <a:lnTo>
                  <a:pt x="21576" y="0"/>
                </a:lnTo>
                <a:lnTo>
                  <a:pt x="38100" y="19049"/>
                </a:lnTo>
                <a:lnTo>
                  <a:pt x="38099" y="21576"/>
                </a:lnTo>
                <a:lnTo>
                  <a:pt x="21576" y="38099"/>
                </a:lnTo>
                <a:close/>
              </a:path>
            </a:pathLst>
          </a:custGeom>
          <a:solidFill>
            <a:srgbClr val="8B5CF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 descr=""/>
          <p:cNvSpPr txBox="1"/>
          <p:nvPr/>
        </p:nvSpPr>
        <p:spPr>
          <a:xfrm>
            <a:off x="977900" y="6451574"/>
            <a:ext cx="3074035" cy="2355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园区内部验证：形成</a:t>
            </a:r>
            <a:r>
              <a:rPr dirty="0" sz="1350" spc="-170">
                <a:solidFill>
                  <a:srgbClr val="374050"/>
                </a:solidFill>
                <a:latin typeface="Meiryo"/>
                <a:cs typeface="Meiryo"/>
              </a:rPr>
              <a:t>可</a:t>
            </a:r>
            <a:r>
              <a:rPr dirty="0" sz="1350" spc="-160">
                <a:solidFill>
                  <a:srgbClr val="374050"/>
                </a:solidFill>
                <a:latin typeface="SimSun"/>
                <a:cs typeface="SimSun"/>
              </a:rPr>
              <a:t>复制的技术与管理经验</a:t>
            </a:r>
            <a:endParaRPr sz="1350">
              <a:latin typeface="SimSun"/>
              <a:cs typeface="SimSun"/>
            </a:endParaRPr>
          </a:p>
        </p:txBody>
      </p:sp>
      <p:sp>
        <p:nvSpPr>
          <p:cNvPr id="27" name="object 27" descr=""/>
          <p:cNvSpPr/>
          <p:nvPr/>
        </p:nvSpPr>
        <p:spPr>
          <a:xfrm>
            <a:off x="1828787" y="6362700"/>
            <a:ext cx="2057400" cy="190500"/>
          </a:xfrm>
          <a:custGeom>
            <a:avLst/>
            <a:gdLst/>
            <a:ahLst/>
            <a:cxnLst/>
            <a:rect l="l" t="t" r="r" b="b"/>
            <a:pathLst>
              <a:path w="2057400" h="190500">
                <a:moveTo>
                  <a:pt x="9525" y="0"/>
                </a:moveTo>
                <a:lnTo>
                  <a:pt x="0" y="0"/>
                </a:lnTo>
                <a:lnTo>
                  <a:pt x="0" y="190500"/>
                </a:lnTo>
                <a:lnTo>
                  <a:pt x="9525" y="190500"/>
                </a:lnTo>
                <a:lnTo>
                  <a:pt x="9525" y="0"/>
                </a:lnTo>
                <a:close/>
              </a:path>
              <a:path w="2057400" h="190500">
                <a:moveTo>
                  <a:pt x="2057400" y="0"/>
                </a:moveTo>
                <a:lnTo>
                  <a:pt x="2047875" y="0"/>
                </a:lnTo>
                <a:lnTo>
                  <a:pt x="2047875" y="190500"/>
                </a:lnTo>
                <a:lnTo>
                  <a:pt x="2057400" y="190500"/>
                </a:lnTo>
                <a:lnTo>
                  <a:pt x="2057400" y="0"/>
                </a:lnTo>
                <a:close/>
              </a:path>
            </a:pathLst>
          </a:custGeom>
          <a:solidFill>
            <a:srgbClr val="D0D5D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 descr=""/>
          <p:cNvSpPr txBox="1"/>
          <p:nvPr/>
        </p:nvSpPr>
        <p:spPr>
          <a:xfrm>
            <a:off x="596899" y="6342189"/>
            <a:ext cx="3140075" cy="206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1393190" algn="l"/>
              </a:tabLst>
            </a:pPr>
            <a:r>
              <a:rPr dirty="0" sz="1150" spc="-110">
                <a:solidFill>
                  <a:srgbClr val="6A7280"/>
                </a:solidFill>
                <a:latin typeface="SimSun"/>
                <a:cs typeface="SimSun"/>
              </a:rPr>
              <a:t>四川能投智慧光</a:t>
            </a:r>
            <a:r>
              <a:rPr dirty="0" sz="1150" spc="-50">
                <a:solidFill>
                  <a:srgbClr val="6A7280"/>
                </a:solidFill>
                <a:latin typeface="Microsoft JhengHei"/>
                <a:cs typeface="Microsoft JhengHei"/>
              </a:rPr>
              <a:t>电</a:t>
            </a:r>
            <a:r>
              <a:rPr dirty="0" sz="1150">
                <a:solidFill>
                  <a:srgbClr val="6A7280"/>
                </a:solidFill>
                <a:latin typeface="Microsoft JhengHei"/>
                <a:cs typeface="Microsoft JhengHei"/>
              </a:rPr>
              <a:t>	</a:t>
            </a:r>
            <a:r>
              <a:rPr dirty="0" sz="1150" spc="-110">
                <a:solidFill>
                  <a:srgbClr val="6A7280"/>
                </a:solidFill>
                <a:latin typeface="Microsoft JhengHei"/>
                <a:cs typeface="Microsoft JhengHei"/>
              </a:rPr>
              <a:t>电</a:t>
            </a:r>
            <a:r>
              <a:rPr dirty="0" sz="1150" spc="-110">
                <a:solidFill>
                  <a:srgbClr val="6A7280"/>
                </a:solidFill>
                <a:latin typeface="Meiryo"/>
                <a:cs typeface="Meiryo"/>
              </a:rPr>
              <a:t>⼦</a:t>
            </a:r>
            <a:r>
              <a:rPr dirty="0" sz="1150" spc="-110">
                <a:solidFill>
                  <a:srgbClr val="6A7280"/>
                </a:solidFill>
                <a:latin typeface="SimSun"/>
                <a:cs typeface="SimSun"/>
              </a:rPr>
              <a:t>科</a:t>
            </a:r>
            <a:r>
              <a:rPr dirty="0" sz="1150" spc="-110">
                <a:solidFill>
                  <a:srgbClr val="6A7280"/>
                </a:solidFill>
                <a:latin typeface="Meiryo"/>
                <a:cs typeface="Meiryo"/>
              </a:rPr>
              <a:t>⼤</a:t>
            </a:r>
            <a:r>
              <a:rPr dirty="0" sz="1150" spc="-110">
                <a:solidFill>
                  <a:srgbClr val="6A7280"/>
                </a:solidFill>
                <a:latin typeface="SimSun"/>
                <a:cs typeface="SimSun"/>
              </a:rPr>
              <a:t>科技园（菁蓉基地</a:t>
            </a:r>
            <a:r>
              <a:rPr dirty="0" sz="1150" spc="-50">
                <a:solidFill>
                  <a:srgbClr val="6A7280"/>
                </a:solidFill>
                <a:latin typeface="SimSun"/>
                <a:cs typeface="SimSun"/>
              </a:rPr>
              <a:t>）</a:t>
            </a:r>
            <a:endParaRPr sz="1150">
              <a:latin typeface="SimSun"/>
              <a:cs typeface="SimSun"/>
            </a:endParaRPr>
          </a:p>
        </p:txBody>
      </p:sp>
      <p:sp>
        <p:nvSpPr>
          <p:cNvPr id="29" name="object 29" descr=""/>
          <p:cNvSpPr txBox="1"/>
          <p:nvPr/>
        </p:nvSpPr>
        <p:spPr>
          <a:xfrm>
            <a:off x="4025900" y="6342189"/>
            <a:ext cx="1358900" cy="206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-110">
                <a:solidFill>
                  <a:srgbClr val="6A7280"/>
                </a:solidFill>
                <a:latin typeface="SimSun"/>
                <a:cs typeface="SimSun"/>
              </a:rPr>
              <a:t>智慧产业</a:t>
            </a:r>
            <a:r>
              <a:rPr dirty="0" sz="1150" spc="-110">
                <a:solidFill>
                  <a:srgbClr val="6A7280"/>
                </a:solidFill>
                <a:latin typeface="Microsoft JhengHei"/>
                <a:cs typeface="Microsoft JhengHei"/>
              </a:rPr>
              <a:t>⽣</a:t>
            </a:r>
            <a:r>
              <a:rPr dirty="0" sz="1150" spc="-110">
                <a:solidFill>
                  <a:srgbClr val="6A7280"/>
                </a:solidFill>
                <a:latin typeface="SimSun"/>
                <a:cs typeface="SimSun"/>
              </a:rPr>
              <a:t>态合作</a:t>
            </a:r>
            <a:r>
              <a:rPr dirty="0" sz="1150" spc="-110">
                <a:solidFill>
                  <a:srgbClr val="6A7280"/>
                </a:solidFill>
                <a:latin typeface="Meiryo"/>
                <a:cs typeface="Meiryo"/>
              </a:rPr>
              <a:t>⽅</a:t>
            </a:r>
            <a:r>
              <a:rPr dirty="0" sz="1150" spc="-50">
                <a:solidFill>
                  <a:srgbClr val="6A7280"/>
                </a:solidFill>
                <a:latin typeface="SimSun"/>
                <a:cs typeface="SimSun"/>
              </a:rPr>
              <a:t>案</a:t>
            </a:r>
            <a:endParaRPr sz="1150">
              <a:latin typeface="SimSun"/>
              <a:cs typeface="SimSun"/>
            </a:endParaRPr>
          </a:p>
        </p:txBody>
      </p:sp>
      <p:pic>
        <p:nvPicPr>
          <p:cNvPr id="30" name="object 30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439397" y="6476999"/>
            <a:ext cx="76201" cy="76199"/>
          </a:xfrm>
          <a:prstGeom prst="rect">
            <a:avLst/>
          </a:prstGeom>
        </p:spPr>
      </p:pic>
      <p:grpSp>
        <p:nvGrpSpPr>
          <p:cNvPr id="31" name="object 31" descr=""/>
          <p:cNvGrpSpPr/>
          <p:nvPr/>
        </p:nvGrpSpPr>
        <p:grpSpPr>
          <a:xfrm>
            <a:off x="10591797" y="6343649"/>
            <a:ext cx="1409700" cy="323850"/>
            <a:chOff x="10591797" y="6343649"/>
            <a:chExt cx="1409700" cy="323850"/>
          </a:xfrm>
        </p:grpSpPr>
        <p:sp>
          <p:nvSpPr>
            <p:cNvPr id="32" name="object 32" descr=""/>
            <p:cNvSpPr/>
            <p:nvPr/>
          </p:nvSpPr>
          <p:spPr>
            <a:xfrm>
              <a:off x="10591797" y="6476999"/>
              <a:ext cx="304800" cy="76200"/>
            </a:xfrm>
            <a:custGeom>
              <a:avLst/>
              <a:gdLst/>
              <a:ahLst/>
              <a:cxnLst/>
              <a:rect l="l" t="t" r="r" b="b"/>
              <a:pathLst>
                <a:path w="304800" h="76200">
                  <a:moveTo>
                    <a:pt x="271753" y="76199"/>
                  </a:moveTo>
                  <a:lnTo>
                    <a:pt x="33047" y="76199"/>
                  </a:lnTo>
                  <a:lnTo>
                    <a:pt x="28187" y="75232"/>
                  </a:lnTo>
                  <a:lnTo>
                    <a:pt x="966" y="48012"/>
                  </a:lnTo>
                  <a:lnTo>
                    <a:pt x="0" y="43152"/>
                  </a:lnTo>
                  <a:lnTo>
                    <a:pt x="1" y="3809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271753" y="0"/>
                  </a:lnTo>
                  <a:lnTo>
                    <a:pt x="303833" y="28186"/>
                  </a:lnTo>
                  <a:lnTo>
                    <a:pt x="304799" y="33047"/>
                  </a:lnTo>
                  <a:lnTo>
                    <a:pt x="304799" y="43152"/>
                  </a:lnTo>
                  <a:lnTo>
                    <a:pt x="276612" y="75232"/>
                  </a:lnTo>
                  <a:lnTo>
                    <a:pt x="271753" y="76199"/>
                  </a:lnTo>
                  <a:close/>
                </a:path>
              </a:pathLst>
            </a:custGeom>
            <a:solidFill>
              <a:srgbClr val="60A5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10972797" y="6476999"/>
              <a:ext cx="609600" cy="76200"/>
            </a:xfrm>
            <a:custGeom>
              <a:avLst/>
              <a:gdLst/>
              <a:ahLst/>
              <a:cxnLst/>
              <a:rect l="l" t="t" r="r" b="b"/>
              <a:pathLst>
                <a:path w="609600" h="76200">
                  <a:moveTo>
                    <a:pt x="576553" y="76199"/>
                  </a:moveTo>
                  <a:lnTo>
                    <a:pt x="33047" y="76199"/>
                  </a:lnTo>
                  <a:lnTo>
                    <a:pt x="28186" y="75232"/>
                  </a:lnTo>
                  <a:lnTo>
                    <a:pt x="967" y="48012"/>
                  </a:lnTo>
                  <a:lnTo>
                    <a:pt x="0" y="43152"/>
                  </a:lnTo>
                  <a:lnTo>
                    <a:pt x="1" y="38099"/>
                  </a:lnTo>
                  <a:lnTo>
                    <a:pt x="0" y="33047"/>
                  </a:lnTo>
                  <a:lnTo>
                    <a:pt x="28186" y="966"/>
                  </a:lnTo>
                  <a:lnTo>
                    <a:pt x="33047" y="0"/>
                  </a:lnTo>
                  <a:lnTo>
                    <a:pt x="576553" y="0"/>
                  </a:lnTo>
                  <a:lnTo>
                    <a:pt x="608632" y="28186"/>
                  </a:lnTo>
                  <a:lnTo>
                    <a:pt x="609599" y="33047"/>
                  </a:lnTo>
                  <a:lnTo>
                    <a:pt x="609599" y="43152"/>
                  </a:lnTo>
                  <a:lnTo>
                    <a:pt x="581412" y="75232"/>
                  </a:lnTo>
                  <a:lnTo>
                    <a:pt x="576553" y="76199"/>
                  </a:lnTo>
                  <a:close/>
                </a:path>
              </a:pathLst>
            </a:custGeom>
            <a:solidFill>
              <a:srgbClr val="93C4F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10620374" y="6343649"/>
              <a:ext cx="1381125" cy="323850"/>
            </a:xfrm>
            <a:custGeom>
              <a:avLst/>
              <a:gdLst/>
              <a:ahLst/>
              <a:cxnLst/>
              <a:rect l="l" t="t" r="r" b="b"/>
              <a:pathLst>
                <a:path w="1381125" h="323850">
                  <a:moveTo>
                    <a:pt x="1348077" y="323849"/>
                  </a:moveTo>
                  <a:lnTo>
                    <a:pt x="33047" y="323849"/>
                  </a:lnTo>
                  <a:lnTo>
                    <a:pt x="28187" y="322883"/>
                  </a:lnTo>
                  <a:lnTo>
                    <a:pt x="966" y="295662"/>
                  </a:lnTo>
                  <a:lnTo>
                    <a:pt x="0" y="290802"/>
                  </a:lnTo>
                  <a:lnTo>
                    <a:pt x="0" y="28574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1348077" y="0"/>
                  </a:lnTo>
                  <a:lnTo>
                    <a:pt x="1380157" y="28187"/>
                  </a:lnTo>
                  <a:lnTo>
                    <a:pt x="1381124" y="33047"/>
                  </a:lnTo>
                  <a:lnTo>
                    <a:pt x="1381124" y="290802"/>
                  </a:lnTo>
                  <a:lnTo>
                    <a:pt x="1352937" y="322883"/>
                  </a:lnTo>
                  <a:lnTo>
                    <a:pt x="1348077" y="323849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5" name="object 35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734674" y="6438899"/>
              <a:ext cx="133349" cy="133349"/>
            </a:xfrm>
            <a:prstGeom prst="rect">
              <a:avLst/>
            </a:prstGeom>
          </p:spPr>
        </p:pic>
      </p:grpSp>
      <p:sp>
        <p:nvSpPr>
          <p:cNvPr id="36" name="object 36" descr=""/>
          <p:cNvSpPr txBox="1"/>
          <p:nvPr/>
        </p:nvSpPr>
        <p:spPr>
          <a:xfrm>
            <a:off x="10912176" y="6401815"/>
            <a:ext cx="988060" cy="18097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000" spc="-160">
                <a:solidFill>
                  <a:srgbClr val="FFFFFF"/>
                </a:solidFill>
                <a:latin typeface="SimSun"/>
                <a:cs typeface="SimSun"/>
              </a:rPr>
              <a:t>由 </a:t>
            </a:r>
            <a:r>
              <a:rPr dirty="0" sz="900">
                <a:solidFill>
                  <a:srgbClr val="FFFFFF"/>
                </a:solidFill>
                <a:latin typeface="DejaVu Sans"/>
                <a:cs typeface="DejaVu Sans"/>
              </a:rPr>
              <a:t>Genspark</a:t>
            </a:r>
            <a:r>
              <a:rPr dirty="0" sz="900" spc="-45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000" spc="-75">
                <a:solidFill>
                  <a:srgbClr val="FFFFFF"/>
                </a:solidFill>
                <a:latin typeface="SimSun"/>
                <a:cs typeface="SimSun"/>
              </a:rPr>
              <a:t>制作</a:t>
            </a:r>
            <a:endParaRPr sz="1000">
              <a:latin typeface="SimSun"/>
              <a:cs typeface="SimSu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370"/>
              <a:t>运营</a:t>
            </a:r>
            <a:r>
              <a:rPr dirty="0" spc="-370">
                <a:latin typeface="BIZ UDPGothic"/>
                <a:cs typeface="BIZ UDPGothic"/>
              </a:rPr>
              <a:t>策略与机制</a:t>
            </a:r>
            <a:r>
              <a:rPr dirty="0" spc="-395"/>
              <a:t>设计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609599" y="1409699"/>
            <a:ext cx="6305550" cy="4381500"/>
            <a:chOff x="609599" y="1409699"/>
            <a:chExt cx="6305550" cy="4381500"/>
          </a:xfrm>
        </p:grpSpPr>
        <p:sp>
          <p:nvSpPr>
            <p:cNvPr id="4" name="object 4" descr=""/>
            <p:cNvSpPr/>
            <p:nvPr/>
          </p:nvSpPr>
          <p:spPr>
            <a:xfrm>
              <a:off x="609599" y="1409699"/>
              <a:ext cx="6305550" cy="4381500"/>
            </a:xfrm>
            <a:custGeom>
              <a:avLst/>
              <a:gdLst/>
              <a:ahLst/>
              <a:cxnLst/>
              <a:rect l="l" t="t" r="r" b="b"/>
              <a:pathLst>
                <a:path w="6305550" h="4381500">
                  <a:moveTo>
                    <a:pt x="6198754" y="4381499"/>
                  </a:moveTo>
                  <a:lnTo>
                    <a:pt x="106795" y="4381499"/>
                  </a:lnTo>
                  <a:lnTo>
                    <a:pt x="99362" y="4380767"/>
                  </a:lnTo>
                  <a:lnTo>
                    <a:pt x="57038" y="4366405"/>
                  </a:lnTo>
                  <a:lnTo>
                    <a:pt x="23432" y="4336940"/>
                  </a:lnTo>
                  <a:lnTo>
                    <a:pt x="3660" y="4296858"/>
                  </a:lnTo>
                  <a:lnTo>
                    <a:pt x="0" y="4274704"/>
                  </a:lnTo>
                  <a:lnTo>
                    <a:pt x="0" y="4267199"/>
                  </a:lnTo>
                  <a:lnTo>
                    <a:pt x="0" y="106794"/>
                  </a:lnTo>
                  <a:lnTo>
                    <a:pt x="11572" y="63625"/>
                  </a:lnTo>
                  <a:lnTo>
                    <a:pt x="38784" y="28170"/>
                  </a:lnTo>
                  <a:lnTo>
                    <a:pt x="77493" y="5828"/>
                  </a:lnTo>
                  <a:lnTo>
                    <a:pt x="106795" y="0"/>
                  </a:lnTo>
                  <a:lnTo>
                    <a:pt x="6198754" y="0"/>
                  </a:lnTo>
                  <a:lnTo>
                    <a:pt x="6241923" y="11572"/>
                  </a:lnTo>
                  <a:lnTo>
                    <a:pt x="6277378" y="38784"/>
                  </a:lnTo>
                  <a:lnTo>
                    <a:pt x="6299720" y="77492"/>
                  </a:lnTo>
                  <a:lnTo>
                    <a:pt x="6305548" y="106794"/>
                  </a:lnTo>
                  <a:lnTo>
                    <a:pt x="6305548" y="4274704"/>
                  </a:lnTo>
                  <a:lnTo>
                    <a:pt x="6293976" y="4317873"/>
                  </a:lnTo>
                  <a:lnTo>
                    <a:pt x="6266764" y="4353328"/>
                  </a:lnTo>
                  <a:lnTo>
                    <a:pt x="6228056" y="4375670"/>
                  </a:lnTo>
                  <a:lnTo>
                    <a:pt x="6206187" y="4380767"/>
                  </a:lnTo>
                  <a:lnTo>
                    <a:pt x="6198754" y="43814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838199" y="1638299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36086" y="457199"/>
                  </a:moveTo>
                  <a:lnTo>
                    <a:pt x="221113" y="457199"/>
                  </a:lnTo>
                  <a:lnTo>
                    <a:pt x="213644" y="456832"/>
                  </a:lnTo>
                  <a:lnTo>
                    <a:pt x="169405" y="449529"/>
                  </a:lnTo>
                  <a:lnTo>
                    <a:pt x="127441" y="433736"/>
                  </a:lnTo>
                  <a:lnTo>
                    <a:pt x="89365" y="410059"/>
                  </a:lnTo>
                  <a:lnTo>
                    <a:pt x="56639" y="379409"/>
                  </a:lnTo>
                  <a:lnTo>
                    <a:pt x="30522" y="342963"/>
                  </a:lnTo>
                  <a:lnTo>
                    <a:pt x="12016" y="302123"/>
                  </a:lnTo>
                  <a:lnTo>
                    <a:pt x="1834" y="258457"/>
                  </a:lnTo>
                  <a:lnTo>
                    <a:pt x="0" y="236087"/>
                  </a:lnTo>
                  <a:lnTo>
                    <a:pt x="0" y="221113"/>
                  </a:lnTo>
                  <a:lnTo>
                    <a:pt x="5853" y="176659"/>
                  </a:lnTo>
                  <a:lnTo>
                    <a:pt x="20266" y="134201"/>
                  </a:lnTo>
                  <a:lnTo>
                    <a:pt x="42685" y="95371"/>
                  </a:lnTo>
                  <a:lnTo>
                    <a:pt x="72249" y="61661"/>
                  </a:lnTo>
                  <a:lnTo>
                    <a:pt x="107821" y="34366"/>
                  </a:lnTo>
                  <a:lnTo>
                    <a:pt x="148035" y="14535"/>
                  </a:lnTo>
                  <a:lnTo>
                    <a:pt x="191345" y="2931"/>
                  </a:lnTo>
                  <a:lnTo>
                    <a:pt x="221113" y="0"/>
                  </a:lnTo>
                  <a:lnTo>
                    <a:pt x="236086" y="0"/>
                  </a:lnTo>
                  <a:lnTo>
                    <a:pt x="280540" y="5853"/>
                  </a:lnTo>
                  <a:lnTo>
                    <a:pt x="322998" y="20266"/>
                  </a:lnTo>
                  <a:lnTo>
                    <a:pt x="361828" y="42685"/>
                  </a:lnTo>
                  <a:lnTo>
                    <a:pt x="395538" y="72249"/>
                  </a:lnTo>
                  <a:lnTo>
                    <a:pt x="422833" y="107821"/>
                  </a:lnTo>
                  <a:lnTo>
                    <a:pt x="442663" y="148035"/>
                  </a:lnTo>
                  <a:lnTo>
                    <a:pt x="454268" y="191345"/>
                  </a:lnTo>
                  <a:lnTo>
                    <a:pt x="457199" y="221113"/>
                  </a:lnTo>
                  <a:lnTo>
                    <a:pt x="457199" y="228599"/>
                  </a:lnTo>
                  <a:lnTo>
                    <a:pt x="457199" y="236087"/>
                  </a:lnTo>
                  <a:lnTo>
                    <a:pt x="451346" y="280540"/>
                  </a:lnTo>
                  <a:lnTo>
                    <a:pt x="436933" y="322998"/>
                  </a:lnTo>
                  <a:lnTo>
                    <a:pt x="414514" y="361828"/>
                  </a:lnTo>
                  <a:lnTo>
                    <a:pt x="384950" y="395538"/>
                  </a:lnTo>
                  <a:lnTo>
                    <a:pt x="349378" y="422833"/>
                  </a:lnTo>
                  <a:lnTo>
                    <a:pt x="309164" y="442663"/>
                  </a:lnTo>
                  <a:lnTo>
                    <a:pt x="265854" y="454267"/>
                  </a:lnTo>
                  <a:lnTo>
                    <a:pt x="243555" y="456832"/>
                  </a:lnTo>
                  <a:lnTo>
                    <a:pt x="236086" y="457199"/>
                  </a:lnTo>
                  <a:close/>
                </a:path>
              </a:pathLst>
            </a:custGeom>
            <a:solidFill>
              <a:srgbClr val="DAE9F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942974" y="1766887"/>
              <a:ext cx="257175" cy="200025"/>
            </a:xfrm>
            <a:custGeom>
              <a:avLst/>
              <a:gdLst/>
              <a:ahLst/>
              <a:cxnLst/>
              <a:rect l="l" t="t" r="r" b="b"/>
              <a:pathLst>
                <a:path w="257175" h="200025">
                  <a:moveTo>
                    <a:pt x="235743" y="200025"/>
                  </a:moveTo>
                  <a:lnTo>
                    <a:pt x="207168" y="200025"/>
                  </a:lnTo>
                  <a:lnTo>
                    <a:pt x="198828" y="198340"/>
                  </a:lnTo>
                  <a:lnTo>
                    <a:pt x="192016" y="193746"/>
                  </a:lnTo>
                  <a:lnTo>
                    <a:pt x="187422" y="186933"/>
                  </a:lnTo>
                  <a:lnTo>
                    <a:pt x="185737" y="178593"/>
                  </a:lnTo>
                  <a:lnTo>
                    <a:pt x="185737" y="150018"/>
                  </a:lnTo>
                  <a:lnTo>
                    <a:pt x="187422" y="141678"/>
                  </a:lnTo>
                  <a:lnTo>
                    <a:pt x="192016" y="134866"/>
                  </a:lnTo>
                  <a:lnTo>
                    <a:pt x="198828" y="130272"/>
                  </a:lnTo>
                  <a:lnTo>
                    <a:pt x="207168" y="128587"/>
                  </a:lnTo>
                  <a:lnTo>
                    <a:pt x="210740" y="128587"/>
                  </a:lnTo>
                  <a:lnTo>
                    <a:pt x="210740" y="112335"/>
                  </a:lnTo>
                  <a:lnTo>
                    <a:pt x="209133" y="110728"/>
                  </a:lnTo>
                  <a:lnTo>
                    <a:pt x="139303" y="110728"/>
                  </a:lnTo>
                  <a:lnTo>
                    <a:pt x="139303" y="128587"/>
                  </a:lnTo>
                  <a:lnTo>
                    <a:pt x="142875" y="128587"/>
                  </a:lnTo>
                  <a:lnTo>
                    <a:pt x="151215" y="130272"/>
                  </a:lnTo>
                  <a:lnTo>
                    <a:pt x="158027" y="134866"/>
                  </a:lnTo>
                  <a:lnTo>
                    <a:pt x="162621" y="141678"/>
                  </a:lnTo>
                  <a:lnTo>
                    <a:pt x="164306" y="150018"/>
                  </a:lnTo>
                  <a:lnTo>
                    <a:pt x="164306" y="178593"/>
                  </a:lnTo>
                  <a:lnTo>
                    <a:pt x="162621" y="186933"/>
                  </a:lnTo>
                  <a:lnTo>
                    <a:pt x="158027" y="193746"/>
                  </a:lnTo>
                  <a:lnTo>
                    <a:pt x="151215" y="198340"/>
                  </a:lnTo>
                  <a:lnTo>
                    <a:pt x="142875" y="200025"/>
                  </a:lnTo>
                  <a:lnTo>
                    <a:pt x="114300" y="200025"/>
                  </a:lnTo>
                  <a:lnTo>
                    <a:pt x="105959" y="198340"/>
                  </a:lnTo>
                  <a:lnTo>
                    <a:pt x="99147" y="193746"/>
                  </a:lnTo>
                  <a:lnTo>
                    <a:pt x="94553" y="186933"/>
                  </a:lnTo>
                  <a:lnTo>
                    <a:pt x="92868" y="178593"/>
                  </a:lnTo>
                  <a:lnTo>
                    <a:pt x="92868" y="150018"/>
                  </a:lnTo>
                  <a:lnTo>
                    <a:pt x="94553" y="141678"/>
                  </a:lnTo>
                  <a:lnTo>
                    <a:pt x="99147" y="134866"/>
                  </a:lnTo>
                  <a:lnTo>
                    <a:pt x="105959" y="130272"/>
                  </a:lnTo>
                  <a:lnTo>
                    <a:pt x="114300" y="128587"/>
                  </a:lnTo>
                  <a:lnTo>
                    <a:pt x="117871" y="128587"/>
                  </a:lnTo>
                  <a:lnTo>
                    <a:pt x="117871" y="110728"/>
                  </a:lnTo>
                  <a:lnTo>
                    <a:pt x="48041" y="110728"/>
                  </a:lnTo>
                  <a:lnTo>
                    <a:pt x="46434" y="112335"/>
                  </a:lnTo>
                  <a:lnTo>
                    <a:pt x="46434" y="128587"/>
                  </a:lnTo>
                  <a:lnTo>
                    <a:pt x="50006" y="128587"/>
                  </a:lnTo>
                  <a:lnTo>
                    <a:pt x="58346" y="130272"/>
                  </a:lnTo>
                  <a:lnTo>
                    <a:pt x="65158" y="134866"/>
                  </a:lnTo>
                  <a:lnTo>
                    <a:pt x="69752" y="141678"/>
                  </a:lnTo>
                  <a:lnTo>
                    <a:pt x="71437" y="150018"/>
                  </a:lnTo>
                  <a:lnTo>
                    <a:pt x="71437" y="178593"/>
                  </a:lnTo>
                  <a:lnTo>
                    <a:pt x="69752" y="186933"/>
                  </a:lnTo>
                  <a:lnTo>
                    <a:pt x="65158" y="193746"/>
                  </a:lnTo>
                  <a:lnTo>
                    <a:pt x="58346" y="198340"/>
                  </a:lnTo>
                  <a:lnTo>
                    <a:pt x="50006" y="200025"/>
                  </a:lnTo>
                  <a:lnTo>
                    <a:pt x="21431" y="200025"/>
                  </a:lnTo>
                  <a:lnTo>
                    <a:pt x="13091" y="198340"/>
                  </a:lnTo>
                  <a:lnTo>
                    <a:pt x="6278" y="193746"/>
                  </a:lnTo>
                  <a:lnTo>
                    <a:pt x="1684" y="186933"/>
                  </a:lnTo>
                  <a:lnTo>
                    <a:pt x="0" y="178593"/>
                  </a:lnTo>
                  <a:lnTo>
                    <a:pt x="0" y="150018"/>
                  </a:lnTo>
                  <a:lnTo>
                    <a:pt x="1684" y="141678"/>
                  </a:lnTo>
                  <a:lnTo>
                    <a:pt x="6278" y="134866"/>
                  </a:lnTo>
                  <a:lnTo>
                    <a:pt x="13091" y="130272"/>
                  </a:lnTo>
                  <a:lnTo>
                    <a:pt x="21431" y="128587"/>
                  </a:lnTo>
                  <a:lnTo>
                    <a:pt x="25003" y="128587"/>
                  </a:lnTo>
                  <a:lnTo>
                    <a:pt x="25003" y="114300"/>
                  </a:lnTo>
                  <a:lnTo>
                    <a:pt x="26969" y="104572"/>
                  </a:lnTo>
                  <a:lnTo>
                    <a:pt x="32331" y="96624"/>
                  </a:lnTo>
                  <a:lnTo>
                    <a:pt x="40279" y="91263"/>
                  </a:lnTo>
                  <a:lnTo>
                    <a:pt x="50006" y="89296"/>
                  </a:lnTo>
                  <a:lnTo>
                    <a:pt x="117871" y="89296"/>
                  </a:lnTo>
                  <a:lnTo>
                    <a:pt x="117871" y="71437"/>
                  </a:lnTo>
                  <a:lnTo>
                    <a:pt x="114300" y="71437"/>
                  </a:lnTo>
                  <a:lnTo>
                    <a:pt x="105959" y="69752"/>
                  </a:lnTo>
                  <a:lnTo>
                    <a:pt x="99147" y="65158"/>
                  </a:lnTo>
                  <a:lnTo>
                    <a:pt x="94553" y="58346"/>
                  </a:lnTo>
                  <a:lnTo>
                    <a:pt x="92868" y="50006"/>
                  </a:lnTo>
                  <a:lnTo>
                    <a:pt x="92868" y="21431"/>
                  </a:lnTo>
                  <a:lnTo>
                    <a:pt x="94553" y="13091"/>
                  </a:lnTo>
                  <a:lnTo>
                    <a:pt x="99147" y="6278"/>
                  </a:lnTo>
                  <a:lnTo>
                    <a:pt x="105959" y="1684"/>
                  </a:lnTo>
                  <a:lnTo>
                    <a:pt x="114300" y="0"/>
                  </a:lnTo>
                  <a:lnTo>
                    <a:pt x="142875" y="0"/>
                  </a:lnTo>
                  <a:lnTo>
                    <a:pt x="151215" y="1684"/>
                  </a:lnTo>
                  <a:lnTo>
                    <a:pt x="158027" y="6278"/>
                  </a:lnTo>
                  <a:lnTo>
                    <a:pt x="162621" y="13091"/>
                  </a:lnTo>
                  <a:lnTo>
                    <a:pt x="164306" y="21431"/>
                  </a:lnTo>
                  <a:lnTo>
                    <a:pt x="164306" y="50006"/>
                  </a:lnTo>
                  <a:lnTo>
                    <a:pt x="162621" y="58346"/>
                  </a:lnTo>
                  <a:lnTo>
                    <a:pt x="158027" y="65158"/>
                  </a:lnTo>
                  <a:lnTo>
                    <a:pt x="151215" y="69752"/>
                  </a:lnTo>
                  <a:lnTo>
                    <a:pt x="142875" y="71437"/>
                  </a:lnTo>
                  <a:lnTo>
                    <a:pt x="139303" y="71437"/>
                  </a:lnTo>
                  <a:lnTo>
                    <a:pt x="139303" y="89296"/>
                  </a:lnTo>
                  <a:lnTo>
                    <a:pt x="207168" y="89296"/>
                  </a:lnTo>
                  <a:lnTo>
                    <a:pt x="216895" y="91263"/>
                  </a:lnTo>
                  <a:lnTo>
                    <a:pt x="224843" y="96624"/>
                  </a:lnTo>
                  <a:lnTo>
                    <a:pt x="230205" y="104572"/>
                  </a:lnTo>
                  <a:lnTo>
                    <a:pt x="232171" y="114300"/>
                  </a:lnTo>
                  <a:lnTo>
                    <a:pt x="232171" y="128587"/>
                  </a:lnTo>
                  <a:lnTo>
                    <a:pt x="235743" y="128587"/>
                  </a:lnTo>
                  <a:lnTo>
                    <a:pt x="244083" y="130272"/>
                  </a:lnTo>
                  <a:lnTo>
                    <a:pt x="250896" y="134866"/>
                  </a:lnTo>
                  <a:lnTo>
                    <a:pt x="255490" y="141678"/>
                  </a:lnTo>
                  <a:lnTo>
                    <a:pt x="257175" y="150018"/>
                  </a:lnTo>
                  <a:lnTo>
                    <a:pt x="257175" y="178593"/>
                  </a:lnTo>
                  <a:lnTo>
                    <a:pt x="255490" y="186933"/>
                  </a:lnTo>
                  <a:lnTo>
                    <a:pt x="250896" y="193746"/>
                  </a:lnTo>
                  <a:lnTo>
                    <a:pt x="244083" y="198340"/>
                  </a:lnTo>
                  <a:lnTo>
                    <a:pt x="235743" y="200025"/>
                  </a:lnTo>
                  <a:close/>
                </a:path>
              </a:pathLst>
            </a:custGeom>
            <a:solidFill>
              <a:srgbClr val="2562E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1435099" y="1668424"/>
            <a:ext cx="1839595" cy="34036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050" spc="-290">
                <a:solidFill>
                  <a:srgbClr val="1F2937"/>
                </a:solidFill>
                <a:latin typeface="SimSun"/>
                <a:cs typeface="SimSun"/>
              </a:rPr>
              <a:t>联合运营组织结构</a:t>
            </a:r>
            <a:endParaRPr sz="2050">
              <a:latin typeface="SimSun"/>
              <a:cs typeface="SimSun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7143749" y="1233487"/>
            <a:ext cx="4438650" cy="4558030"/>
            <a:chOff x="7143749" y="1233487"/>
            <a:chExt cx="4438650" cy="4558030"/>
          </a:xfrm>
        </p:grpSpPr>
        <p:pic>
          <p:nvPicPr>
            <p:cNvPr id="9" name="object 9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43749" y="1233487"/>
              <a:ext cx="4438649" cy="4557711"/>
            </a:xfrm>
            <a:prstGeom prst="rect">
              <a:avLst/>
            </a:prstGeom>
          </p:spPr>
        </p:pic>
        <p:sp>
          <p:nvSpPr>
            <p:cNvPr id="10" name="object 10" descr=""/>
            <p:cNvSpPr/>
            <p:nvPr/>
          </p:nvSpPr>
          <p:spPr>
            <a:xfrm>
              <a:off x="7391399" y="2190749"/>
              <a:ext cx="3943350" cy="428625"/>
            </a:xfrm>
            <a:custGeom>
              <a:avLst/>
              <a:gdLst/>
              <a:ahLst/>
              <a:cxnLst/>
              <a:rect l="l" t="t" r="r" b="b"/>
              <a:pathLst>
                <a:path w="3943350" h="428625">
                  <a:moveTo>
                    <a:pt x="3943349" y="428624"/>
                  </a:moveTo>
                  <a:lnTo>
                    <a:pt x="0" y="428624"/>
                  </a:lnTo>
                  <a:lnTo>
                    <a:pt x="0" y="49571"/>
                  </a:lnTo>
                  <a:lnTo>
                    <a:pt x="22097" y="11379"/>
                  </a:lnTo>
                  <a:lnTo>
                    <a:pt x="49571" y="0"/>
                  </a:lnTo>
                  <a:lnTo>
                    <a:pt x="3893778" y="0"/>
                  </a:lnTo>
                  <a:lnTo>
                    <a:pt x="3931969" y="22097"/>
                  </a:lnTo>
                  <a:lnTo>
                    <a:pt x="3943349" y="428624"/>
                  </a:lnTo>
                  <a:close/>
                </a:path>
              </a:pathLst>
            </a:custGeom>
            <a:solidFill>
              <a:srgbClr val="F9FA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7372349" y="1638299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90499" y="380999"/>
                  </a:moveTo>
                  <a:lnTo>
                    <a:pt x="144200" y="375289"/>
                  </a:lnTo>
                  <a:lnTo>
                    <a:pt x="100697" y="358507"/>
                  </a:lnTo>
                  <a:lnTo>
                    <a:pt x="62575" y="331659"/>
                  </a:lnTo>
                  <a:lnTo>
                    <a:pt x="32103" y="296335"/>
                  </a:lnTo>
                  <a:lnTo>
                    <a:pt x="11129" y="254666"/>
                  </a:lnTo>
                  <a:lnTo>
                    <a:pt x="914" y="209172"/>
                  </a:lnTo>
                  <a:lnTo>
                    <a:pt x="0" y="190499"/>
                  </a:lnTo>
                  <a:lnTo>
                    <a:pt x="228" y="181141"/>
                  </a:lnTo>
                  <a:lnTo>
                    <a:pt x="8200" y="135199"/>
                  </a:lnTo>
                  <a:lnTo>
                    <a:pt x="27095" y="92572"/>
                  </a:lnTo>
                  <a:lnTo>
                    <a:pt x="55796" y="55796"/>
                  </a:lnTo>
                  <a:lnTo>
                    <a:pt x="92571" y="27095"/>
                  </a:lnTo>
                  <a:lnTo>
                    <a:pt x="135199" y="8200"/>
                  </a:lnTo>
                  <a:lnTo>
                    <a:pt x="181141" y="228"/>
                  </a:lnTo>
                  <a:lnTo>
                    <a:pt x="190499" y="0"/>
                  </a:lnTo>
                  <a:lnTo>
                    <a:pt x="199858" y="228"/>
                  </a:lnTo>
                  <a:lnTo>
                    <a:pt x="245798" y="8200"/>
                  </a:lnTo>
                  <a:lnTo>
                    <a:pt x="288426" y="27095"/>
                  </a:lnTo>
                  <a:lnTo>
                    <a:pt x="325203" y="55796"/>
                  </a:lnTo>
                  <a:lnTo>
                    <a:pt x="353903" y="92572"/>
                  </a:lnTo>
                  <a:lnTo>
                    <a:pt x="372798" y="135199"/>
                  </a:lnTo>
                  <a:lnTo>
                    <a:pt x="380770" y="181141"/>
                  </a:lnTo>
                  <a:lnTo>
                    <a:pt x="380999" y="190499"/>
                  </a:lnTo>
                  <a:lnTo>
                    <a:pt x="380770" y="199858"/>
                  </a:lnTo>
                  <a:lnTo>
                    <a:pt x="372798" y="245799"/>
                  </a:lnTo>
                  <a:lnTo>
                    <a:pt x="353903" y="288426"/>
                  </a:lnTo>
                  <a:lnTo>
                    <a:pt x="325203" y="325203"/>
                  </a:lnTo>
                  <a:lnTo>
                    <a:pt x="288426" y="353903"/>
                  </a:lnTo>
                  <a:lnTo>
                    <a:pt x="245798" y="372798"/>
                  </a:lnTo>
                  <a:lnTo>
                    <a:pt x="199858" y="380771"/>
                  </a:lnTo>
                  <a:lnTo>
                    <a:pt x="190499" y="380999"/>
                  </a:lnTo>
                  <a:close/>
                </a:path>
              </a:pathLst>
            </a:custGeom>
            <a:solidFill>
              <a:srgbClr val="D0FAE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458075" y="1733549"/>
              <a:ext cx="216284" cy="190499"/>
            </a:xfrm>
            <a:prstGeom prst="rect">
              <a:avLst/>
            </a:prstGeom>
          </p:spPr>
        </p:pic>
      </p:grpSp>
      <p:sp>
        <p:nvSpPr>
          <p:cNvPr id="13" name="object 13" descr=""/>
          <p:cNvSpPr txBox="1"/>
          <p:nvPr/>
        </p:nvSpPr>
        <p:spPr>
          <a:xfrm>
            <a:off x="2555626" y="4732311"/>
            <a:ext cx="2413635" cy="825500"/>
          </a:xfrm>
          <a:prstGeom prst="rect">
            <a:avLst/>
          </a:prstGeom>
        </p:spPr>
        <p:txBody>
          <a:bodyPr wrap="square" lIns="0" tIns="102870" rIns="0" bIns="0" rtlCol="0" vert="horz">
            <a:spAutoFit/>
          </a:bodyPr>
          <a:lstStyle/>
          <a:p>
            <a:pPr marL="133985" indent="-121285">
              <a:lnSpc>
                <a:spcPct val="100000"/>
              </a:lnSpc>
              <a:spcBef>
                <a:spcPts val="810"/>
              </a:spcBef>
              <a:buSzPct val="91304"/>
              <a:buFont typeface="DejaVu Sans"/>
              <a:buChar char="•"/>
              <a:tabLst>
                <a:tab pos="133985" algn="l"/>
              </a:tabLst>
            </a:pPr>
            <a:r>
              <a:rPr dirty="0" sz="1150" spc="-110">
                <a:solidFill>
                  <a:srgbClr val="4A5462"/>
                </a:solidFill>
                <a:latin typeface="SimSun"/>
                <a:cs typeface="SimSun"/>
              </a:rPr>
              <a:t>扁平化组织结构，确保</a:t>
            </a:r>
            <a:r>
              <a:rPr dirty="0" sz="1150" spc="-110">
                <a:solidFill>
                  <a:srgbClr val="4A5462"/>
                </a:solidFill>
                <a:latin typeface="Meiryo"/>
                <a:cs typeface="Meiryo"/>
              </a:rPr>
              <a:t>⾼效</a:t>
            </a:r>
            <a:r>
              <a:rPr dirty="0" sz="1150" spc="-110">
                <a:solidFill>
                  <a:srgbClr val="4A5462"/>
                </a:solidFill>
                <a:latin typeface="SimSun"/>
                <a:cs typeface="SimSun"/>
              </a:rPr>
              <a:t>决策与执</a:t>
            </a:r>
            <a:r>
              <a:rPr dirty="0" sz="1150" spc="-50">
                <a:solidFill>
                  <a:srgbClr val="4A5462"/>
                </a:solidFill>
                <a:latin typeface="Meiryo"/>
                <a:cs typeface="Meiryo"/>
              </a:rPr>
              <a:t>⾏</a:t>
            </a:r>
            <a:endParaRPr sz="1150">
              <a:latin typeface="Meiryo"/>
              <a:cs typeface="Meiryo"/>
            </a:endParaRPr>
          </a:p>
          <a:p>
            <a:pPr marL="133985" indent="-121285">
              <a:lnSpc>
                <a:spcPct val="100000"/>
              </a:lnSpc>
              <a:spcBef>
                <a:spcPts val="720"/>
              </a:spcBef>
              <a:buSzPct val="91304"/>
              <a:buFont typeface="DejaVu Sans"/>
              <a:buChar char="•"/>
              <a:tabLst>
                <a:tab pos="133985" algn="l"/>
              </a:tabLst>
            </a:pPr>
            <a:r>
              <a:rPr dirty="0" sz="1150" spc="-110">
                <a:solidFill>
                  <a:srgbClr val="4A5462"/>
                </a:solidFill>
                <a:latin typeface="SimSun"/>
                <a:cs typeface="SimSun"/>
              </a:rPr>
              <a:t>明确分</a:t>
            </a:r>
            <a:r>
              <a:rPr dirty="0" sz="1150" spc="-110">
                <a:solidFill>
                  <a:srgbClr val="4A5462"/>
                </a:solidFill>
                <a:latin typeface="Meiryo"/>
                <a:cs typeface="Meiryo"/>
              </a:rPr>
              <a:t>⼯</a:t>
            </a:r>
            <a:r>
              <a:rPr dirty="0" sz="1150" spc="-110">
                <a:solidFill>
                  <a:srgbClr val="4A5462"/>
                </a:solidFill>
                <a:latin typeface="SimSun"/>
                <a:cs typeface="SimSun"/>
              </a:rPr>
              <a:t>与协作机制，责</a:t>
            </a:r>
            <a:r>
              <a:rPr dirty="0" sz="1150" spc="-110">
                <a:solidFill>
                  <a:srgbClr val="4A5462"/>
                </a:solidFill>
                <a:latin typeface="Meiryo"/>
                <a:cs typeface="Meiryo"/>
              </a:rPr>
              <a:t>任</a:t>
            </a:r>
            <a:r>
              <a:rPr dirty="0" sz="1150" spc="-110">
                <a:solidFill>
                  <a:srgbClr val="4A5462"/>
                </a:solidFill>
                <a:latin typeface="SimSun"/>
                <a:cs typeface="SimSun"/>
              </a:rPr>
              <a:t>到</a:t>
            </a:r>
            <a:r>
              <a:rPr dirty="0" sz="1150" spc="-50">
                <a:solidFill>
                  <a:srgbClr val="4A5462"/>
                </a:solidFill>
                <a:latin typeface="Meiryo"/>
                <a:cs typeface="Meiryo"/>
              </a:rPr>
              <a:t>⼈</a:t>
            </a:r>
            <a:endParaRPr sz="1150">
              <a:latin typeface="Meiryo"/>
              <a:cs typeface="Meiryo"/>
            </a:endParaRPr>
          </a:p>
          <a:p>
            <a:pPr marL="133985" indent="-121285">
              <a:lnSpc>
                <a:spcPct val="100000"/>
              </a:lnSpc>
              <a:spcBef>
                <a:spcPts val="720"/>
              </a:spcBef>
              <a:buSzPct val="91304"/>
              <a:buFont typeface="DejaVu Sans"/>
              <a:buChar char="•"/>
              <a:tabLst>
                <a:tab pos="133985" algn="l"/>
              </a:tabLst>
            </a:pPr>
            <a:r>
              <a:rPr dirty="0" sz="1150" spc="-110">
                <a:solidFill>
                  <a:srgbClr val="4A5462"/>
                </a:solidFill>
                <a:latin typeface="SimSun"/>
                <a:cs typeface="SimSun"/>
              </a:rPr>
              <a:t>定期联</a:t>
            </a:r>
            <a:r>
              <a:rPr dirty="0" sz="1150" spc="-110">
                <a:solidFill>
                  <a:srgbClr val="4A5462"/>
                </a:solidFill>
                <a:latin typeface="Meiryo"/>
                <a:cs typeface="Meiryo"/>
              </a:rPr>
              <a:t>席会</a:t>
            </a:r>
            <a:r>
              <a:rPr dirty="0" sz="1150" spc="-105">
                <a:solidFill>
                  <a:srgbClr val="4A5462"/>
                </a:solidFill>
                <a:latin typeface="SimSun"/>
                <a:cs typeface="SimSun"/>
              </a:rPr>
              <a:t>议制度，保障信息畅通</a:t>
            </a:r>
            <a:endParaRPr sz="1150">
              <a:latin typeface="SimSun"/>
              <a:cs typeface="SimSun"/>
            </a:endParaRPr>
          </a:p>
        </p:txBody>
      </p:sp>
      <p:sp>
        <p:nvSpPr>
          <p:cNvPr id="14" name="object 14" descr=""/>
          <p:cNvSpPr/>
          <p:nvPr/>
        </p:nvSpPr>
        <p:spPr>
          <a:xfrm>
            <a:off x="7429499" y="3009899"/>
            <a:ext cx="3867150" cy="352425"/>
          </a:xfrm>
          <a:custGeom>
            <a:avLst/>
            <a:gdLst/>
            <a:ahLst/>
            <a:cxnLst/>
            <a:rect l="l" t="t" r="r" b="b"/>
            <a:pathLst>
              <a:path w="3867150" h="352425">
                <a:moveTo>
                  <a:pt x="3867149" y="352424"/>
                </a:moveTo>
                <a:lnTo>
                  <a:pt x="0" y="352424"/>
                </a:lnTo>
                <a:lnTo>
                  <a:pt x="0" y="0"/>
                </a:lnTo>
                <a:lnTo>
                  <a:pt x="3867149" y="0"/>
                </a:lnTo>
                <a:lnTo>
                  <a:pt x="3867149" y="352424"/>
                </a:lnTo>
                <a:close/>
              </a:path>
            </a:pathLst>
          </a:custGeom>
          <a:solidFill>
            <a:srgbClr val="EFF5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/>
          <p:nvPr/>
        </p:nvSpPr>
        <p:spPr>
          <a:xfrm>
            <a:off x="7429499" y="3714749"/>
            <a:ext cx="3867150" cy="342900"/>
          </a:xfrm>
          <a:custGeom>
            <a:avLst/>
            <a:gdLst/>
            <a:ahLst/>
            <a:cxnLst/>
            <a:rect l="l" t="t" r="r" b="b"/>
            <a:pathLst>
              <a:path w="3867150" h="342900">
                <a:moveTo>
                  <a:pt x="3867149" y="342899"/>
                </a:moveTo>
                <a:lnTo>
                  <a:pt x="0" y="342899"/>
                </a:lnTo>
                <a:lnTo>
                  <a:pt x="0" y="0"/>
                </a:lnTo>
                <a:lnTo>
                  <a:pt x="3867149" y="0"/>
                </a:lnTo>
                <a:lnTo>
                  <a:pt x="3867149" y="342899"/>
                </a:lnTo>
                <a:close/>
              </a:path>
            </a:pathLst>
          </a:custGeom>
          <a:solidFill>
            <a:srgbClr val="EFF5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 txBox="1"/>
          <p:nvPr/>
        </p:nvSpPr>
        <p:spPr>
          <a:xfrm>
            <a:off x="7854950" y="1664461"/>
            <a:ext cx="1168400" cy="28765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700" spc="-200">
                <a:solidFill>
                  <a:srgbClr val="1F2937"/>
                </a:solidFill>
                <a:latin typeface="SimSun"/>
                <a:cs typeface="SimSun"/>
              </a:rPr>
              <a:t>利益分配框架</a:t>
            </a:r>
            <a:endParaRPr sz="1700">
              <a:latin typeface="SimSun"/>
              <a:cs typeface="SimSun"/>
            </a:endParaRPr>
          </a:p>
        </p:txBody>
      </p:sp>
      <p:graphicFrame>
        <p:nvGraphicFramePr>
          <p:cNvPr id="17" name="object 17" descr=""/>
          <p:cNvGraphicFramePr>
            <a:graphicFrameLocks noGrp="1"/>
          </p:cNvGraphicFramePr>
          <p:nvPr/>
        </p:nvGraphicFramePr>
        <p:xfrm>
          <a:off x="7429499" y="2328443"/>
          <a:ext cx="3943350" cy="17265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95375"/>
                <a:gridCol w="1104900"/>
                <a:gridCol w="1666875"/>
              </a:tblGrid>
              <a:tr h="285750">
                <a:tc>
                  <a:txBody>
                    <a:bodyPr/>
                    <a:lstStyle/>
                    <a:p>
                      <a:pPr marL="76200">
                        <a:lnSpc>
                          <a:spcPts val="1180"/>
                        </a:lnSpc>
                      </a:pPr>
                      <a:r>
                        <a:rPr dirty="0" sz="1200" spc="-140">
                          <a:solidFill>
                            <a:srgbClr val="4A5462"/>
                          </a:solidFill>
                          <a:latin typeface="SimSun"/>
                          <a:cs typeface="SimSun"/>
                        </a:rPr>
                        <a:t>收益类型</a:t>
                      </a:r>
                      <a:endParaRPr sz="1200">
                        <a:latin typeface="SimSun"/>
                        <a:cs typeface="SimSun"/>
                      </a:endParaRPr>
                    </a:p>
                  </a:txBody>
                  <a:tcPr marL="0" marR="0" marB="0" marT="0">
                    <a:lnB w="9525">
                      <a:solidFill>
                        <a:srgbClr val="E4E7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9075">
                        <a:lnSpc>
                          <a:spcPts val="1180"/>
                        </a:lnSpc>
                      </a:pPr>
                      <a:r>
                        <a:rPr dirty="0" sz="1200" spc="-140">
                          <a:solidFill>
                            <a:srgbClr val="4A5462"/>
                          </a:solidFill>
                          <a:latin typeface="SimSun"/>
                          <a:cs typeface="SimSun"/>
                        </a:rPr>
                        <a:t>能投光电</a:t>
                      </a:r>
                      <a:endParaRPr sz="1200">
                        <a:latin typeface="SimSun"/>
                        <a:cs typeface="SimSun"/>
                      </a:endParaRPr>
                    </a:p>
                  </a:txBody>
                  <a:tcPr marL="0" marR="0" marB="0" marT="0">
                    <a:lnB w="9525">
                      <a:solidFill>
                        <a:srgbClr val="E4E7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52425">
                        <a:lnSpc>
                          <a:spcPts val="1180"/>
                        </a:lnSpc>
                      </a:pPr>
                      <a:r>
                        <a:rPr dirty="0" sz="1200" spc="-165">
                          <a:solidFill>
                            <a:srgbClr val="4A5462"/>
                          </a:solidFill>
                          <a:latin typeface="SimSun"/>
                          <a:cs typeface="SimSun"/>
                        </a:rPr>
                        <a:t>电</a:t>
                      </a:r>
                      <a:r>
                        <a:rPr dirty="0" sz="1200" spc="-165">
                          <a:solidFill>
                            <a:srgbClr val="4A5462"/>
                          </a:solidFill>
                          <a:latin typeface="Meiryo"/>
                          <a:cs typeface="Meiryo"/>
                        </a:rPr>
                        <a:t>⼦</a:t>
                      </a:r>
                      <a:r>
                        <a:rPr dirty="0" sz="1200" spc="-165">
                          <a:solidFill>
                            <a:srgbClr val="4A5462"/>
                          </a:solidFill>
                          <a:latin typeface="SimSun"/>
                          <a:cs typeface="SimSun"/>
                        </a:rPr>
                        <a:t>科</a:t>
                      </a:r>
                      <a:r>
                        <a:rPr dirty="0" sz="1200" spc="-165">
                          <a:solidFill>
                            <a:srgbClr val="4A5462"/>
                          </a:solidFill>
                          <a:latin typeface="Meiryo"/>
                          <a:cs typeface="Meiryo"/>
                        </a:rPr>
                        <a:t>⼤</a:t>
                      </a:r>
                      <a:r>
                        <a:rPr dirty="0" sz="1200" spc="-165">
                          <a:solidFill>
                            <a:srgbClr val="4A5462"/>
                          </a:solidFill>
                          <a:latin typeface="SimSun"/>
                          <a:cs typeface="SimSun"/>
                        </a:rPr>
                        <a:t>概验中</a:t>
                      </a:r>
                      <a:r>
                        <a:rPr dirty="0" sz="1200" spc="-50">
                          <a:solidFill>
                            <a:srgbClr val="4A5462"/>
                          </a:solidFill>
                          <a:latin typeface="Meiryo"/>
                          <a:cs typeface="Meiryo"/>
                        </a:rPr>
                        <a:t>⼼</a:t>
                      </a:r>
                      <a:endParaRPr sz="1200">
                        <a:latin typeface="Meiryo"/>
                        <a:cs typeface="Meiryo"/>
                      </a:endParaRPr>
                    </a:p>
                  </a:txBody>
                  <a:tcPr marL="0" marR="0" marB="0" marT="0">
                    <a:lnB w="9525">
                      <a:solidFill>
                        <a:srgbClr val="E4E7EB"/>
                      </a:solidFill>
                      <a:prstDash val="solid"/>
                    </a:lnB>
                  </a:tcPr>
                </a:tc>
              </a:tr>
              <a:tr h="389890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910"/>
                        </a:spcBef>
                      </a:pPr>
                      <a:r>
                        <a:rPr dirty="0" sz="1150" spc="-110">
                          <a:solidFill>
                            <a:srgbClr val="374050"/>
                          </a:solidFill>
                          <a:latin typeface="SimSun"/>
                          <a:cs typeface="SimSun"/>
                        </a:rPr>
                        <a:t>园区租</a:t>
                      </a:r>
                      <a:r>
                        <a:rPr dirty="0" sz="1150" spc="-110">
                          <a:solidFill>
                            <a:srgbClr val="374050"/>
                          </a:solidFill>
                          <a:latin typeface="Meiryo"/>
                          <a:cs typeface="Meiryo"/>
                        </a:rPr>
                        <a:t>⾦</a:t>
                      </a:r>
                      <a:r>
                        <a:rPr dirty="0" sz="1150" spc="-110">
                          <a:solidFill>
                            <a:srgbClr val="374050"/>
                          </a:solidFill>
                          <a:latin typeface="SimSun"/>
                          <a:cs typeface="SimSun"/>
                        </a:rPr>
                        <a:t>收</a:t>
                      </a:r>
                      <a:r>
                        <a:rPr dirty="0" sz="1150" spc="-50">
                          <a:solidFill>
                            <a:srgbClr val="374050"/>
                          </a:solidFill>
                          <a:latin typeface="Meiryo"/>
                          <a:cs typeface="Meiryo"/>
                        </a:rPr>
                        <a:t>⼊</a:t>
                      </a:r>
                      <a:endParaRPr sz="1150">
                        <a:latin typeface="Meiryo"/>
                        <a:cs typeface="Meiryo"/>
                      </a:endParaRPr>
                    </a:p>
                  </a:txBody>
                  <a:tcPr marL="0" marR="0" marB="0" marT="115570">
                    <a:lnT w="9525">
                      <a:solidFill>
                        <a:srgbClr val="E4E7EB"/>
                      </a:solidFill>
                      <a:prstDash val="solid"/>
                    </a:lnT>
                    <a:lnB w="9525">
                      <a:solidFill>
                        <a:srgbClr val="E4E7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9075"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r>
                        <a:rPr dirty="0" sz="1050" spc="-20">
                          <a:solidFill>
                            <a:srgbClr val="374050"/>
                          </a:solidFill>
                          <a:latin typeface="DejaVu Sans"/>
                          <a:cs typeface="DejaVu Sans"/>
                        </a:rPr>
                        <a:t>100%</a:t>
                      </a:r>
                      <a:endParaRPr sz="1050">
                        <a:latin typeface="DejaVu Sans"/>
                        <a:cs typeface="DejaVu Sans"/>
                      </a:endParaRPr>
                    </a:p>
                  </a:txBody>
                  <a:tcPr marL="0" marR="0" marB="0" marT="128270">
                    <a:lnT w="9525">
                      <a:solidFill>
                        <a:srgbClr val="E4E7EB"/>
                      </a:solidFill>
                      <a:prstDash val="solid"/>
                    </a:lnT>
                    <a:lnB w="9525">
                      <a:solidFill>
                        <a:srgbClr val="E4E7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52425"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r>
                        <a:rPr dirty="0" sz="1050" spc="-25">
                          <a:solidFill>
                            <a:srgbClr val="374050"/>
                          </a:solidFill>
                          <a:latin typeface="DejaVu Sans"/>
                          <a:cs typeface="DejaVu Sans"/>
                        </a:rPr>
                        <a:t>0%</a:t>
                      </a:r>
                      <a:endParaRPr sz="1050">
                        <a:latin typeface="DejaVu Sans"/>
                        <a:cs typeface="DejaVu Sans"/>
                      </a:endParaRPr>
                    </a:p>
                  </a:txBody>
                  <a:tcPr marL="0" marR="0" marB="0" marT="128270">
                    <a:lnT w="9525">
                      <a:solidFill>
                        <a:srgbClr val="E4E7EB"/>
                      </a:solidFill>
                      <a:prstDash val="solid"/>
                    </a:lnT>
                    <a:lnB w="9525">
                      <a:solidFill>
                        <a:srgbClr val="E4E7EB"/>
                      </a:solidFill>
                      <a:prstDash val="solid"/>
                    </a:lnB>
                  </a:tcPr>
                </a:tc>
              </a:tr>
              <a:tr h="351790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dirty="0" sz="1150" spc="-110">
                          <a:solidFill>
                            <a:srgbClr val="374050"/>
                          </a:solidFill>
                          <a:latin typeface="SimSun"/>
                          <a:cs typeface="SimSun"/>
                        </a:rPr>
                        <a:t>增值服务收</a:t>
                      </a:r>
                      <a:r>
                        <a:rPr dirty="0" sz="1150" spc="-50">
                          <a:solidFill>
                            <a:srgbClr val="374050"/>
                          </a:solidFill>
                          <a:latin typeface="Meiryo"/>
                          <a:cs typeface="Meiryo"/>
                        </a:rPr>
                        <a:t>⼊</a:t>
                      </a:r>
                      <a:endParaRPr sz="1150">
                        <a:latin typeface="Meiryo"/>
                        <a:cs typeface="Meiryo"/>
                      </a:endParaRPr>
                    </a:p>
                  </a:txBody>
                  <a:tcPr marL="0" marR="0" marB="0" marT="77470">
                    <a:lnT w="9525">
                      <a:solidFill>
                        <a:srgbClr val="E4E7EB"/>
                      </a:solidFill>
                      <a:prstDash val="solid"/>
                    </a:lnT>
                    <a:lnB w="9525">
                      <a:solidFill>
                        <a:srgbClr val="E4E7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907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1050" spc="-25">
                          <a:solidFill>
                            <a:srgbClr val="374050"/>
                          </a:solidFill>
                          <a:latin typeface="DejaVu Sans"/>
                          <a:cs typeface="DejaVu Sans"/>
                        </a:rPr>
                        <a:t>60%</a:t>
                      </a:r>
                      <a:endParaRPr sz="1050">
                        <a:latin typeface="DejaVu Sans"/>
                        <a:cs typeface="DejaVu Sans"/>
                      </a:endParaRPr>
                    </a:p>
                  </a:txBody>
                  <a:tcPr marL="0" marR="0" marB="0" marT="90170">
                    <a:lnT w="9525">
                      <a:solidFill>
                        <a:srgbClr val="E4E7EB"/>
                      </a:solidFill>
                      <a:prstDash val="solid"/>
                    </a:lnT>
                    <a:lnB w="9525">
                      <a:solidFill>
                        <a:srgbClr val="E4E7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5242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1050" spc="-25">
                          <a:solidFill>
                            <a:srgbClr val="374050"/>
                          </a:solidFill>
                          <a:latin typeface="DejaVu Sans"/>
                          <a:cs typeface="DejaVu Sans"/>
                        </a:rPr>
                        <a:t>40%</a:t>
                      </a:r>
                      <a:endParaRPr sz="1050">
                        <a:latin typeface="DejaVu Sans"/>
                        <a:cs typeface="DejaVu Sans"/>
                      </a:endParaRPr>
                    </a:p>
                  </a:txBody>
                  <a:tcPr marL="0" marR="0" marB="0" marT="90170">
                    <a:lnT w="9525">
                      <a:solidFill>
                        <a:srgbClr val="E4E7EB"/>
                      </a:solidFill>
                      <a:prstDash val="solid"/>
                    </a:lnT>
                    <a:lnB w="9525">
                      <a:solidFill>
                        <a:srgbClr val="E4E7EB"/>
                      </a:solidFill>
                      <a:prstDash val="solid"/>
                    </a:lnB>
                  </a:tcPr>
                </a:tc>
              </a:tr>
              <a:tr h="351790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dirty="0" sz="1150" spc="-110">
                          <a:solidFill>
                            <a:srgbClr val="374050"/>
                          </a:solidFill>
                          <a:latin typeface="SimSun"/>
                          <a:cs typeface="SimSun"/>
                        </a:rPr>
                        <a:t>技术服务收</a:t>
                      </a:r>
                      <a:r>
                        <a:rPr dirty="0" sz="1150" spc="-50">
                          <a:solidFill>
                            <a:srgbClr val="374050"/>
                          </a:solidFill>
                          <a:latin typeface="Meiryo"/>
                          <a:cs typeface="Meiryo"/>
                        </a:rPr>
                        <a:t>⼊</a:t>
                      </a:r>
                      <a:endParaRPr sz="1150">
                        <a:latin typeface="Meiryo"/>
                        <a:cs typeface="Meiryo"/>
                      </a:endParaRPr>
                    </a:p>
                  </a:txBody>
                  <a:tcPr marL="0" marR="0" marB="0" marT="77470">
                    <a:lnT w="9525">
                      <a:solidFill>
                        <a:srgbClr val="E4E7EB"/>
                      </a:solidFill>
                      <a:prstDash val="solid"/>
                    </a:lnT>
                    <a:lnB w="9525">
                      <a:solidFill>
                        <a:srgbClr val="E4E7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907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1050" spc="-25">
                          <a:solidFill>
                            <a:srgbClr val="374050"/>
                          </a:solidFill>
                          <a:latin typeface="DejaVu Sans"/>
                          <a:cs typeface="DejaVu Sans"/>
                        </a:rPr>
                        <a:t>50%</a:t>
                      </a:r>
                      <a:endParaRPr sz="1050">
                        <a:latin typeface="DejaVu Sans"/>
                        <a:cs typeface="DejaVu Sans"/>
                      </a:endParaRPr>
                    </a:p>
                  </a:txBody>
                  <a:tcPr marL="0" marR="0" marB="0" marT="90170">
                    <a:lnT w="9525">
                      <a:solidFill>
                        <a:srgbClr val="E4E7EB"/>
                      </a:solidFill>
                      <a:prstDash val="solid"/>
                    </a:lnT>
                    <a:lnB w="9525">
                      <a:solidFill>
                        <a:srgbClr val="E4E7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5242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1050" spc="-25">
                          <a:solidFill>
                            <a:srgbClr val="374050"/>
                          </a:solidFill>
                          <a:latin typeface="DejaVu Sans"/>
                          <a:cs typeface="DejaVu Sans"/>
                        </a:rPr>
                        <a:t>50%</a:t>
                      </a:r>
                      <a:endParaRPr sz="1050">
                        <a:latin typeface="DejaVu Sans"/>
                        <a:cs typeface="DejaVu Sans"/>
                      </a:endParaRPr>
                    </a:p>
                  </a:txBody>
                  <a:tcPr marL="0" marR="0" marB="0" marT="90170">
                    <a:lnT w="9525">
                      <a:solidFill>
                        <a:srgbClr val="E4E7EB"/>
                      </a:solidFill>
                      <a:prstDash val="solid"/>
                    </a:lnT>
                    <a:lnB w="9525">
                      <a:solidFill>
                        <a:srgbClr val="E4E7EB"/>
                      </a:solidFill>
                      <a:prstDash val="solid"/>
                    </a:lnB>
                  </a:tcPr>
                </a:tc>
              </a:tr>
              <a:tr h="347345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dirty="0" sz="1150" spc="-100">
                          <a:solidFill>
                            <a:srgbClr val="374050"/>
                          </a:solidFill>
                          <a:latin typeface="SimSun"/>
                          <a:cs typeface="SimSun"/>
                        </a:rPr>
                        <a:t>知识产权收益</a:t>
                      </a:r>
                      <a:endParaRPr sz="1150">
                        <a:latin typeface="SimSun"/>
                        <a:cs typeface="SimSun"/>
                      </a:endParaRPr>
                    </a:p>
                  </a:txBody>
                  <a:tcPr marL="0" marR="0" marB="0" marT="77470">
                    <a:lnT w="9525">
                      <a:solidFill>
                        <a:srgbClr val="E4E7EB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1907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1050" spc="-25">
                          <a:solidFill>
                            <a:srgbClr val="374050"/>
                          </a:solidFill>
                          <a:latin typeface="DejaVu Sans"/>
                          <a:cs typeface="DejaVu Sans"/>
                        </a:rPr>
                        <a:t>70%</a:t>
                      </a:r>
                      <a:endParaRPr sz="1050">
                        <a:latin typeface="DejaVu Sans"/>
                        <a:cs typeface="DejaVu Sans"/>
                      </a:endParaRPr>
                    </a:p>
                  </a:txBody>
                  <a:tcPr marL="0" marR="0" marB="0" marT="90170">
                    <a:lnT w="9525">
                      <a:solidFill>
                        <a:srgbClr val="E4E7EB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35242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1050" spc="-25">
                          <a:solidFill>
                            <a:srgbClr val="374050"/>
                          </a:solidFill>
                          <a:latin typeface="DejaVu Sans"/>
                          <a:cs typeface="DejaVu Sans"/>
                        </a:rPr>
                        <a:t>30%</a:t>
                      </a:r>
                      <a:endParaRPr sz="1050">
                        <a:latin typeface="DejaVu Sans"/>
                        <a:cs typeface="DejaVu Sans"/>
                      </a:endParaRPr>
                    </a:p>
                  </a:txBody>
                  <a:tcPr marL="0" marR="0" marB="0" marT="90170">
                    <a:lnT w="9525">
                      <a:solidFill>
                        <a:srgbClr val="E4E7EB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sp>
        <p:nvSpPr>
          <p:cNvPr id="18" name="object 18" descr=""/>
          <p:cNvSpPr txBox="1"/>
          <p:nvPr/>
        </p:nvSpPr>
        <p:spPr>
          <a:xfrm>
            <a:off x="7359650" y="4160811"/>
            <a:ext cx="3069590" cy="825500"/>
          </a:xfrm>
          <a:prstGeom prst="rect">
            <a:avLst/>
          </a:prstGeom>
        </p:spPr>
        <p:txBody>
          <a:bodyPr wrap="square" lIns="0" tIns="102870" rIns="0" bIns="0" rtlCol="0" vert="horz">
            <a:spAutoFit/>
          </a:bodyPr>
          <a:lstStyle/>
          <a:p>
            <a:pPr marL="133985" indent="-121285">
              <a:lnSpc>
                <a:spcPct val="100000"/>
              </a:lnSpc>
              <a:spcBef>
                <a:spcPts val="810"/>
              </a:spcBef>
              <a:buSzPct val="91304"/>
              <a:buFont typeface="DejaVu Sans"/>
              <a:buChar char="•"/>
              <a:tabLst>
                <a:tab pos="133985" algn="l"/>
              </a:tabLst>
            </a:pPr>
            <a:r>
              <a:rPr dirty="0" sz="1150" spc="-110">
                <a:solidFill>
                  <a:srgbClr val="4A5462"/>
                </a:solidFill>
                <a:latin typeface="SimSun"/>
                <a:cs typeface="SimSun"/>
              </a:rPr>
              <a:t>双</a:t>
            </a:r>
            <a:r>
              <a:rPr dirty="0" sz="1150" spc="-110">
                <a:solidFill>
                  <a:srgbClr val="4A5462"/>
                </a:solidFill>
                <a:latin typeface="Meiryo"/>
                <a:cs typeface="Meiryo"/>
              </a:rPr>
              <a:t>⽅</a:t>
            </a:r>
            <a:r>
              <a:rPr dirty="0" sz="1150" spc="-110">
                <a:solidFill>
                  <a:srgbClr val="4A5462"/>
                </a:solidFill>
                <a:latin typeface="SimSun"/>
                <a:cs typeface="SimSun"/>
              </a:rPr>
              <a:t>按照</a:t>
            </a:r>
            <a:r>
              <a:rPr dirty="0" sz="1050" spc="-10">
                <a:solidFill>
                  <a:srgbClr val="4A5462"/>
                </a:solidFill>
                <a:latin typeface="DejaVu Sans"/>
                <a:cs typeface="DejaVu Sans"/>
              </a:rPr>
              <a:t>"</a:t>
            </a:r>
            <a:r>
              <a:rPr dirty="0" sz="1150" spc="-110">
                <a:solidFill>
                  <a:srgbClr val="4A5462"/>
                </a:solidFill>
                <a:latin typeface="Meiryo"/>
                <a:cs typeface="Meiryo"/>
              </a:rPr>
              <a:t>⻛</a:t>
            </a:r>
            <a:r>
              <a:rPr dirty="0" sz="1150" spc="-110">
                <a:solidFill>
                  <a:srgbClr val="4A5462"/>
                </a:solidFill>
                <a:latin typeface="SimSun"/>
                <a:cs typeface="SimSun"/>
              </a:rPr>
              <a:t>险共担、</a:t>
            </a:r>
            <a:r>
              <a:rPr dirty="0" sz="1150" spc="-110">
                <a:solidFill>
                  <a:srgbClr val="4A5462"/>
                </a:solidFill>
                <a:latin typeface="Meiryo"/>
                <a:cs typeface="Meiryo"/>
              </a:rPr>
              <a:t>收</a:t>
            </a:r>
            <a:r>
              <a:rPr dirty="0" sz="1150" spc="-110">
                <a:solidFill>
                  <a:srgbClr val="4A5462"/>
                </a:solidFill>
                <a:latin typeface="SimSun"/>
                <a:cs typeface="SimSun"/>
              </a:rPr>
              <a:t>益共</a:t>
            </a:r>
            <a:r>
              <a:rPr dirty="0" sz="1150" spc="-110">
                <a:solidFill>
                  <a:srgbClr val="4A5462"/>
                </a:solidFill>
                <a:latin typeface="Meiryo"/>
                <a:cs typeface="Meiryo"/>
              </a:rPr>
              <a:t>享</a:t>
            </a:r>
            <a:r>
              <a:rPr dirty="0" sz="1050" spc="-10">
                <a:solidFill>
                  <a:srgbClr val="4A5462"/>
                </a:solidFill>
                <a:latin typeface="DejaVu Sans"/>
                <a:cs typeface="DejaVu Sans"/>
              </a:rPr>
              <a:t>"</a:t>
            </a:r>
            <a:r>
              <a:rPr dirty="0" sz="1150" spc="-110">
                <a:solidFill>
                  <a:srgbClr val="4A5462"/>
                </a:solidFill>
                <a:latin typeface="SimSun"/>
                <a:cs typeface="SimSun"/>
              </a:rPr>
              <a:t>原则进</a:t>
            </a:r>
            <a:r>
              <a:rPr dirty="0" sz="1150" spc="-110">
                <a:solidFill>
                  <a:srgbClr val="4A5462"/>
                </a:solidFill>
                <a:latin typeface="Meiryo"/>
                <a:cs typeface="Meiryo"/>
              </a:rPr>
              <a:t>⾏</a:t>
            </a:r>
            <a:r>
              <a:rPr dirty="0" sz="1150" spc="-100">
                <a:solidFill>
                  <a:srgbClr val="4A5462"/>
                </a:solidFill>
                <a:latin typeface="SimSun"/>
                <a:cs typeface="SimSun"/>
              </a:rPr>
              <a:t>利益分配</a:t>
            </a:r>
            <a:endParaRPr sz="1150">
              <a:latin typeface="SimSun"/>
              <a:cs typeface="SimSun"/>
            </a:endParaRPr>
          </a:p>
          <a:p>
            <a:pPr marL="133985" indent="-121285">
              <a:lnSpc>
                <a:spcPct val="100000"/>
              </a:lnSpc>
              <a:spcBef>
                <a:spcPts val="720"/>
              </a:spcBef>
              <a:buSzPct val="91304"/>
              <a:buFont typeface="DejaVu Sans"/>
              <a:buChar char="•"/>
              <a:tabLst>
                <a:tab pos="133985" algn="l"/>
              </a:tabLst>
            </a:pPr>
            <a:r>
              <a:rPr dirty="0" sz="1150" spc="-110">
                <a:solidFill>
                  <a:srgbClr val="4A5462"/>
                </a:solidFill>
                <a:latin typeface="SimSun"/>
                <a:cs typeface="SimSun"/>
              </a:rPr>
              <a:t>针对不同业务类型，设置</a:t>
            </a:r>
            <a:r>
              <a:rPr dirty="0" sz="1150" spc="-110">
                <a:solidFill>
                  <a:srgbClr val="4A5462"/>
                </a:solidFill>
                <a:latin typeface="Meiryo"/>
                <a:cs typeface="Meiryo"/>
              </a:rPr>
              <a:t>差</a:t>
            </a:r>
            <a:r>
              <a:rPr dirty="0" sz="1150" spc="-110">
                <a:solidFill>
                  <a:srgbClr val="4A5462"/>
                </a:solidFill>
                <a:latin typeface="SimSun"/>
                <a:cs typeface="SimSun"/>
              </a:rPr>
              <a:t>异化分成</a:t>
            </a:r>
            <a:r>
              <a:rPr dirty="0" sz="1150" spc="-110">
                <a:solidFill>
                  <a:srgbClr val="4A5462"/>
                </a:solidFill>
                <a:latin typeface="Meiryo"/>
                <a:cs typeface="Meiryo"/>
              </a:rPr>
              <a:t>⽐</a:t>
            </a:r>
            <a:r>
              <a:rPr dirty="0" sz="1150" spc="-50">
                <a:solidFill>
                  <a:srgbClr val="4A5462"/>
                </a:solidFill>
                <a:latin typeface="SimSun"/>
                <a:cs typeface="SimSun"/>
              </a:rPr>
              <a:t>例</a:t>
            </a:r>
            <a:endParaRPr sz="1150">
              <a:latin typeface="SimSun"/>
              <a:cs typeface="SimSun"/>
            </a:endParaRPr>
          </a:p>
          <a:p>
            <a:pPr marL="133985" indent="-121285">
              <a:lnSpc>
                <a:spcPct val="100000"/>
              </a:lnSpc>
              <a:spcBef>
                <a:spcPts val="720"/>
              </a:spcBef>
              <a:buSzPct val="91304"/>
              <a:buFont typeface="DejaVu Sans"/>
              <a:buChar char="•"/>
              <a:tabLst>
                <a:tab pos="133985" algn="l"/>
              </a:tabLst>
            </a:pPr>
            <a:r>
              <a:rPr dirty="0" sz="1150" spc="-110">
                <a:solidFill>
                  <a:srgbClr val="4A5462"/>
                </a:solidFill>
                <a:latin typeface="SimSun"/>
                <a:cs typeface="SimSun"/>
              </a:rPr>
              <a:t>合作期限内可根据业务发展动态调</a:t>
            </a:r>
            <a:r>
              <a:rPr dirty="0" sz="1150" spc="-50">
                <a:solidFill>
                  <a:srgbClr val="4A5462"/>
                </a:solidFill>
                <a:latin typeface="Meiryo"/>
                <a:cs typeface="Meiryo"/>
              </a:rPr>
              <a:t>整</a:t>
            </a:r>
            <a:endParaRPr sz="1150">
              <a:latin typeface="Meiryo"/>
              <a:cs typeface="Meiryo"/>
            </a:endParaRPr>
          </a:p>
        </p:txBody>
      </p:sp>
      <p:grpSp>
        <p:nvGrpSpPr>
          <p:cNvPr id="19" name="object 19" descr=""/>
          <p:cNvGrpSpPr/>
          <p:nvPr/>
        </p:nvGrpSpPr>
        <p:grpSpPr>
          <a:xfrm>
            <a:off x="609599" y="6019799"/>
            <a:ext cx="4438650" cy="838200"/>
            <a:chOff x="609599" y="6019799"/>
            <a:chExt cx="4438650" cy="838200"/>
          </a:xfrm>
        </p:grpSpPr>
        <p:sp>
          <p:nvSpPr>
            <p:cNvPr id="20" name="object 20" descr=""/>
            <p:cNvSpPr/>
            <p:nvPr/>
          </p:nvSpPr>
          <p:spPr>
            <a:xfrm>
              <a:off x="609599" y="6019799"/>
              <a:ext cx="4438650" cy="838200"/>
            </a:xfrm>
            <a:custGeom>
              <a:avLst/>
              <a:gdLst/>
              <a:ahLst/>
              <a:cxnLst/>
              <a:rect l="l" t="t" r="r" b="b"/>
              <a:pathLst>
                <a:path w="4438650" h="838200">
                  <a:moveTo>
                    <a:pt x="4438649" y="838200"/>
                  </a:moveTo>
                  <a:lnTo>
                    <a:pt x="0" y="838200"/>
                  </a:lnTo>
                  <a:lnTo>
                    <a:pt x="0" y="106795"/>
                  </a:lnTo>
                  <a:lnTo>
                    <a:pt x="11572" y="63624"/>
                  </a:lnTo>
                  <a:lnTo>
                    <a:pt x="38784" y="28169"/>
                  </a:lnTo>
                  <a:lnTo>
                    <a:pt x="77493" y="5828"/>
                  </a:lnTo>
                  <a:lnTo>
                    <a:pt x="106795" y="0"/>
                  </a:lnTo>
                  <a:lnTo>
                    <a:pt x="4331854" y="0"/>
                  </a:lnTo>
                  <a:lnTo>
                    <a:pt x="4375023" y="11571"/>
                  </a:lnTo>
                  <a:lnTo>
                    <a:pt x="4410477" y="38783"/>
                  </a:lnTo>
                  <a:lnTo>
                    <a:pt x="4432820" y="77492"/>
                  </a:lnTo>
                  <a:lnTo>
                    <a:pt x="4438649" y="106795"/>
                  </a:lnTo>
                  <a:lnTo>
                    <a:pt x="4438649" y="8382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838199" y="6248399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90499" y="380999"/>
                  </a:moveTo>
                  <a:lnTo>
                    <a:pt x="144200" y="375288"/>
                  </a:lnTo>
                  <a:lnTo>
                    <a:pt x="100697" y="358507"/>
                  </a:lnTo>
                  <a:lnTo>
                    <a:pt x="62575" y="331658"/>
                  </a:lnTo>
                  <a:lnTo>
                    <a:pt x="32105" y="296334"/>
                  </a:lnTo>
                  <a:lnTo>
                    <a:pt x="11130" y="254666"/>
                  </a:lnTo>
                  <a:lnTo>
                    <a:pt x="915" y="209172"/>
                  </a:lnTo>
                  <a:lnTo>
                    <a:pt x="0" y="190499"/>
                  </a:lnTo>
                  <a:lnTo>
                    <a:pt x="228" y="181141"/>
                  </a:lnTo>
                  <a:lnTo>
                    <a:pt x="8200" y="135199"/>
                  </a:lnTo>
                  <a:lnTo>
                    <a:pt x="27095" y="92572"/>
                  </a:lnTo>
                  <a:lnTo>
                    <a:pt x="55796" y="55796"/>
                  </a:lnTo>
                  <a:lnTo>
                    <a:pt x="92572" y="27095"/>
                  </a:lnTo>
                  <a:lnTo>
                    <a:pt x="135200" y="8200"/>
                  </a:lnTo>
                  <a:lnTo>
                    <a:pt x="181141" y="228"/>
                  </a:lnTo>
                  <a:lnTo>
                    <a:pt x="190499" y="0"/>
                  </a:lnTo>
                  <a:lnTo>
                    <a:pt x="199858" y="228"/>
                  </a:lnTo>
                  <a:lnTo>
                    <a:pt x="245799" y="8200"/>
                  </a:lnTo>
                  <a:lnTo>
                    <a:pt x="288427" y="27095"/>
                  </a:lnTo>
                  <a:lnTo>
                    <a:pt x="325203" y="55796"/>
                  </a:lnTo>
                  <a:lnTo>
                    <a:pt x="353904" y="92572"/>
                  </a:lnTo>
                  <a:lnTo>
                    <a:pt x="372799" y="135199"/>
                  </a:lnTo>
                  <a:lnTo>
                    <a:pt x="380771" y="181141"/>
                  </a:lnTo>
                  <a:lnTo>
                    <a:pt x="380999" y="190499"/>
                  </a:lnTo>
                  <a:lnTo>
                    <a:pt x="380771" y="199858"/>
                  </a:lnTo>
                  <a:lnTo>
                    <a:pt x="372799" y="245798"/>
                  </a:lnTo>
                  <a:lnTo>
                    <a:pt x="353904" y="288426"/>
                  </a:lnTo>
                  <a:lnTo>
                    <a:pt x="325203" y="325202"/>
                  </a:lnTo>
                  <a:lnTo>
                    <a:pt x="288427" y="353902"/>
                  </a:lnTo>
                  <a:lnTo>
                    <a:pt x="245799" y="372798"/>
                  </a:lnTo>
                  <a:lnTo>
                    <a:pt x="199858" y="380770"/>
                  </a:lnTo>
                  <a:lnTo>
                    <a:pt x="190499" y="380999"/>
                  </a:lnTo>
                  <a:close/>
                </a:path>
              </a:pathLst>
            </a:custGeom>
            <a:solidFill>
              <a:srgbClr val="ECE8F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2" name="object 22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13879" y="6343649"/>
              <a:ext cx="239129" cy="190499"/>
            </a:xfrm>
            <a:prstGeom prst="rect">
              <a:avLst/>
            </a:prstGeom>
          </p:spPr>
        </p:pic>
      </p:grpSp>
      <p:sp>
        <p:nvSpPr>
          <p:cNvPr id="23" name="object 23" descr=""/>
          <p:cNvSpPr txBox="1"/>
          <p:nvPr/>
        </p:nvSpPr>
        <p:spPr>
          <a:xfrm>
            <a:off x="1320799" y="6274561"/>
            <a:ext cx="1739900" cy="28765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700" spc="-204">
                <a:solidFill>
                  <a:srgbClr val="1F2937"/>
                </a:solidFill>
                <a:latin typeface="SimSun"/>
                <a:cs typeface="SimSun"/>
              </a:rPr>
              <a:t>决策机制与沟通协调</a:t>
            </a:r>
            <a:endParaRPr sz="1700">
              <a:latin typeface="SimSun"/>
              <a:cs typeface="SimSun"/>
            </a:endParaRPr>
          </a:p>
        </p:txBody>
      </p:sp>
      <p:grpSp>
        <p:nvGrpSpPr>
          <p:cNvPr id="24" name="object 24" descr=""/>
          <p:cNvGrpSpPr/>
          <p:nvPr/>
        </p:nvGrpSpPr>
        <p:grpSpPr>
          <a:xfrm>
            <a:off x="838199" y="6781799"/>
            <a:ext cx="2105025" cy="76200"/>
            <a:chOff x="838199" y="6781799"/>
            <a:chExt cx="2105025" cy="76200"/>
          </a:xfrm>
        </p:grpSpPr>
        <p:sp>
          <p:nvSpPr>
            <p:cNvPr id="25" name="object 25" descr=""/>
            <p:cNvSpPr/>
            <p:nvPr/>
          </p:nvSpPr>
          <p:spPr>
            <a:xfrm>
              <a:off x="838199" y="6781799"/>
              <a:ext cx="38100" cy="76200"/>
            </a:xfrm>
            <a:custGeom>
              <a:avLst/>
              <a:gdLst/>
              <a:ahLst/>
              <a:cxnLst/>
              <a:rect l="l" t="t" r="r" b="b"/>
              <a:pathLst>
                <a:path w="38100" h="76200">
                  <a:moveTo>
                    <a:pt x="38099" y="76200"/>
                  </a:moveTo>
                  <a:lnTo>
                    <a:pt x="0" y="76200"/>
                  </a:lnTo>
                  <a:lnTo>
                    <a:pt x="0" y="0"/>
                  </a:lnTo>
                  <a:lnTo>
                    <a:pt x="38099" y="0"/>
                  </a:lnTo>
                  <a:lnTo>
                    <a:pt x="38099" y="76200"/>
                  </a:lnTo>
                  <a:close/>
                </a:path>
              </a:pathLst>
            </a:custGeom>
            <a:solidFill>
              <a:srgbClr val="60A5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2905124" y="6781799"/>
              <a:ext cx="38100" cy="76200"/>
            </a:xfrm>
            <a:custGeom>
              <a:avLst/>
              <a:gdLst/>
              <a:ahLst/>
              <a:cxnLst/>
              <a:rect l="l" t="t" r="r" b="b"/>
              <a:pathLst>
                <a:path w="38100" h="76200">
                  <a:moveTo>
                    <a:pt x="38099" y="76200"/>
                  </a:moveTo>
                  <a:lnTo>
                    <a:pt x="0" y="76200"/>
                  </a:lnTo>
                  <a:lnTo>
                    <a:pt x="0" y="0"/>
                  </a:lnTo>
                  <a:lnTo>
                    <a:pt x="38099" y="0"/>
                  </a:lnTo>
                  <a:lnTo>
                    <a:pt x="38099" y="76200"/>
                  </a:lnTo>
                  <a:close/>
                </a:path>
              </a:pathLst>
            </a:custGeom>
            <a:solidFill>
              <a:srgbClr val="33D399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7" name="object 27" descr=""/>
          <p:cNvGrpSpPr/>
          <p:nvPr/>
        </p:nvGrpSpPr>
        <p:grpSpPr>
          <a:xfrm>
            <a:off x="152399" y="2247900"/>
            <a:ext cx="4829175" cy="838200"/>
            <a:chOff x="152399" y="2247900"/>
            <a:chExt cx="4829175" cy="838200"/>
          </a:xfrm>
        </p:grpSpPr>
        <p:sp>
          <p:nvSpPr>
            <p:cNvPr id="28" name="object 28" descr=""/>
            <p:cNvSpPr/>
            <p:nvPr/>
          </p:nvSpPr>
          <p:spPr>
            <a:xfrm>
              <a:off x="2695574" y="2247900"/>
              <a:ext cx="2133600" cy="647700"/>
            </a:xfrm>
            <a:custGeom>
              <a:avLst/>
              <a:gdLst/>
              <a:ahLst/>
              <a:cxnLst/>
              <a:rect l="l" t="t" r="r" b="b"/>
              <a:pathLst>
                <a:path w="2133600" h="647700">
                  <a:moveTo>
                    <a:pt x="2062403" y="647699"/>
                  </a:moveTo>
                  <a:lnTo>
                    <a:pt x="71196" y="647699"/>
                  </a:lnTo>
                  <a:lnTo>
                    <a:pt x="66241" y="647211"/>
                  </a:lnTo>
                  <a:lnTo>
                    <a:pt x="29705" y="632078"/>
                  </a:lnTo>
                  <a:lnTo>
                    <a:pt x="3885" y="596037"/>
                  </a:lnTo>
                  <a:lnTo>
                    <a:pt x="0" y="576503"/>
                  </a:lnTo>
                  <a:lnTo>
                    <a:pt x="0" y="571499"/>
                  </a:lnTo>
                  <a:lnTo>
                    <a:pt x="0" y="71196"/>
                  </a:lnTo>
                  <a:lnTo>
                    <a:pt x="15621" y="29705"/>
                  </a:lnTo>
                  <a:lnTo>
                    <a:pt x="51662" y="3885"/>
                  </a:lnTo>
                  <a:lnTo>
                    <a:pt x="71196" y="0"/>
                  </a:lnTo>
                  <a:lnTo>
                    <a:pt x="2062403" y="0"/>
                  </a:lnTo>
                  <a:lnTo>
                    <a:pt x="2103894" y="15621"/>
                  </a:lnTo>
                  <a:lnTo>
                    <a:pt x="2129713" y="51662"/>
                  </a:lnTo>
                  <a:lnTo>
                    <a:pt x="2133599" y="71196"/>
                  </a:lnTo>
                  <a:lnTo>
                    <a:pt x="2133599" y="576503"/>
                  </a:lnTo>
                  <a:lnTo>
                    <a:pt x="2117977" y="617994"/>
                  </a:lnTo>
                  <a:lnTo>
                    <a:pt x="2081937" y="643814"/>
                  </a:lnTo>
                  <a:lnTo>
                    <a:pt x="2067358" y="647211"/>
                  </a:lnTo>
                  <a:lnTo>
                    <a:pt x="2062403" y="647699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3743324" y="2705100"/>
              <a:ext cx="38100" cy="381000"/>
            </a:xfrm>
            <a:custGeom>
              <a:avLst/>
              <a:gdLst/>
              <a:ahLst/>
              <a:cxnLst/>
              <a:rect l="l" t="t" r="r" b="b"/>
              <a:pathLst>
                <a:path w="38100" h="381000">
                  <a:moveTo>
                    <a:pt x="38099" y="380999"/>
                  </a:moveTo>
                  <a:lnTo>
                    <a:pt x="0" y="380999"/>
                  </a:lnTo>
                  <a:lnTo>
                    <a:pt x="0" y="0"/>
                  </a:lnTo>
                  <a:lnTo>
                    <a:pt x="38099" y="0"/>
                  </a:lnTo>
                  <a:lnTo>
                    <a:pt x="38099" y="380999"/>
                  </a:lnTo>
                  <a:close/>
                </a:path>
              </a:pathLst>
            </a:custGeom>
            <a:solidFill>
              <a:srgbClr val="D0D5D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2543174" y="2247900"/>
              <a:ext cx="2438400" cy="647700"/>
            </a:xfrm>
            <a:custGeom>
              <a:avLst/>
              <a:gdLst/>
              <a:ahLst/>
              <a:cxnLst/>
              <a:rect l="l" t="t" r="r" b="b"/>
              <a:pathLst>
                <a:path w="2438400" h="647700">
                  <a:moveTo>
                    <a:pt x="2367203" y="647699"/>
                  </a:moveTo>
                  <a:lnTo>
                    <a:pt x="71196" y="647699"/>
                  </a:lnTo>
                  <a:lnTo>
                    <a:pt x="66241" y="647211"/>
                  </a:lnTo>
                  <a:lnTo>
                    <a:pt x="29705" y="632078"/>
                  </a:lnTo>
                  <a:lnTo>
                    <a:pt x="3885" y="596037"/>
                  </a:lnTo>
                  <a:lnTo>
                    <a:pt x="0" y="576503"/>
                  </a:lnTo>
                  <a:lnTo>
                    <a:pt x="0" y="571499"/>
                  </a:lnTo>
                  <a:lnTo>
                    <a:pt x="0" y="71196"/>
                  </a:lnTo>
                  <a:lnTo>
                    <a:pt x="15621" y="29705"/>
                  </a:lnTo>
                  <a:lnTo>
                    <a:pt x="51662" y="3885"/>
                  </a:lnTo>
                  <a:lnTo>
                    <a:pt x="71196" y="0"/>
                  </a:lnTo>
                  <a:lnTo>
                    <a:pt x="2367203" y="0"/>
                  </a:lnTo>
                  <a:lnTo>
                    <a:pt x="2408694" y="15621"/>
                  </a:lnTo>
                  <a:lnTo>
                    <a:pt x="2434513" y="51662"/>
                  </a:lnTo>
                  <a:lnTo>
                    <a:pt x="2438399" y="71196"/>
                  </a:lnTo>
                  <a:lnTo>
                    <a:pt x="2438399" y="576503"/>
                  </a:lnTo>
                  <a:lnTo>
                    <a:pt x="2422777" y="617994"/>
                  </a:lnTo>
                  <a:lnTo>
                    <a:pt x="2386737" y="643814"/>
                  </a:lnTo>
                  <a:lnTo>
                    <a:pt x="2372158" y="647211"/>
                  </a:lnTo>
                  <a:lnTo>
                    <a:pt x="2367203" y="647699"/>
                  </a:lnTo>
                  <a:close/>
                </a:path>
              </a:pathLst>
            </a:custGeom>
            <a:solidFill>
              <a:srgbClr val="60A5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2771762" y="2247899"/>
              <a:ext cx="1981200" cy="457200"/>
            </a:xfrm>
            <a:custGeom>
              <a:avLst/>
              <a:gdLst/>
              <a:ahLst/>
              <a:cxnLst/>
              <a:rect l="l" t="t" r="r" b="b"/>
              <a:pathLst>
                <a:path w="1981200" h="457200">
                  <a:moveTo>
                    <a:pt x="381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38100" y="457200"/>
                  </a:lnTo>
                  <a:lnTo>
                    <a:pt x="38100" y="0"/>
                  </a:lnTo>
                  <a:close/>
                </a:path>
                <a:path w="1981200" h="457200">
                  <a:moveTo>
                    <a:pt x="1009650" y="0"/>
                  </a:moveTo>
                  <a:lnTo>
                    <a:pt x="971550" y="0"/>
                  </a:lnTo>
                  <a:lnTo>
                    <a:pt x="971550" y="457200"/>
                  </a:lnTo>
                  <a:lnTo>
                    <a:pt x="1009650" y="457200"/>
                  </a:lnTo>
                  <a:lnTo>
                    <a:pt x="1009650" y="0"/>
                  </a:lnTo>
                  <a:close/>
                </a:path>
                <a:path w="1981200" h="457200">
                  <a:moveTo>
                    <a:pt x="1981200" y="0"/>
                  </a:moveTo>
                  <a:lnTo>
                    <a:pt x="1943100" y="0"/>
                  </a:lnTo>
                  <a:lnTo>
                    <a:pt x="1943100" y="457200"/>
                  </a:lnTo>
                  <a:lnTo>
                    <a:pt x="1981200" y="457200"/>
                  </a:lnTo>
                  <a:lnTo>
                    <a:pt x="1981200" y="0"/>
                  </a:lnTo>
                  <a:close/>
                </a:path>
              </a:pathLst>
            </a:custGeom>
            <a:solidFill>
              <a:srgbClr val="D0D5D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152387" y="2247899"/>
              <a:ext cx="4295775" cy="571500"/>
            </a:xfrm>
            <a:custGeom>
              <a:avLst/>
              <a:gdLst/>
              <a:ahLst/>
              <a:cxnLst/>
              <a:rect l="l" t="t" r="r" b="b"/>
              <a:pathLst>
                <a:path w="4295775" h="571500">
                  <a:moveTo>
                    <a:pt x="1371600" y="71208"/>
                  </a:moveTo>
                  <a:lnTo>
                    <a:pt x="1355979" y="29718"/>
                  </a:lnTo>
                  <a:lnTo>
                    <a:pt x="1319949" y="3886"/>
                  </a:lnTo>
                  <a:lnTo>
                    <a:pt x="1300403" y="0"/>
                  </a:lnTo>
                  <a:lnTo>
                    <a:pt x="71208" y="0"/>
                  </a:lnTo>
                  <a:lnTo>
                    <a:pt x="29718" y="15633"/>
                  </a:lnTo>
                  <a:lnTo>
                    <a:pt x="3886" y="51663"/>
                  </a:lnTo>
                  <a:lnTo>
                    <a:pt x="0" y="71208"/>
                  </a:lnTo>
                  <a:lnTo>
                    <a:pt x="0" y="495300"/>
                  </a:lnTo>
                  <a:lnTo>
                    <a:pt x="0" y="500303"/>
                  </a:lnTo>
                  <a:lnTo>
                    <a:pt x="15633" y="541794"/>
                  </a:lnTo>
                  <a:lnTo>
                    <a:pt x="51663" y="567626"/>
                  </a:lnTo>
                  <a:lnTo>
                    <a:pt x="71208" y="571500"/>
                  </a:lnTo>
                  <a:lnTo>
                    <a:pt x="1300403" y="571500"/>
                  </a:lnTo>
                  <a:lnTo>
                    <a:pt x="1341894" y="555879"/>
                  </a:lnTo>
                  <a:lnTo>
                    <a:pt x="1367726" y="519849"/>
                  </a:lnTo>
                  <a:lnTo>
                    <a:pt x="1371600" y="500303"/>
                  </a:lnTo>
                  <a:lnTo>
                    <a:pt x="1371600" y="71208"/>
                  </a:lnTo>
                  <a:close/>
                </a:path>
                <a:path w="4295775" h="571500">
                  <a:moveTo>
                    <a:pt x="4295775" y="71208"/>
                  </a:moveTo>
                  <a:lnTo>
                    <a:pt x="4280154" y="29718"/>
                  </a:lnTo>
                  <a:lnTo>
                    <a:pt x="4244124" y="3886"/>
                  </a:lnTo>
                  <a:lnTo>
                    <a:pt x="4224579" y="0"/>
                  </a:lnTo>
                  <a:lnTo>
                    <a:pt x="2995384" y="0"/>
                  </a:lnTo>
                  <a:lnTo>
                    <a:pt x="2953880" y="15633"/>
                  </a:lnTo>
                  <a:lnTo>
                    <a:pt x="2928061" y="51663"/>
                  </a:lnTo>
                  <a:lnTo>
                    <a:pt x="2924175" y="71208"/>
                  </a:lnTo>
                  <a:lnTo>
                    <a:pt x="2924175" y="495300"/>
                  </a:lnTo>
                  <a:lnTo>
                    <a:pt x="2924175" y="500303"/>
                  </a:lnTo>
                  <a:lnTo>
                    <a:pt x="2939808" y="541794"/>
                  </a:lnTo>
                  <a:lnTo>
                    <a:pt x="2975838" y="567626"/>
                  </a:lnTo>
                  <a:lnTo>
                    <a:pt x="2995384" y="571500"/>
                  </a:lnTo>
                  <a:lnTo>
                    <a:pt x="4224579" y="571500"/>
                  </a:lnTo>
                  <a:lnTo>
                    <a:pt x="4266069" y="555879"/>
                  </a:lnTo>
                  <a:lnTo>
                    <a:pt x="4291901" y="519849"/>
                  </a:lnTo>
                  <a:lnTo>
                    <a:pt x="4295775" y="500303"/>
                  </a:lnTo>
                  <a:lnTo>
                    <a:pt x="4295775" y="71208"/>
                  </a:lnTo>
                  <a:close/>
                </a:path>
              </a:pathLst>
            </a:custGeom>
            <a:solidFill>
              <a:srgbClr val="93C4F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3" name="object 33" descr=""/>
          <p:cNvSpPr txBox="1"/>
          <p:nvPr/>
        </p:nvSpPr>
        <p:spPr>
          <a:xfrm>
            <a:off x="3038325" y="2262421"/>
            <a:ext cx="1448435" cy="519430"/>
          </a:xfrm>
          <a:prstGeom prst="rect">
            <a:avLst/>
          </a:prstGeom>
        </p:spPr>
        <p:txBody>
          <a:bodyPr wrap="square" lIns="0" tIns="9017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710"/>
              </a:spcBef>
            </a:pPr>
            <a:r>
              <a:rPr dirty="0" sz="1350" spc="-765">
                <a:solidFill>
                  <a:srgbClr val="FFFFFF"/>
                </a:solidFill>
                <a:latin typeface="SimSun"/>
                <a:cs typeface="SimSun"/>
              </a:rPr>
              <a:t>联</a:t>
            </a:r>
            <a:r>
              <a:rPr dirty="0" baseline="12345" sz="2025" spc="-1147">
                <a:solidFill>
                  <a:srgbClr val="FFFFFF"/>
                </a:solidFill>
                <a:latin typeface="SimSun"/>
                <a:cs typeface="SimSun"/>
              </a:rPr>
              <a:t>技</a:t>
            </a:r>
            <a:r>
              <a:rPr dirty="0" sz="1350" spc="-1060">
                <a:solidFill>
                  <a:srgbClr val="FFFFFF"/>
                </a:solidFill>
                <a:latin typeface="SimSun"/>
                <a:cs typeface="SimSun"/>
              </a:rPr>
              <a:t>联合</a:t>
            </a:r>
            <a:r>
              <a:rPr dirty="0" baseline="12345" sz="2025" spc="-1147">
                <a:solidFill>
                  <a:srgbClr val="FFFFFF"/>
                </a:solidFill>
                <a:latin typeface="SimSun"/>
                <a:cs typeface="SimSun"/>
              </a:rPr>
              <a:t>术</a:t>
            </a:r>
            <a:r>
              <a:rPr dirty="0" sz="1350" spc="-1060">
                <a:solidFill>
                  <a:srgbClr val="FFFFFF"/>
                </a:solidFill>
                <a:latin typeface="SimSun"/>
                <a:cs typeface="SimSun"/>
              </a:rPr>
              <a:t>合决</a:t>
            </a:r>
            <a:r>
              <a:rPr dirty="0" baseline="12345" sz="2025" spc="-1147">
                <a:solidFill>
                  <a:srgbClr val="FFFFFF"/>
                </a:solidFill>
                <a:latin typeface="SimSun"/>
                <a:cs typeface="SimSun"/>
              </a:rPr>
              <a:t>研</a:t>
            </a:r>
            <a:r>
              <a:rPr dirty="0" sz="1350" spc="-1350">
                <a:solidFill>
                  <a:srgbClr val="FFFFFF"/>
                </a:solidFill>
                <a:latin typeface="Meiryo"/>
                <a:cs typeface="Meiryo"/>
              </a:rPr>
              <a:t>⼯</a:t>
            </a:r>
            <a:r>
              <a:rPr dirty="0" sz="1350" spc="-765">
                <a:solidFill>
                  <a:srgbClr val="FFFFFF"/>
                </a:solidFill>
                <a:latin typeface="SimSun"/>
                <a:cs typeface="SimSun"/>
              </a:rPr>
              <a:t>策</a:t>
            </a:r>
            <a:r>
              <a:rPr dirty="0" baseline="12345" sz="2025" spc="-1147">
                <a:solidFill>
                  <a:srgbClr val="FFFFFF"/>
                </a:solidFill>
                <a:latin typeface="SimSun"/>
                <a:cs typeface="SimSun"/>
              </a:rPr>
              <a:t>发</a:t>
            </a:r>
            <a:r>
              <a:rPr dirty="0" sz="1350" spc="-1060">
                <a:solidFill>
                  <a:srgbClr val="FFFFFF"/>
                </a:solidFill>
                <a:latin typeface="SimSun"/>
                <a:cs typeface="SimSun"/>
              </a:rPr>
              <a:t>作委</a:t>
            </a:r>
            <a:r>
              <a:rPr dirty="0" baseline="12345" sz="2025" spc="-1147">
                <a:solidFill>
                  <a:srgbClr val="FFFFFF"/>
                </a:solidFill>
                <a:latin typeface="SimSun"/>
                <a:cs typeface="SimSun"/>
              </a:rPr>
              <a:t>团</a:t>
            </a:r>
            <a:r>
              <a:rPr dirty="0" sz="1350" spc="-1060">
                <a:solidFill>
                  <a:srgbClr val="FFFFFF"/>
                </a:solidFill>
                <a:latin typeface="SimSun"/>
                <a:cs typeface="SimSun"/>
              </a:rPr>
              <a:t>组员</a:t>
            </a:r>
            <a:r>
              <a:rPr dirty="0" baseline="12345" sz="2025" spc="-1147">
                <a:solidFill>
                  <a:srgbClr val="FFFFFF"/>
                </a:solidFill>
                <a:latin typeface="SimSun"/>
                <a:cs typeface="SimSun"/>
              </a:rPr>
              <a:t>队</a:t>
            </a:r>
            <a:r>
              <a:rPr dirty="0" sz="1350" spc="-50">
                <a:solidFill>
                  <a:srgbClr val="FFFFFF"/>
                </a:solidFill>
                <a:latin typeface="SimSun"/>
                <a:cs typeface="SimSun"/>
              </a:rPr>
              <a:t>会</a:t>
            </a:r>
            <a:endParaRPr sz="1350">
              <a:latin typeface="SimSun"/>
              <a:cs typeface="SimSun"/>
            </a:endParaRPr>
          </a:p>
          <a:p>
            <a:pPr algn="ctr">
              <a:lnSpc>
                <a:spcPct val="100000"/>
              </a:lnSpc>
              <a:spcBef>
                <a:spcPts val="455"/>
              </a:spcBef>
            </a:pPr>
            <a:r>
              <a:rPr dirty="0" sz="1000" spc="-100">
                <a:solidFill>
                  <a:srgbClr val="FFFFFF"/>
                </a:solidFill>
                <a:latin typeface="SimSun"/>
                <a:cs typeface="SimSun"/>
              </a:rPr>
              <a:t>核</a:t>
            </a:r>
            <a:r>
              <a:rPr dirty="0" sz="1000" spc="-100">
                <a:solidFill>
                  <a:srgbClr val="FFFFFF"/>
                </a:solidFill>
                <a:latin typeface="Meiryo"/>
                <a:cs typeface="Meiryo"/>
              </a:rPr>
              <a:t>⼼</a:t>
            </a:r>
            <a:r>
              <a:rPr dirty="0" sz="1000" spc="-775">
                <a:solidFill>
                  <a:srgbClr val="FFFFFF"/>
                </a:solidFill>
                <a:latin typeface="SimSun"/>
                <a:cs typeface="SimSun"/>
              </a:rPr>
              <a:t>双业</a:t>
            </a:r>
            <a:r>
              <a:rPr dirty="0" baseline="16666" sz="1500" spc="-825">
                <a:solidFill>
                  <a:srgbClr val="FFFFFF"/>
                </a:solidFill>
                <a:latin typeface="SimSun"/>
                <a:cs typeface="SimSun"/>
              </a:rPr>
              <a:t>系</a:t>
            </a:r>
            <a:r>
              <a:rPr dirty="0" sz="1000" spc="-1000">
                <a:solidFill>
                  <a:srgbClr val="FFFFFF"/>
                </a:solidFill>
                <a:latin typeface="Meiryo"/>
                <a:cs typeface="Meiryo"/>
              </a:rPr>
              <a:t>⽅</a:t>
            </a:r>
            <a:r>
              <a:rPr dirty="0" sz="1000" spc="-550">
                <a:solidFill>
                  <a:srgbClr val="FFFFFF"/>
                </a:solidFill>
                <a:latin typeface="SimSun"/>
                <a:cs typeface="SimSun"/>
              </a:rPr>
              <a:t>务</a:t>
            </a:r>
            <a:r>
              <a:rPr dirty="0" baseline="16666" sz="1500" spc="-825">
                <a:solidFill>
                  <a:srgbClr val="FFFFFF"/>
                </a:solidFill>
                <a:latin typeface="SimSun"/>
                <a:cs typeface="SimSun"/>
              </a:rPr>
              <a:t>统</a:t>
            </a:r>
            <a:r>
              <a:rPr dirty="0" sz="1000" spc="-1000">
                <a:solidFill>
                  <a:srgbClr val="FFFFFF"/>
                </a:solidFill>
                <a:latin typeface="Meiryo"/>
                <a:cs typeface="Meiryo"/>
              </a:rPr>
              <a:t>⾼</a:t>
            </a:r>
            <a:r>
              <a:rPr dirty="0" sz="1000" spc="-550">
                <a:solidFill>
                  <a:srgbClr val="FFFFFF"/>
                </a:solidFill>
                <a:latin typeface="SimSun"/>
                <a:cs typeface="SimSun"/>
              </a:rPr>
              <a:t>负</a:t>
            </a:r>
            <a:r>
              <a:rPr dirty="0" baseline="16666" sz="1500" spc="-825">
                <a:solidFill>
                  <a:srgbClr val="FFFFFF"/>
                </a:solidFill>
                <a:latin typeface="SimSun"/>
                <a:cs typeface="SimSun"/>
              </a:rPr>
              <a:t>开</a:t>
            </a:r>
            <a:r>
              <a:rPr dirty="0" sz="1000" spc="-775">
                <a:solidFill>
                  <a:srgbClr val="FFFFFF"/>
                </a:solidFill>
                <a:latin typeface="SimSun"/>
                <a:cs typeface="SimSun"/>
              </a:rPr>
              <a:t>层责</a:t>
            </a:r>
            <a:r>
              <a:rPr dirty="0" baseline="16666" sz="1500" spc="-825">
                <a:solidFill>
                  <a:srgbClr val="FFFFFF"/>
                </a:solidFill>
                <a:latin typeface="SimSun"/>
                <a:cs typeface="SimSun"/>
              </a:rPr>
              <a:t>发</a:t>
            </a:r>
            <a:r>
              <a:rPr dirty="0" sz="1000" spc="-1000">
                <a:solidFill>
                  <a:srgbClr val="FFFFFF"/>
                </a:solidFill>
                <a:latin typeface="SimSun"/>
                <a:cs typeface="SimSun"/>
              </a:rPr>
              <a:t>领</a:t>
            </a:r>
            <a:r>
              <a:rPr dirty="0" sz="1000" spc="-550">
                <a:solidFill>
                  <a:srgbClr val="FFFFFF"/>
                </a:solidFill>
                <a:latin typeface="Meiryo"/>
                <a:cs typeface="Meiryo"/>
              </a:rPr>
              <a:t>⼈</a:t>
            </a:r>
            <a:r>
              <a:rPr dirty="0" baseline="16666" sz="1500" spc="-825">
                <a:solidFill>
                  <a:srgbClr val="FFFFFF"/>
                </a:solidFill>
                <a:latin typeface="SimSun"/>
                <a:cs typeface="SimSun"/>
              </a:rPr>
              <a:t>与</a:t>
            </a:r>
            <a:r>
              <a:rPr dirty="0" sz="1000" spc="-775">
                <a:solidFill>
                  <a:srgbClr val="FFFFFF"/>
                </a:solidFill>
                <a:latin typeface="SimSun"/>
                <a:cs typeface="SimSun"/>
              </a:rPr>
              <a:t>导、</a:t>
            </a:r>
            <a:r>
              <a:rPr dirty="0" baseline="16666" sz="1500" spc="-825">
                <a:solidFill>
                  <a:srgbClr val="FFFFFF"/>
                </a:solidFill>
                <a:latin typeface="SimSun"/>
                <a:cs typeface="SimSun"/>
              </a:rPr>
              <a:t>维</a:t>
            </a:r>
            <a:r>
              <a:rPr dirty="0" sz="1000" spc="-775">
                <a:solidFill>
                  <a:srgbClr val="FFFFFF"/>
                </a:solidFill>
                <a:latin typeface="SimSun"/>
                <a:cs typeface="SimSun"/>
              </a:rPr>
              <a:t>组项</a:t>
            </a:r>
            <a:r>
              <a:rPr dirty="0" baseline="16666" sz="1500" spc="-825">
                <a:solidFill>
                  <a:srgbClr val="FFFFFF"/>
                </a:solidFill>
                <a:latin typeface="SimSun"/>
                <a:cs typeface="SimSun"/>
              </a:rPr>
              <a:t>护</a:t>
            </a:r>
            <a:r>
              <a:rPr dirty="0" sz="1000" spc="-550">
                <a:solidFill>
                  <a:srgbClr val="FFFFFF"/>
                </a:solidFill>
                <a:latin typeface="Meiryo"/>
                <a:cs typeface="Meiryo"/>
              </a:rPr>
              <a:t>成⽬</a:t>
            </a:r>
            <a:r>
              <a:rPr dirty="0" sz="1000" spc="-75">
                <a:solidFill>
                  <a:srgbClr val="FFFFFF"/>
                </a:solidFill>
                <a:latin typeface="SimSun"/>
                <a:cs typeface="SimSun"/>
              </a:rPr>
              <a:t>经理</a:t>
            </a:r>
            <a:endParaRPr sz="1000">
              <a:latin typeface="SimSun"/>
              <a:cs typeface="SimSun"/>
            </a:endParaRPr>
          </a:p>
        </p:txBody>
      </p:sp>
      <p:sp>
        <p:nvSpPr>
          <p:cNvPr id="34" name="object 34" descr=""/>
          <p:cNvSpPr/>
          <p:nvPr/>
        </p:nvSpPr>
        <p:spPr>
          <a:xfrm>
            <a:off x="152399" y="2247900"/>
            <a:ext cx="1371600" cy="571500"/>
          </a:xfrm>
          <a:custGeom>
            <a:avLst/>
            <a:gdLst/>
            <a:ahLst/>
            <a:cxnLst/>
            <a:rect l="l" t="t" r="r" b="b"/>
            <a:pathLst>
              <a:path w="1371600" h="571500">
                <a:moveTo>
                  <a:pt x="1300403" y="571499"/>
                </a:moveTo>
                <a:lnTo>
                  <a:pt x="71196" y="571499"/>
                </a:lnTo>
                <a:lnTo>
                  <a:pt x="66241" y="571011"/>
                </a:lnTo>
                <a:lnTo>
                  <a:pt x="29705" y="555878"/>
                </a:lnTo>
                <a:lnTo>
                  <a:pt x="3885" y="519837"/>
                </a:lnTo>
                <a:lnTo>
                  <a:pt x="0" y="500303"/>
                </a:lnTo>
                <a:lnTo>
                  <a:pt x="0" y="495299"/>
                </a:lnTo>
                <a:lnTo>
                  <a:pt x="0" y="71196"/>
                </a:lnTo>
                <a:lnTo>
                  <a:pt x="15621" y="29705"/>
                </a:lnTo>
                <a:lnTo>
                  <a:pt x="51662" y="3885"/>
                </a:lnTo>
                <a:lnTo>
                  <a:pt x="71196" y="0"/>
                </a:lnTo>
                <a:lnTo>
                  <a:pt x="1300403" y="0"/>
                </a:lnTo>
                <a:lnTo>
                  <a:pt x="1341894" y="15621"/>
                </a:lnTo>
                <a:lnTo>
                  <a:pt x="1367714" y="51662"/>
                </a:lnTo>
                <a:lnTo>
                  <a:pt x="1371599" y="71196"/>
                </a:lnTo>
                <a:lnTo>
                  <a:pt x="1371599" y="500303"/>
                </a:lnTo>
                <a:lnTo>
                  <a:pt x="1355978" y="541794"/>
                </a:lnTo>
                <a:lnTo>
                  <a:pt x="1319937" y="567614"/>
                </a:lnTo>
                <a:lnTo>
                  <a:pt x="1305358" y="571011"/>
                </a:lnTo>
                <a:lnTo>
                  <a:pt x="1300403" y="571499"/>
                </a:lnTo>
                <a:close/>
              </a:path>
            </a:pathLst>
          </a:custGeom>
          <a:solidFill>
            <a:srgbClr val="93C4F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 descr=""/>
          <p:cNvSpPr txBox="1"/>
          <p:nvPr/>
        </p:nvSpPr>
        <p:spPr>
          <a:xfrm>
            <a:off x="368151" y="2224321"/>
            <a:ext cx="939800" cy="519430"/>
          </a:xfrm>
          <a:prstGeom prst="rect">
            <a:avLst/>
          </a:prstGeom>
        </p:spPr>
        <p:txBody>
          <a:bodyPr wrap="square" lIns="0" tIns="901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10"/>
              </a:spcBef>
            </a:pPr>
            <a:r>
              <a:rPr dirty="0" sz="1350" spc="-640">
                <a:solidFill>
                  <a:srgbClr val="FFFFFF"/>
                </a:solidFill>
                <a:latin typeface="SimSun"/>
                <a:cs typeface="SimSun"/>
              </a:rPr>
              <a:t>招园商区运营营销团队</a:t>
            </a:r>
            <a:endParaRPr sz="1350">
              <a:latin typeface="SimSun"/>
              <a:cs typeface="SimSun"/>
            </a:endParaRPr>
          </a:p>
          <a:p>
            <a:pPr marL="69215">
              <a:lnSpc>
                <a:spcPct val="100000"/>
              </a:lnSpc>
              <a:spcBef>
                <a:spcPts val="455"/>
              </a:spcBef>
            </a:pPr>
            <a:r>
              <a:rPr dirty="0" sz="1000" spc="-550">
                <a:solidFill>
                  <a:srgbClr val="FFFFFF"/>
                </a:solidFill>
                <a:latin typeface="SimSun"/>
                <a:cs typeface="SimSun"/>
              </a:rPr>
              <a:t>客</a:t>
            </a:r>
            <a:r>
              <a:rPr dirty="0" sz="1000" spc="-550">
                <a:solidFill>
                  <a:srgbClr val="FFFFFF"/>
                </a:solidFill>
                <a:latin typeface="Meiryo"/>
                <a:cs typeface="Meiryo"/>
              </a:rPr>
              <a:t>⽇⼾</a:t>
            </a:r>
            <a:r>
              <a:rPr dirty="0" sz="1000" spc="-500">
                <a:solidFill>
                  <a:srgbClr val="FFFFFF"/>
                </a:solidFill>
                <a:latin typeface="SimSun"/>
                <a:cs typeface="SimSun"/>
              </a:rPr>
              <a:t>常开管发理与维服护务</a:t>
            </a:r>
            <a:endParaRPr sz="1000">
              <a:latin typeface="SimSun"/>
              <a:cs typeface="SimSun"/>
            </a:endParaRPr>
          </a:p>
        </p:txBody>
      </p:sp>
      <p:pic>
        <p:nvPicPr>
          <p:cNvPr id="36" name="object 36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439397" y="6476999"/>
            <a:ext cx="76201" cy="76199"/>
          </a:xfrm>
          <a:prstGeom prst="rect">
            <a:avLst/>
          </a:prstGeom>
        </p:spPr>
      </p:pic>
      <p:grpSp>
        <p:nvGrpSpPr>
          <p:cNvPr id="37" name="object 37" descr=""/>
          <p:cNvGrpSpPr/>
          <p:nvPr/>
        </p:nvGrpSpPr>
        <p:grpSpPr>
          <a:xfrm>
            <a:off x="10591797" y="6343649"/>
            <a:ext cx="1409700" cy="323850"/>
            <a:chOff x="10591797" y="6343649"/>
            <a:chExt cx="1409700" cy="323850"/>
          </a:xfrm>
        </p:grpSpPr>
        <p:sp>
          <p:nvSpPr>
            <p:cNvPr id="38" name="object 38" descr=""/>
            <p:cNvSpPr/>
            <p:nvPr/>
          </p:nvSpPr>
          <p:spPr>
            <a:xfrm>
              <a:off x="10591797" y="6476999"/>
              <a:ext cx="304800" cy="76200"/>
            </a:xfrm>
            <a:custGeom>
              <a:avLst/>
              <a:gdLst/>
              <a:ahLst/>
              <a:cxnLst/>
              <a:rect l="l" t="t" r="r" b="b"/>
              <a:pathLst>
                <a:path w="304800" h="76200">
                  <a:moveTo>
                    <a:pt x="271753" y="76199"/>
                  </a:moveTo>
                  <a:lnTo>
                    <a:pt x="33047" y="76199"/>
                  </a:lnTo>
                  <a:lnTo>
                    <a:pt x="28187" y="75232"/>
                  </a:lnTo>
                  <a:lnTo>
                    <a:pt x="966" y="48012"/>
                  </a:lnTo>
                  <a:lnTo>
                    <a:pt x="0" y="43152"/>
                  </a:lnTo>
                  <a:lnTo>
                    <a:pt x="1" y="3809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271753" y="0"/>
                  </a:lnTo>
                  <a:lnTo>
                    <a:pt x="303833" y="28186"/>
                  </a:lnTo>
                  <a:lnTo>
                    <a:pt x="304799" y="33047"/>
                  </a:lnTo>
                  <a:lnTo>
                    <a:pt x="304799" y="43152"/>
                  </a:lnTo>
                  <a:lnTo>
                    <a:pt x="276612" y="75232"/>
                  </a:lnTo>
                  <a:lnTo>
                    <a:pt x="271753" y="76199"/>
                  </a:lnTo>
                  <a:close/>
                </a:path>
              </a:pathLst>
            </a:custGeom>
            <a:solidFill>
              <a:srgbClr val="60A5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10972797" y="6476999"/>
              <a:ext cx="609600" cy="76200"/>
            </a:xfrm>
            <a:custGeom>
              <a:avLst/>
              <a:gdLst/>
              <a:ahLst/>
              <a:cxnLst/>
              <a:rect l="l" t="t" r="r" b="b"/>
              <a:pathLst>
                <a:path w="609600" h="76200">
                  <a:moveTo>
                    <a:pt x="576553" y="76199"/>
                  </a:moveTo>
                  <a:lnTo>
                    <a:pt x="33047" y="76199"/>
                  </a:lnTo>
                  <a:lnTo>
                    <a:pt x="28186" y="75232"/>
                  </a:lnTo>
                  <a:lnTo>
                    <a:pt x="967" y="48012"/>
                  </a:lnTo>
                  <a:lnTo>
                    <a:pt x="0" y="43152"/>
                  </a:lnTo>
                  <a:lnTo>
                    <a:pt x="1" y="38099"/>
                  </a:lnTo>
                  <a:lnTo>
                    <a:pt x="0" y="33047"/>
                  </a:lnTo>
                  <a:lnTo>
                    <a:pt x="28186" y="966"/>
                  </a:lnTo>
                  <a:lnTo>
                    <a:pt x="33047" y="0"/>
                  </a:lnTo>
                  <a:lnTo>
                    <a:pt x="576553" y="0"/>
                  </a:lnTo>
                  <a:lnTo>
                    <a:pt x="608632" y="28186"/>
                  </a:lnTo>
                  <a:lnTo>
                    <a:pt x="609599" y="33047"/>
                  </a:lnTo>
                  <a:lnTo>
                    <a:pt x="609599" y="43152"/>
                  </a:lnTo>
                  <a:lnTo>
                    <a:pt x="581412" y="75232"/>
                  </a:lnTo>
                  <a:lnTo>
                    <a:pt x="576553" y="76199"/>
                  </a:lnTo>
                  <a:close/>
                </a:path>
              </a:pathLst>
            </a:custGeom>
            <a:solidFill>
              <a:srgbClr val="93C4F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10620374" y="6343649"/>
              <a:ext cx="1381125" cy="323850"/>
            </a:xfrm>
            <a:custGeom>
              <a:avLst/>
              <a:gdLst/>
              <a:ahLst/>
              <a:cxnLst/>
              <a:rect l="l" t="t" r="r" b="b"/>
              <a:pathLst>
                <a:path w="1381125" h="323850">
                  <a:moveTo>
                    <a:pt x="1348077" y="323849"/>
                  </a:moveTo>
                  <a:lnTo>
                    <a:pt x="33047" y="323849"/>
                  </a:lnTo>
                  <a:lnTo>
                    <a:pt x="28187" y="322883"/>
                  </a:lnTo>
                  <a:lnTo>
                    <a:pt x="966" y="295662"/>
                  </a:lnTo>
                  <a:lnTo>
                    <a:pt x="0" y="290802"/>
                  </a:lnTo>
                  <a:lnTo>
                    <a:pt x="0" y="28574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1348077" y="0"/>
                  </a:lnTo>
                  <a:lnTo>
                    <a:pt x="1380157" y="28187"/>
                  </a:lnTo>
                  <a:lnTo>
                    <a:pt x="1381124" y="33047"/>
                  </a:lnTo>
                  <a:lnTo>
                    <a:pt x="1381124" y="290802"/>
                  </a:lnTo>
                  <a:lnTo>
                    <a:pt x="1352937" y="322883"/>
                  </a:lnTo>
                  <a:lnTo>
                    <a:pt x="1348077" y="323849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1" name="object 41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734674" y="6438899"/>
              <a:ext cx="133349" cy="133349"/>
            </a:xfrm>
            <a:prstGeom prst="rect">
              <a:avLst/>
            </a:prstGeom>
          </p:spPr>
        </p:pic>
      </p:grpSp>
      <p:sp>
        <p:nvSpPr>
          <p:cNvPr id="42" name="object 42" descr=""/>
          <p:cNvSpPr txBox="1"/>
          <p:nvPr/>
        </p:nvSpPr>
        <p:spPr>
          <a:xfrm>
            <a:off x="10912176" y="6401815"/>
            <a:ext cx="988060" cy="18097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000" spc="-160">
                <a:solidFill>
                  <a:srgbClr val="FFFFFF"/>
                </a:solidFill>
                <a:latin typeface="SimSun"/>
                <a:cs typeface="SimSun"/>
              </a:rPr>
              <a:t>由 </a:t>
            </a:r>
            <a:r>
              <a:rPr dirty="0" sz="900">
                <a:solidFill>
                  <a:srgbClr val="FFFFFF"/>
                </a:solidFill>
                <a:latin typeface="DejaVu Sans"/>
                <a:cs typeface="DejaVu Sans"/>
              </a:rPr>
              <a:t>Genspark</a:t>
            </a:r>
            <a:r>
              <a:rPr dirty="0" sz="900" spc="-45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000" spc="-75">
                <a:solidFill>
                  <a:srgbClr val="FFFFFF"/>
                </a:solidFill>
                <a:latin typeface="SimSun"/>
                <a:cs typeface="SimSun"/>
              </a:rPr>
              <a:t>制作</a:t>
            </a:r>
            <a:endParaRPr sz="1000">
              <a:latin typeface="SimSun"/>
              <a:cs typeface="SimSu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609599" y="1066799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914399" y="38099"/>
                </a:moveTo>
                <a:lnTo>
                  <a:pt x="0" y="38099"/>
                </a:lnTo>
                <a:lnTo>
                  <a:pt x="0" y="0"/>
                </a:lnTo>
                <a:lnTo>
                  <a:pt x="914399" y="0"/>
                </a:lnTo>
                <a:lnTo>
                  <a:pt x="914399" y="38099"/>
                </a:lnTo>
                <a:close/>
              </a:path>
            </a:pathLst>
          </a:custGeom>
          <a:solidFill>
            <a:srgbClr val="3B81F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370">
                <a:latin typeface="BIZ UDPGothic"/>
                <a:cs typeface="BIZ UDPGothic"/>
              </a:rPr>
              <a:t>商</a:t>
            </a:r>
            <a:r>
              <a:rPr dirty="0" spc="-370"/>
              <a:t>业</a:t>
            </a:r>
            <a:r>
              <a:rPr dirty="0" spc="-370">
                <a:latin typeface="BIZ UDPGothic"/>
                <a:cs typeface="BIZ UDPGothic"/>
              </a:rPr>
              <a:t>价</a:t>
            </a:r>
            <a:r>
              <a:rPr dirty="0" spc="-380"/>
              <a:t>值与效益预测</a:t>
            </a:r>
          </a:p>
        </p:txBody>
      </p:sp>
      <p:grpSp>
        <p:nvGrpSpPr>
          <p:cNvPr id="4" name="object 4" descr=""/>
          <p:cNvGrpSpPr/>
          <p:nvPr/>
        </p:nvGrpSpPr>
        <p:grpSpPr>
          <a:xfrm>
            <a:off x="609599" y="1409699"/>
            <a:ext cx="6305550" cy="4076700"/>
            <a:chOff x="609599" y="1409699"/>
            <a:chExt cx="6305550" cy="4076700"/>
          </a:xfrm>
        </p:grpSpPr>
        <p:sp>
          <p:nvSpPr>
            <p:cNvPr id="5" name="object 5" descr=""/>
            <p:cNvSpPr/>
            <p:nvPr/>
          </p:nvSpPr>
          <p:spPr>
            <a:xfrm>
              <a:off x="609599" y="1409699"/>
              <a:ext cx="6305550" cy="4076700"/>
            </a:xfrm>
            <a:custGeom>
              <a:avLst/>
              <a:gdLst/>
              <a:ahLst/>
              <a:cxnLst/>
              <a:rect l="l" t="t" r="r" b="b"/>
              <a:pathLst>
                <a:path w="6305550" h="4076700">
                  <a:moveTo>
                    <a:pt x="6198754" y="4076699"/>
                  </a:moveTo>
                  <a:lnTo>
                    <a:pt x="106795" y="4076699"/>
                  </a:lnTo>
                  <a:lnTo>
                    <a:pt x="99362" y="4075967"/>
                  </a:lnTo>
                  <a:lnTo>
                    <a:pt x="57038" y="4061605"/>
                  </a:lnTo>
                  <a:lnTo>
                    <a:pt x="23432" y="4032140"/>
                  </a:lnTo>
                  <a:lnTo>
                    <a:pt x="3660" y="3992058"/>
                  </a:lnTo>
                  <a:lnTo>
                    <a:pt x="0" y="3969904"/>
                  </a:lnTo>
                  <a:lnTo>
                    <a:pt x="0" y="3962399"/>
                  </a:lnTo>
                  <a:lnTo>
                    <a:pt x="0" y="106794"/>
                  </a:lnTo>
                  <a:lnTo>
                    <a:pt x="11572" y="63625"/>
                  </a:lnTo>
                  <a:lnTo>
                    <a:pt x="38784" y="28170"/>
                  </a:lnTo>
                  <a:lnTo>
                    <a:pt x="77493" y="5828"/>
                  </a:lnTo>
                  <a:lnTo>
                    <a:pt x="106795" y="0"/>
                  </a:lnTo>
                  <a:lnTo>
                    <a:pt x="6198754" y="0"/>
                  </a:lnTo>
                  <a:lnTo>
                    <a:pt x="6241923" y="11572"/>
                  </a:lnTo>
                  <a:lnTo>
                    <a:pt x="6277378" y="38784"/>
                  </a:lnTo>
                  <a:lnTo>
                    <a:pt x="6299720" y="77492"/>
                  </a:lnTo>
                  <a:lnTo>
                    <a:pt x="6305548" y="106794"/>
                  </a:lnTo>
                  <a:lnTo>
                    <a:pt x="6305548" y="3969904"/>
                  </a:lnTo>
                  <a:lnTo>
                    <a:pt x="6293976" y="4013073"/>
                  </a:lnTo>
                  <a:lnTo>
                    <a:pt x="6266764" y="4048528"/>
                  </a:lnTo>
                  <a:lnTo>
                    <a:pt x="6228056" y="4070870"/>
                  </a:lnTo>
                  <a:lnTo>
                    <a:pt x="6206187" y="4075967"/>
                  </a:lnTo>
                  <a:lnTo>
                    <a:pt x="6198754" y="40766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838199" y="1638299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36086" y="457199"/>
                  </a:moveTo>
                  <a:lnTo>
                    <a:pt x="221113" y="457199"/>
                  </a:lnTo>
                  <a:lnTo>
                    <a:pt x="213644" y="456832"/>
                  </a:lnTo>
                  <a:lnTo>
                    <a:pt x="169405" y="449529"/>
                  </a:lnTo>
                  <a:lnTo>
                    <a:pt x="127441" y="433736"/>
                  </a:lnTo>
                  <a:lnTo>
                    <a:pt x="89365" y="410059"/>
                  </a:lnTo>
                  <a:lnTo>
                    <a:pt x="56639" y="379409"/>
                  </a:lnTo>
                  <a:lnTo>
                    <a:pt x="30522" y="342963"/>
                  </a:lnTo>
                  <a:lnTo>
                    <a:pt x="12016" y="302123"/>
                  </a:lnTo>
                  <a:lnTo>
                    <a:pt x="1834" y="258457"/>
                  </a:lnTo>
                  <a:lnTo>
                    <a:pt x="0" y="236087"/>
                  </a:lnTo>
                  <a:lnTo>
                    <a:pt x="0" y="221113"/>
                  </a:lnTo>
                  <a:lnTo>
                    <a:pt x="5853" y="176659"/>
                  </a:lnTo>
                  <a:lnTo>
                    <a:pt x="20266" y="134201"/>
                  </a:lnTo>
                  <a:lnTo>
                    <a:pt x="42685" y="95371"/>
                  </a:lnTo>
                  <a:lnTo>
                    <a:pt x="72249" y="61661"/>
                  </a:lnTo>
                  <a:lnTo>
                    <a:pt x="107821" y="34366"/>
                  </a:lnTo>
                  <a:lnTo>
                    <a:pt x="148035" y="14535"/>
                  </a:lnTo>
                  <a:lnTo>
                    <a:pt x="191345" y="2931"/>
                  </a:lnTo>
                  <a:lnTo>
                    <a:pt x="221113" y="0"/>
                  </a:lnTo>
                  <a:lnTo>
                    <a:pt x="236086" y="0"/>
                  </a:lnTo>
                  <a:lnTo>
                    <a:pt x="280540" y="5853"/>
                  </a:lnTo>
                  <a:lnTo>
                    <a:pt x="322998" y="20266"/>
                  </a:lnTo>
                  <a:lnTo>
                    <a:pt x="361828" y="42685"/>
                  </a:lnTo>
                  <a:lnTo>
                    <a:pt x="395538" y="72249"/>
                  </a:lnTo>
                  <a:lnTo>
                    <a:pt x="422833" y="107821"/>
                  </a:lnTo>
                  <a:lnTo>
                    <a:pt x="442663" y="148035"/>
                  </a:lnTo>
                  <a:lnTo>
                    <a:pt x="454268" y="191345"/>
                  </a:lnTo>
                  <a:lnTo>
                    <a:pt x="457199" y="221113"/>
                  </a:lnTo>
                  <a:lnTo>
                    <a:pt x="457199" y="228599"/>
                  </a:lnTo>
                  <a:lnTo>
                    <a:pt x="457199" y="236087"/>
                  </a:lnTo>
                  <a:lnTo>
                    <a:pt x="451346" y="280540"/>
                  </a:lnTo>
                  <a:lnTo>
                    <a:pt x="436933" y="322998"/>
                  </a:lnTo>
                  <a:lnTo>
                    <a:pt x="414514" y="361828"/>
                  </a:lnTo>
                  <a:lnTo>
                    <a:pt x="384950" y="395538"/>
                  </a:lnTo>
                  <a:lnTo>
                    <a:pt x="349378" y="422833"/>
                  </a:lnTo>
                  <a:lnTo>
                    <a:pt x="309164" y="442663"/>
                  </a:lnTo>
                  <a:lnTo>
                    <a:pt x="265854" y="454267"/>
                  </a:lnTo>
                  <a:lnTo>
                    <a:pt x="243555" y="456832"/>
                  </a:lnTo>
                  <a:lnTo>
                    <a:pt x="236086" y="457199"/>
                  </a:lnTo>
                  <a:close/>
                </a:path>
              </a:pathLst>
            </a:custGeom>
            <a:solidFill>
              <a:srgbClr val="DAE9F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52499" y="1766887"/>
              <a:ext cx="228600" cy="200025"/>
            </a:xfrm>
            <a:prstGeom prst="rect">
              <a:avLst/>
            </a:prstGeom>
          </p:spPr>
        </p:pic>
      </p:grpSp>
      <p:sp>
        <p:nvSpPr>
          <p:cNvPr id="8" name="object 8" descr=""/>
          <p:cNvSpPr txBox="1"/>
          <p:nvPr/>
        </p:nvSpPr>
        <p:spPr>
          <a:xfrm>
            <a:off x="1435099" y="1668424"/>
            <a:ext cx="1854200" cy="34036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050" spc="-280">
                <a:solidFill>
                  <a:srgbClr val="1F2937"/>
                </a:solidFill>
                <a:latin typeface="SimSun"/>
                <a:cs typeface="SimSun"/>
              </a:rPr>
              <a:t>园区资产增值路径</a:t>
            </a:r>
            <a:endParaRPr sz="2050">
              <a:latin typeface="SimSun"/>
              <a:cs typeface="SimSun"/>
            </a:endParaRPr>
          </a:p>
        </p:txBody>
      </p:sp>
      <p:grpSp>
        <p:nvGrpSpPr>
          <p:cNvPr id="9" name="object 9" descr=""/>
          <p:cNvGrpSpPr/>
          <p:nvPr/>
        </p:nvGrpSpPr>
        <p:grpSpPr>
          <a:xfrm>
            <a:off x="838199" y="2362199"/>
            <a:ext cx="5848350" cy="2895600"/>
            <a:chOff x="838199" y="2362199"/>
            <a:chExt cx="5848350" cy="2895600"/>
          </a:xfrm>
        </p:grpSpPr>
        <p:sp>
          <p:nvSpPr>
            <p:cNvPr id="10" name="object 10" descr=""/>
            <p:cNvSpPr/>
            <p:nvPr/>
          </p:nvSpPr>
          <p:spPr>
            <a:xfrm>
              <a:off x="838187" y="2362199"/>
              <a:ext cx="38100" cy="1066800"/>
            </a:xfrm>
            <a:custGeom>
              <a:avLst/>
              <a:gdLst/>
              <a:ahLst/>
              <a:cxnLst/>
              <a:rect l="l" t="t" r="r" b="b"/>
              <a:pathLst>
                <a:path w="38100" h="1066800">
                  <a:moveTo>
                    <a:pt x="38100" y="1045235"/>
                  </a:moveTo>
                  <a:lnTo>
                    <a:pt x="21577" y="1028700"/>
                  </a:lnTo>
                  <a:lnTo>
                    <a:pt x="16535" y="1028700"/>
                  </a:lnTo>
                  <a:lnTo>
                    <a:pt x="0" y="1045235"/>
                  </a:lnTo>
                  <a:lnTo>
                    <a:pt x="0" y="1050277"/>
                  </a:lnTo>
                  <a:lnTo>
                    <a:pt x="16535" y="1066800"/>
                  </a:lnTo>
                  <a:lnTo>
                    <a:pt x="21577" y="1066800"/>
                  </a:lnTo>
                  <a:lnTo>
                    <a:pt x="38100" y="1050277"/>
                  </a:lnTo>
                  <a:lnTo>
                    <a:pt x="38100" y="1047750"/>
                  </a:lnTo>
                  <a:lnTo>
                    <a:pt x="38100" y="1045235"/>
                  </a:lnTo>
                  <a:close/>
                </a:path>
                <a:path w="38100" h="1066800">
                  <a:moveTo>
                    <a:pt x="38100" y="702335"/>
                  </a:moveTo>
                  <a:lnTo>
                    <a:pt x="21577" y="685800"/>
                  </a:lnTo>
                  <a:lnTo>
                    <a:pt x="16535" y="685800"/>
                  </a:lnTo>
                  <a:lnTo>
                    <a:pt x="0" y="702335"/>
                  </a:lnTo>
                  <a:lnTo>
                    <a:pt x="0" y="707377"/>
                  </a:lnTo>
                  <a:lnTo>
                    <a:pt x="16535" y="723900"/>
                  </a:lnTo>
                  <a:lnTo>
                    <a:pt x="21577" y="723900"/>
                  </a:lnTo>
                  <a:lnTo>
                    <a:pt x="38100" y="707377"/>
                  </a:lnTo>
                  <a:lnTo>
                    <a:pt x="38100" y="704850"/>
                  </a:lnTo>
                  <a:lnTo>
                    <a:pt x="38100" y="702335"/>
                  </a:lnTo>
                  <a:close/>
                </a:path>
                <a:path w="38100" h="1066800">
                  <a:moveTo>
                    <a:pt x="38100" y="359435"/>
                  </a:moveTo>
                  <a:lnTo>
                    <a:pt x="21577" y="342900"/>
                  </a:lnTo>
                  <a:lnTo>
                    <a:pt x="16535" y="342900"/>
                  </a:lnTo>
                  <a:lnTo>
                    <a:pt x="0" y="359435"/>
                  </a:lnTo>
                  <a:lnTo>
                    <a:pt x="0" y="364477"/>
                  </a:lnTo>
                  <a:lnTo>
                    <a:pt x="16535" y="381000"/>
                  </a:lnTo>
                  <a:lnTo>
                    <a:pt x="21577" y="381000"/>
                  </a:lnTo>
                  <a:lnTo>
                    <a:pt x="38100" y="364477"/>
                  </a:lnTo>
                  <a:lnTo>
                    <a:pt x="38100" y="361950"/>
                  </a:lnTo>
                  <a:lnTo>
                    <a:pt x="38100" y="359435"/>
                  </a:lnTo>
                  <a:close/>
                </a:path>
                <a:path w="38100" h="1066800">
                  <a:moveTo>
                    <a:pt x="38100" y="16535"/>
                  </a:moveTo>
                  <a:lnTo>
                    <a:pt x="21577" y="0"/>
                  </a:lnTo>
                  <a:lnTo>
                    <a:pt x="16535" y="0"/>
                  </a:lnTo>
                  <a:lnTo>
                    <a:pt x="0" y="16535"/>
                  </a:lnTo>
                  <a:lnTo>
                    <a:pt x="0" y="21577"/>
                  </a:lnTo>
                  <a:lnTo>
                    <a:pt x="16535" y="38100"/>
                  </a:lnTo>
                  <a:lnTo>
                    <a:pt x="21577" y="38100"/>
                  </a:lnTo>
                  <a:lnTo>
                    <a:pt x="38100" y="21577"/>
                  </a:lnTo>
                  <a:lnTo>
                    <a:pt x="38100" y="19050"/>
                  </a:lnTo>
                  <a:lnTo>
                    <a:pt x="38100" y="16535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838199" y="3733799"/>
              <a:ext cx="5848350" cy="1524000"/>
            </a:xfrm>
            <a:custGeom>
              <a:avLst/>
              <a:gdLst/>
              <a:ahLst/>
              <a:cxnLst/>
              <a:rect l="l" t="t" r="r" b="b"/>
              <a:pathLst>
                <a:path w="5848350" h="1524000">
                  <a:moveTo>
                    <a:pt x="5777152" y="1523999"/>
                  </a:moveTo>
                  <a:lnTo>
                    <a:pt x="71196" y="1523999"/>
                  </a:lnTo>
                  <a:lnTo>
                    <a:pt x="66241" y="1523510"/>
                  </a:lnTo>
                  <a:lnTo>
                    <a:pt x="29705" y="1508376"/>
                  </a:lnTo>
                  <a:lnTo>
                    <a:pt x="3885" y="1472337"/>
                  </a:lnTo>
                  <a:lnTo>
                    <a:pt x="0" y="1452803"/>
                  </a:lnTo>
                  <a:lnTo>
                    <a:pt x="0" y="1447799"/>
                  </a:lnTo>
                  <a:lnTo>
                    <a:pt x="0" y="71196"/>
                  </a:lnTo>
                  <a:lnTo>
                    <a:pt x="15621" y="29705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5777152" y="0"/>
                  </a:lnTo>
                  <a:lnTo>
                    <a:pt x="5818643" y="15621"/>
                  </a:lnTo>
                  <a:lnTo>
                    <a:pt x="5844463" y="51661"/>
                  </a:lnTo>
                  <a:lnTo>
                    <a:pt x="5848349" y="71196"/>
                  </a:lnTo>
                  <a:lnTo>
                    <a:pt x="5848349" y="1452803"/>
                  </a:lnTo>
                  <a:lnTo>
                    <a:pt x="5832726" y="1494293"/>
                  </a:lnTo>
                  <a:lnTo>
                    <a:pt x="5796687" y="1520113"/>
                  </a:lnTo>
                  <a:lnTo>
                    <a:pt x="5782107" y="1523510"/>
                  </a:lnTo>
                  <a:lnTo>
                    <a:pt x="5777152" y="1523999"/>
                  </a:lnTo>
                  <a:close/>
                </a:path>
              </a:pathLst>
            </a:custGeom>
            <a:solidFill>
              <a:srgbClr val="EFF5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990599" y="4495799"/>
              <a:ext cx="457200" cy="381000"/>
            </a:xfrm>
            <a:custGeom>
              <a:avLst/>
              <a:gdLst/>
              <a:ahLst/>
              <a:cxnLst/>
              <a:rect l="l" t="t" r="r" b="b"/>
              <a:pathLst>
                <a:path w="457200" h="381000">
                  <a:moveTo>
                    <a:pt x="457200" y="380999"/>
                  </a:moveTo>
                  <a:lnTo>
                    <a:pt x="0" y="380999"/>
                  </a:lnTo>
                  <a:lnTo>
                    <a:pt x="0" y="71196"/>
                  </a:lnTo>
                  <a:lnTo>
                    <a:pt x="15621" y="29704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386003" y="0"/>
                  </a:lnTo>
                  <a:lnTo>
                    <a:pt x="427494" y="15621"/>
                  </a:lnTo>
                  <a:lnTo>
                    <a:pt x="453314" y="51661"/>
                  </a:lnTo>
                  <a:lnTo>
                    <a:pt x="457200" y="380999"/>
                  </a:lnTo>
                  <a:close/>
                </a:path>
              </a:pathLst>
            </a:custGeom>
            <a:solidFill>
              <a:srgbClr val="93C4F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 descr=""/>
          <p:cNvSpPr txBox="1"/>
          <p:nvPr/>
        </p:nvSpPr>
        <p:spPr>
          <a:xfrm>
            <a:off x="977900" y="2224913"/>
            <a:ext cx="3564890" cy="2324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西芯</a:t>
            </a:r>
            <a:r>
              <a:rPr dirty="0" sz="1350" spc="-170">
                <a:solidFill>
                  <a:srgbClr val="374050"/>
                </a:solidFill>
                <a:latin typeface="Meiryo"/>
                <a:cs typeface="Meiryo"/>
              </a:rPr>
              <a:t>⼤</a:t>
            </a: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道闲置空间活化，预计出租率提升</a:t>
            </a:r>
            <a:r>
              <a:rPr dirty="0" sz="1350" spc="-170">
                <a:solidFill>
                  <a:srgbClr val="374050"/>
                </a:solidFill>
                <a:latin typeface="Meiryo"/>
                <a:cs typeface="Meiryo"/>
              </a:rPr>
              <a:t>⾄</a:t>
            </a:r>
            <a:r>
              <a:rPr dirty="0" sz="1200">
                <a:solidFill>
                  <a:srgbClr val="374050"/>
                </a:solidFill>
                <a:latin typeface="DejaVu Sans"/>
                <a:cs typeface="DejaVu Sans"/>
              </a:rPr>
              <a:t>90%</a:t>
            </a: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以</a:t>
            </a:r>
            <a:r>
              <a:rPr dirty="0" sz="1350" spc="-50">
                <a:solidFill>
                  <a:srgbClr val="374050"/>
                </a:solidFill>
                <a:latin typeface="Microsoft JhengHei"/>
                <a:cs typeface="Microsoft JhengHei"/>
              </a:rPr>
              <a:t>上</a:t>
            </a:r>
            <a:endParaRPr sz="1350">
              <a:latin typeface="Microsoft JhengHei"/>
              <a:cs typeface="Microsoft JhengHei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977900" y="2567813"/>
            <a:ext cx="2650490" cy="2324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智能化升级增</a:t>
            </a:r>
            <a:r>
              <a:rPr dirty="0" sz="1350" spc="-170">
                <a:solidFill>
                  <a:srgbClr val="374050"/>
                </a:solidFill>
                <a:latin typeface="Microsoft JhengHei"/>
                <a:cs typeface="Microsoft JhengHei"/>
              </a:rPr>
              <a:t>加</a:t>
            </a: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园区硬件设施价值</a:t>
            </a:r>
            <a:r>
              <a:rPr dirty="0" sz="1200" spc="-25">
                <a:solidFill>
                  <a:srgbClr val="374050"/>
                </a:solidFill>
                <a:latin typeface="DejaVu Sans"/>
                <a:cs typeface="DejaVu Sans"/>
              </a:rPr>
              <a:t>30%</a:t>
            </a:r>
            <a:endParaRPr sz="1200">
              <a:latin typeface="DejaVu Sans"/>
              <a:cs typeface="DejaVu Sans"/>
            </a:endParaRPr>
          </a:p>
        </p:txBody>
      </p:sp>
      <p:pic>
        <p:nvPicPr>
          <p:cNvPr id="15" name="object 1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143749" y="1233487"/>
            <a:ext cx="4438649" cy="4252911"/>
          </a:xfrm>
          <a:prstGeom prst="rect">
            <a:avLst/>
          </a:prstGeom>
        </p:spPr>
      </p:pic>
      <p:sp>
        <p:nvSpPr>
          <p:cNvPr id="16" name="object 16" descr=""/>
          <p:cNvSpPr txBox="1"/>
          <p:nvPr/>
        </p:nvSpPr>
        <p:spPr>
          <a:xfrm>
            <a:off x="977900" y="2910713"/>
            <a:ext cx="2921000" cy="2324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产</a:t>
            </a:r>
            <a:r>
              <a:rPr dirty="0" sz="1350" spc="-170">
                <a:solidFill>
                  <a:srgbClr val="374050"/>
                </a:solidFill>
                <a:latin typeface="Microsoft JhengHei"/>
                <a:cs typeface="Microsoft JhengHei"/>
              </a:rPr>
              <a:t>业</a:t>
            </a: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集聚效应</a:t>
            </a:r>
            <a:r>
              <a:rPr dirty="0" sz="1350" spc="-170">
                <a:solidFill>
                  <a:srgbClr val="374050"/>
                </a:solidFill>
                <a:latin typeface="Microsoft JhengHei"/>
                <a:cs typeface="Microsoft JhengHei"/>
              </a:rPr>
              <a:t>带动</a:t>
            </a: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周边配</a:t>
            </a:r>
            <a:r>
              <a:rPr dirty="0" sz="1350" spc="-170">
                <a:solidFill>
                  <a:srgbClr val="374050"/>
                </a:solidFill>
                <a:latin typeface="Meiryo"/>
                <a:cs typeface="Meiryo"/>
              </a:rPr>
              <a:t>套</a:t>
            </a: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升级</a:t>
            </a:r>
            <a:r>
              <a:rPr dirty="0" sz="1350" spc="-170">
                <a:solidFill>
                  <a:srgbClr val="374050"/>
                </a:solidFill>
                <a:latin typeface="Microsoft JhengHei"/>
                <a:cs typeface="Microsoft JhengHei"/>
              </a:rPr>
              <a:t>与</a:t>
            </a:r>
            <a:r>
              <a:rPr dirty="0" sz="1350" spc="-140">
                <a:solidFill>
                  <a:srgbClr val="374050"/>
                </a:solidFill>
                <a:latin typeface="SimSun"/>
                <a:cs typeface="SimSun"/>
              </a:rPr>
              <a:t>价值提升</a:t>
            </a:r>
            <a:endParaRPr sz="1350">
              <a:latin typeface="SimSun"/>
              <a:cs typeface="SimSun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977900" y="3253613"/>
            <a:ext cx="3164205" cy="2324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形成</a:t>
            </a:r>
            <a:r>
              <a:rPr dirty="0" sz="1200">
                <a:solidFill>
                  <a:srgbClr val="374050"/>
                </a:solidFill>
                <a:latin typeface="DejaVu Sans"/>
                <a:cs typeface="DejaVu Sans"/>
              </a:rPr>
              <a:t>"</a:t>
            </a: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园区</a:t>
            </a:r>
            <a:r>
              <a:rPr dirty="0" sz="1200">
                <a:solidFill>
                  <a:srgbClr val="374050"/>
                </a:solidFill>
                <a:latin typeface="DejaVu Sans"/>
                <a:cs typeface="DejaVu Sans"/>
              </a:rPr>
              <a:t>+</a:t>
            </a: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平台</a:t>
            </a:r>
            <a:r>
              <a:rPr dirty="0" sz="1200">
                <a:solidFill>
                  <a:srgbClr val="374050"/>
                </a:solidFill>
                <a:latin typeface="DejaVu Sans"/>
                <a:cs typeface="DejaVu Sans"/>
              </a:rPr>
              <a:t>+</a:t>
            </a: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服</a:t>
            </a:r>
            <a:r>
              <a:rPr dirty="0" sz="1350" spc="-170">
                <a:solidFill>
                  <a:srgbClr val="374050"/>
                </a:solidFill>
                <a:latin typeface="Microsoft JhengHei"/>
                <a:cs typeface="Microsoft JhengHei"/>
              </a:rPr>
              <a:t>务</a:t>
            </a:r>
            <a:r>
              <a:rPr dirty="0" sz="1200">
                <a:solidFill>
                  <a:srgbClr val="374050"/>
                </a:solidFill>
                <a:latin typeface="DejaVu Sans"/>
                <a:cs typeface="DejaVu Sans"/>
              </a:rPr>
              <a:t>"</a:t>
            </a:r>
            <a:r>
              <a:rPr dirty="0" sz="1350" spc="-170">
                <a:solidFill>
                  <a:srgbClr val="374050"/>
                </a:solidFill>
                <a:latin typeface="Microsoft JhengHei"/>
                <a:cs typeface="Microsoft JhengHei"/>
              </a:rPr>
              <a:t>三</a:t>
            </a: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位</a:t>
            </a:r>
            <a:r>
              <a:rPr dirty="0" sz="1350" spc="-170">
                <a:solidFill>
                  <a:srgbClr val="374050"/>
                </a:solidFill>
                <a:latin typeface="Microsoft JhengHei"/>
                <a:cs typeface="Microsoft JhengHei"/>
              </a:rPr>
              <a:t>⼀</a:t>
            </a:r>
            <a:r>
              <a:rPr dirty="0" sz="1350" spc="-155">
                <a:solidFill>
                  <a:srgbClr val="374050"/>
                </a:solidFill>
                <a:latin typeface="SimSun"/>
                <a:cs typeface="SimSun"/>
              </a:rPr>
              <a:t>体资产增值模式</a:t>
            </a:r>
            <a:endParaRPr sz="1350">
              <a:latin typeface="SimSun"/>
              <a:cs typeface="SimSun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977900" y="4925440"/>
            <a:ext cx="482600" cy="18097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000" spc="-90">
                <a:solidFill>
                  <a:srgbClr val="4A5462"/>
                </a:solidFill>
                <a:latin typeface="SimSun"/>
                <a:cs typeface="SimSun"/>
              </a:rPr>
              <a:t>普通园区</a:t>
            </a:r>
            <a:endParaRPr sz="1000">
              <a:latin typeface="SimSun"/>
              <a:cs typeface="SimSun"/>
            </a:endParaRPr>
          </a:p>
        </p:txBody>
      </p:sp>
      <p:grpSp>
        <p:nvGrpSpPr>
          <p:cNvPr id="19" name="object 19" descr=""/>
          <p:cNvGrpSpPr/>
          <p:nvPr/>
        </p:nvGrpSpPr>
        <p:grpSpPr>
          <a:xfrm>
            <a:off x="2609849" y="3733799"/>
            <a:ext cx="3810000" cy="1143000"/>
            <a:chOff x="2609849" y="3733799"/>
            <a:chExt cx="3810000" cy="1143000"/>
          </a:xfrm>
        </p:grpSpPr>
        <p:sp>
          <p:nvSpPr>
            <p:cNvPr id="20" name="object 20" descr=""/>
            <p:cNvSpPr/>
            <p:nvPr/>
          </p:nvSpPr>
          <p:spPr>
            <a:xfrm>
              <a:off x="2609849" y="4210049"/>
              <a:ext cx="457200" cy="666750"/>
            </a:xfrm>
            <a:custGeom>
              <a:avLst/>
              <a:gdLst/>
              <a:ahLst/>
              <a:cxnLst/>
              <a:rect l="l" t="t" r="r" b="b"/>
              <a:pathLst>
                <a:path w="457200" h="666750">
                  <a:moveTo>
                    <a:pt x="457200" y="666749"/>
                  </a:moveTo>
                  <a:lnTo>
                    <a:pt x="0" y="666749"/>
                  </a:lnTo>
                  <a:lnTo>
                    <a:pt x="0" y="71196"/>
                  </a:lnTo>
                  <a:lnTo>
                    <a:pt x="15621" y="29705"/>
                  </a:lnTo>
                  <a:lnTo>
                    <a:pt x="51662" y="3885"/>
                  </a:lnTo>
                  <a:lnTo>
                    <a:pt x="71196" y="0"/>
                  </a:lnTo>
                  <a:lnTo>
                    <a:pt x="386003" y="0"/>
                  </a:lnTo>
                  <a:lnTo>
                    <a:pt x="427494" y="15621"/>
                  </a:lnTo>
                  <a:lnTo>
                    <a:pt x="453314" y="51661"/>
                  </a:lnTo>
                  <a:lnTo>
                    <a:pt x="457200" y="71196"/>
                  </a:lnTo>
                  <a:lnTo>
                    <a:pt x="457200" y="666749"/>
                  </a:lnTo>
                  <a:close/>
                </a:path>
              </a:pathLst>
            </a:custGeom>
            <a:solidFill>
              <a:srgbClr val="60A5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4229099" y="4019549"/>
              <a:ext cx="457200" cy="857250"/>
            </a:xfrm>
            <a:custGeom>
              <a:avLst/>
              <a:gdLst/>
              <a:ahLst/>
              <a:cxnLst/>
              <a:rect l="l" t="t" r="r" b="b"/>
              <a:pathLst>
                <a:path w="457200" h="857250">
                  <a:moveTo>
                    <a:pt x="457200" y="857249"/>
                  </a:moveTo>
                  <a:lnTo>
                    <a:pt x="0" y="857249"/>
                  </a:lnTo>
                  <a:lnTo>
                    <a:pt x="0" y="71196"/>
                  </a:lnTo>
                  <a:lnTo>
                    <a:pt x="15622" y="29704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386003" y="0"/>
                  </a:lnTo>
                  <a:lnTo>
                    <a:pt x="427494" y="15621"/>
                  </a:lnTo>
                  <a:lnTo>
                    <a:pt x="453314" y="51661"/>
                  </a:lnTo>
                  <a:lnTo>
                    <a:pt x="457200" y="857249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5962649" y="3733799"/>
              <a:ext cx="457200" cy="1143000"/>
            </a:xfrm>
            <a:custGeom>
              <a:avLst/>
              <a:gdLst/>
              <a:ahLst/>
              <a:cxnLst/>
              <a:rect l="l" t="t" r="r" b="b"/>
              <a:pathLst>
                <a:path w="457200" h="1143000">
                  <a:moveTo>
                    <a:pt x="457199" y="1142999"/>
                  </a:moveTo>
                  <a:lnTo>
                    <a:pt x="0" y="1142999"/>
                  </a:lnTo>
                  <a:lnTo>
                    <a:pt x="0" y="71196"/>
                  </a:lnTo>
                  <a:lnTo>
                    <a:pt x="15620" y="29705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386003" y="0"/>
                  </a:lnTo>
                  <a:lnTo>
                    <a:pt x="427493" y="15621"/>
                  </a:lnTo>
                  <a:lnTo>
                    <a:pt x="453313" y="51661"/>
                  </a:lnTo>
                  <a:lnTo>
                    <a:pt x="457199" y="71196"/>
                  </a:lnTo>
                  <a:lnTo>
                    <a:pt x="457199" y="1142999"/>
                  </a:lnTo>
                  <a:close/>
                </a:path>
              </a:pathLst>
            </a:custGeom>
            <a:solidFill>
              <a:srgbClr val="2562E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 descr=""/>
          <p:cNvSpPr txBox="1"/>
          <p:nvPr/>
        </p:nvSpPr>
        <p:spPr>
          <a:xfrm>
            <a:off x="2597001" y="4925440"/>
            <a:ext cx="482600" cy="18097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000" spc="-90">
                <a:solidFill>
                  <a:srgbClr val="4A5462"/>
                </a:solidFill>
                <a:latin typeface="SimSun"/>
                <a:cs typeface="SimSun"/>
              </a:rPr>
              <a:t>产业园区</a:t>
            </a:r>
            <a:endParaRPr sz="1000">
              <a:latin typeface="SimSun"/>
              <a:cs typeface="SimSun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4216102" y="4925440"/>
            <a:ext cx="482600" cy="18097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000" spc="-90">
                <a:solidFill>
                  <a:srgbClr val="4A5462"/>
                </a:solidFill>
                <a:latin typeface="SimSun"/>
                <a:cs typeface="SimSun"/>
              </a:rPr>
              <a:t>智慧园区</a:t>
            </a:r>
            <a:endParaRPr sz="1000">
              <a:latin typeface="SimSun"/>
              <a:cs typeface="SimSun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5835203" y="4925440"/>
            <a:ext cx="711200" cy="18097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000" spc="-100">
                <a:solidFill>
                  <a:srgbClr val="4A5462"/>
                </a:solidFill>
                <a:latin typeface="SimSun"/>
                <a:cs typeface="SimSun"/>
              </a:rPr>
              <a:t>智慧</a:t>
            </a:r>
            <a:r>
              <a:rPr dirty="0" sz="1000" spc="-100">
                <a:solidFill>
                  <a:srgbClr val="4A5462"/>
                </a:solidFill>
                <a:latin typeface="Meiryo"/>
                <a:cs typeface="Meiryo"/>
              </a:rPr>
              <a:t>⽣</a:t>
            </a:r>
            <a:r>
              <a:rPr dirty="0" sz="1000" spc="-85">
                <a:solidFill>
                  <a:srgbClr val="4A5462"/>
                </a:solidFill>
                <a:latin typeface="SimSun"/>
                <a:cs typeface="SimSun"/>
              </a:rPr>
              <a:t>态平台</a:t>
            </a:r>
            <a:endParaRPr sz="1000">
              <a:latin typeface="SimSun"/>
              <a:cs typeface="SimSun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7854950" y="1664461"/>
            <a:ext cx="1549400" cy="28765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700" spc="-200">
                <a:solidFill>
                  <a:srgbClr val="1F2937"/>
                </a:solidFill>
                <a:latin typeface="SimSun"/>
                <a:cs typeface="SimSun"/>
              </a:rPr>
              <a:t>营收多元化与创新</a:t>
            </a:r>
            <a:endParaRPr sz="1700">
              <a:latin typeface="SimSun"/>
              <a:cs typeface="SimSun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7512050" y="2148713"/>
            <a:ext cx="3225800" cy="2324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基础租赁收</a:t>
            </a:r>
            <a:r>
              <a:rPr dirty="0" sz="1350" spc="-170">
                <a:solidFill>
                  <a:srgbClr val="374050"/>
                </a:solidFill>
                <a:latin typeface="Meiryo"/>
                <a:cs typeface="Meiryo"/>
              </a:rPr>
              <a:t>⼊</a:t>
            </a: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：园区出租率提升</a:t>
            </a:r>
            <a:r>
              <a:rPr dirty="0" sz="1350" spc="-170">
                <a:solidFill>
                  <a:srgbClr val="374050"/>
                </a:solidFill>
                <a:latin typeface="Microsoft JhengHei"/>
                <a:cs typeface="Microsoft JhengHei"/>
              </a:rPr>
              <a:t>带</a:t>
            </a: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来稳定现</a:t>
            </a:r>
            <a:r>
              <a:rPr dirty="0" sz="1350" spc="-170">
                <a:solidFill>
                  <a:srgbClr val="374050"/>
                </a:solidFill>
                <a:latin typeface="Meiryo"/>
                <a:cs typeface="Meiryo"/>
              </a:rPr>
              <a:t>⾦</a:t>
            </a:r>
            <a:r>
              <a:rPr dirty="0" sz="1350" spc="-50">
                <a:solidFill>
                  <a:srgbClr val="374050"/>
                </a:solidFill>
                <a:latin typeface="SimSun"/>
                <a:cs typeface="SimSun"/>
              </a:rPr>
              <a:t>流</a:t>
            </a:r>
            <a:endParaRPr sz="1350">
              <a:latin typeface="SimSun"/>
              <a:cs typeface="SimSun"/>
            </a:endParaRPr>
          </a:p>
        </p:txBody>
      </p:sp>
      <p:sp>
        <p:nvSpPr>
          <p:cNvPr id="28" name="object 28" descr=""/>
          <p:cNvSpPr txBox="1"/>
          <p:nvPr/>
        </p:nvSpPr>
        <p:spPr>
          <a:xfrm>
            <a:off x="7512050" y="2491613"/>
            <a:ext cx="3375025" cy="2324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50" spc="-170">
                <a:solidFill>
                  <a:srgbClr val="374050"/>
                </a:solidFill>
                <a:latin typeface="Meiryo"/>
                <a:cs typeface="Meiryo"/>
              </a:rPr>
              <a:t>⾼</a:t>
            </a: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附</a:t>
            </a:r>
            <a:r>
              <a:rPr dirty="0" sz="1350" spc="-170">
                <a:solidFill>
                  <a:srgbClr val="374050"/>
                </a:solidFill>
                <a:latin typeface="Microsoft JhengHei"/>
                <a:cs typeface="Microsoft JhengHei"/>
              </a:rPr>
              <a:t>加</a:t>
            </a: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值服</a:t>
            </a:r>
            <a:r>
              <a:rPr dirty="0" sz="1350" spc="-170">
                <a:solidFill>
                  <a:srgbClr val="374050"/>
                </a:solidFill>
                <a:latin typeface="Microsoft JhengHei"/>
                <a:cs typeface="Microsoft JhengHei"/>
              </a:rPr>
              <a:t>务</a:t>
            </a:r>
            <a:r>
              <a:rPr dirty="0" sz="1350" spc="-65">
                <a:solidFill>
                  <a:srgbClr val="374050"/>
                </a:solidFill>
                <a:latin typeface="SimSun"/>
                <a:cs typeface="SimSun"/>
              </a:rPr>
              <a:t>：</a:t>
            </a:r>
            <a:r>
              <a:rPr dirty="0" sz="1200" spc="-65">
                <a:solidFill>
                  <a:srgbClr val="374050"/>
                </a:solidFill>
                <a:latin typeface="DejaVu Sans"/>
                <a:cs typeface="DejaVu Sans"/>
              </a:rPr>
              <a:t>AI</a:t>
            </a: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概念验证、算</a:t>
            </a:r>
            <a:r>
              <a:rPr dirty="0" sz="1350" spc="-170">
                <a:solidFill>
                  <a:srgbClr val="374050"/>
                </a:solidFill>
                <a:latin typeface="Microsoft JhengHei"/>
                <a:cs typeface="Microsoft JhengHei"/>
              </a:rPr>
              <a:t>⼒</a:t>
            </a: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服</a:t>
            </a:r>
            <a:r>
              <a:rPr dirty="0" sz="1350" spc="-170">
                <a:solidFill>
                  <a:srgbClr val="374050"/>
                </a:solidFill>
                <a:latin typeface="Microsoft JhengHei"/>
                <a:cs typeface="Microsoft JhengHei"/>
              </a:rPr>
              <a:t>务</a:t>
            </a: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等增值收</a:t>
            </a:r>
            <a:r>
              <a:rPr dirty="0" sz="1350" spc="-50">
                <a:solidFill>
                  <a:srgbClr val="374050"/>
                </a:solidFill>
                <a:latin typeface="Meiryo"/>
                <a:cs typeface="Meiryo"/>
              </a:rPr>
              <a:t>⼊</a:t>
            </a:r>
            <a:endParaRPr sz="1350">
              <a:latin typeface="Meiryo"/>
              <a:cs typeface="Meiryo"/>
            </a:endParaRPr>
          </a:p>
        </p:txBody>
      </p:sp>
      <p:sp>
        <p:nvSpPr>
          <p:cNvPr id="29" name="object 29" descr=""/>
          <p:cNvSpPr txBox="1"/>
          <p:nvPr/>
        </p:nvSpPr>
        <p:spPr>
          <a:xfrm>
            <a:off x="7512050" y="2834513"/>
            <a:ext cx="3107690" cy="2324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储能服</a:t>
            </a:r>
            <a:r>
              <a:rPr dirty="0" sz="1350" spc="-170">
                <a:solidFill>
                  <a:srgbClr val="374050"/>
                </a:solidFill>
                <a:latin typeface="Microsoft JhengHei"/>
                <a:cs typeface="Microsoft JhengHei"/>
              </a:rPr>
              <a:t>务</a:t>
            </a: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：</a:t>
            </a:r>
            <a:r>
              <a:rPr dirty="0" sz="1350" spc="-170">
                <a:solidFill>
                  <a:srgbClr val="374050"/>
                </a:solidFill>
                <a:latin typeface="Microsoft JhengHei"/>
                <a:cs typeface="Microsoft JhengHei"/>
              </a:rPr>
              <a:t>电</a:t>
            </a: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费节约</a:t>
            </a:r>
            <a:r>
              <a:rPr dirty="0" sz="1350" spc="-170">
                <a:solidFill>
                  <a:srgbClr val="374050"/>
                </a:solidFill>
                <a:latin typeface="Microsoft JhengHei"/>
                <a:cs typeface="Microsoft JhengHei"/>
              </a:rPr>
              <a:t>与</a:t>
            </a: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能源优化增值</a:t>
            </a:r>
            <a:r>
              <a:rPr dirty="0" sz="1200">
                <a:solidFill>
                  <a:srgbClr val="374050"/>
                </a:solidFill>
                <a:latin typeface="DejaVu Sans"/>
                <a:cs typeface="DejaVu Sans"/>
              </a:rPr>
              <a:t>20%</a:t>
            </a: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以</a:t>
            </a:r>
            <a:r>
              <a:rPr dirty="0" sz="1350" spc="-50">
                <a:solidFill>
                  <a:srgbClr val="374050"/>
                </a:solidFill>
                <a:latin typeface="Microsoft JhengHei"/>
                <a:cs typeface="Microsoft JhengHei"/>
              </a:rPr>
              <a:t>上</a:t>
            </a:r>
            <a:endParaRPr sz="1350">
              <a:latin typeface="Microsoft JhengHei"/>
              <a:cs typeface="Microsoft JhengHei"/>
            </a:endParaRPr>
          </a:p>
        </p:txBody>
      </p:sp>
      <p:sp>
        <p:nvSpPr>
          <p:cNvPr id="30" name="object 30" descr=""/>
          <p:cNvSpPr txBox="1"/>
          <p:nvPr/>
        </p:nvSpPr>
        <p:spPr>
          <a:xfrm>
            <a:off x="7512050" y="3177413"/>
            <a:ext cx="3073400" cy="2324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智慧</a:t>
            </a:r>
            <a:r>
              <a:rPr dirty="0" sz="1350" spc="-170">
                <a:solidFill>
                  <a:srgbClr val="374050"/>
                </a:solidFill>
                <a:latin typeface="Microsoft JhengHei"/>
                <a:cs typeface="Microsoft JhengHei"/>
              </a:rPr>
              <a:t>⼯</a:t>
            </a: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地系统：</a:t>
            </a:r>
            <a:r>
              <a:rPr dirty="0" sz="1350" spc="-170">
                <a:solidFill>
                  <a:srgbClr val="374050"/>
                </a:solidFill>
                <a:latin typeface="Meiryo"/>
                <a:cs typeface="Meiryo"/>
              </a:rPr>
              <a:t>内</a:t>
            </a: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部应</a:t>
            </a:r>
            <a:r>
              <a:rPr dirty="0" sz="1350" spc="-170">
                <a:solidFill>
                  <a:srgbClr val="374050"/>
                </a:solidFill>
                <a:latin typeface="Microsoft JhengHei"/>
                <a:cs typeface="Microsoft JhengHei"/>
              </a:rPr>
              <a:t>⽤与</a:t>
            </a:r>
            <a:r>
              <a:rPr dirty="0" sz="1350" spc="-170">
                <a:solidFill>
                  <a:srgbClr val="374050"/>
                </a:solidFill>
                <a:latin typeface="Meiryo"/>
                <a:cs typeface="Meiryo"/>
              </a:rPr>
              <a:t>外</a:t>
            </a:r>
            <a:r>
              <a:rPr dirty="0" sz="1350" spc="-155">
                <a:solidFill>
                  <a:srgbClr val="374050"/>
                </a:solidFill>
                <a:latin typeface="SimSun"/>
                <a:cs typeface="SimSun"/>
              </a:rPr>
              <a:t>部销售双轨收益</a:t>
            </a:r>
            <a:endParaRPr sz="1350">
              <a:latin typeface="SimSun"/>
              <a:cs typeface="SimSun"/>
            </a:endParaRPr>
          </a:p>
        </p:txBody>
      </p:sp>
      <p:grpSp>
        <p:nvGrpSpPr>
          <p:cNvPr id="31" name="object 31" descr=""/>
          <p:cNvGrpSpPr/>
          <p:nvPr/>
        </p:nvGrpSpPr>
        <p:grpSpPr>
          <a:xfrm>
            <a:off x="609599" y="5714999"/>
            <a:ext cx="4438650" cy="1143000"/>
            <a:chOff x="609599" y="5714999"/>
            <a:chExt cx="4438650" cy="1143000"/>
          </a:xfrm>
        </p:grpSpPr>
        <p:sp>
          <p:nvSpPr>
            <p:cNvPr id="32" name="object 32" descr=""/>
            <p:cNvSpPr/>
            <p:nvPr/>
          </p:nvSpPr>
          <p:spPr>
            <a:xfrm>
              <a:off x="609599" y="5714999"/>
              <a:ext cx="4438650" cy="1143000"/>
            </a:xfrm>
            <a:custGeom>
              <a:avLst/>
              <a:gdLst/>
              <a:ahLst/>
              <a:cxnLst/>
              <a:rect l="l" t="t" r="r" b="b"/>
              <a:pathLst>
                <a:path w="4438650" h="1143000">
                  <a:moveTo>
                    <a:pt x="4438649" y="1143000"/>
                  </a:moveTo>
                  <a:lnTo>
                    <a:pt x="0" y="1143000"/>
                  </a:lnTo>
                  <a:lnTo>
                    <a:pt x="0" y="106794"/>
                  </a:lnTo>
                  <a:lnTo>
                    <a:pt x="11572" y="63624"/>
                  </a:lnTo>
                  <a:lnTo>
                    <a:pt x="38784" y="28170"/>
                  </a:lnTo>
                  <a:lnTo>
                    <a:pt x="77493" y="5828"/>
                  </a:lnTo>
                  <a:lnTo>
                    <a:pt x="106795" y="0"/>
                  </a:lnTo>
                  <a:lnTo>
                    <a:pt x="4331854" y="0"/>
                  </a:lnTo>
                  <a:lnTo>
                    <a:pt x="4375023" y="11571"/>
                  </a:lnTo>
                  <a:lnTo>
                    <a:pt x="4410477" y="38784"/>
                  </a:lnTo>
                  <a:lnTo>
                    <a:pt x="4432820" y="77492"/>
                  </a:lnTo>
                  <a:lnTo>
                    <a:pt x="4438649" y="106794"/>
                  </a:lnTo>
                  <a:lnTo>
                    <a:pt x="4438649" y="1143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838199" y="5943599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90499" y="380999"/>
                  </a:moveTo>
                  <a:lnTo>
                    <a:pt x="144200" y="375289"/>
                  </a:lnTo>
                  <a:lnTo>
                    <a:pt x="100697" y="358507"/>
                  </a:lnTo>
                  <a:lnTo>
                    <a:pt x="62575" y="331659"/>
                  </a:lnTo>
                  <a:lnTo>
                    <a:pt x="32105" y="296335"/>
                  </a:lnTo>
                  <a:lnTo>
                    <a:pt x="11130" y="254666"/>
                  </a:lnTo>
                  <a:lnTo>
                    <a:pt x="915" y="209172"/>
                  </a:lnTo>
                  <a:lnTo>
                    <a:pt x="0" y="190499"/>
                  </a:lnTo>
                  <a:lnTo>
                    <a:pt x="228" y="181141"/>
                  </a:lnTo>
                  <a:lnTo>
                    <a:pt x="8200" y="135199"/>
                  </a:lnTo>
                  <a:lnTo>
                    <a:pt x="27095" y="92572"/>
                  </a:lnTo>
                  <a:lnTo>
                    <a:pt x="55796" y="55796"/>
                  </a:lnTo>
                  <a:lnTo>
                    <a:pt x="92572" y="27095"/>
                  </a:lnTo>
                  <a:lnTo>
                    <a:pt x="135200" y="8200"/>
                  </a:lnTo>
                  <a:lnTo>
                    <a:pt x="181141" y="228"/>
                  </a:lnTo>
                  <a:lnTo>
                    <a:pt x="190499" y="0"/>
                  </a:lnTo>
                  <a:lnTo>
                    <a:pt x="199858" y="228"/>
                  </a:lnTo>
                  <a:lnTo>
                    <a:pt x="245799" y="8200"/>
                  </a:lnTo>
                  <a:lnTo>
                    <a:pt x="288427" y="27095"/>
                  </a:lnTo>
                  <a:lnTo>
                    <a:pt x="325203" y="55796"/>
                  </a:lnTo>
                  <a:lnTo>
                    <a:pt x="353904" y="92572"/>
                  </a:lnTo>
                  <a:lnTo>
                    <a:pt x="372799" y="135199"/>
                  </a:lnTo>
                  <a:lnTo>
                    <a:pt x="380771" y="181141"/>
                  </a:lnTo>
                  <a:lnTo>
                    <a:pt x="380999" y="190499"/>
                  </a:lnTo>
                  <a:lnTo>
                    <a:pt x="380771" y="199858"/>
                  </a:lnTo>
                  <a:lnTo>
                    <a:pt x="372799" y="245799"/>
                  </a:lnTo>
                  <a:lnTo>
                    <a:pt x="353904" y="288426"/>
                  </a:lnTo>
                  <a:lnTo>
                    <a:pt x="325203" y="325203"/>
                  </a:lnTo>
                  <a:lnTo>
                    <a:pt x="288427" y="353903"/>
                  </a:lnTo>
                  <a:lnTo>
                    <a:pt x="245799" y="372799"/>
                  </a:lnTo>
                  <a:lnTo>
                    <a:pt x="199858" y="380771"/>
                  </a:lnTo>
                  <a:lnTo>
                    <a:pt x="190499" y="380999"/>
                  </a:lnTo>
                  <a:close/>
                </a:path>
              </a:pathLst>
            </a:custGeom>
            <a:solidFill>
              <a:srgbClr val="ECE8F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4" name="object 34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13767" y="6038849"/>
              <a:ext cx="238980" cy="190499"/>
            </a:xfrm>
            <a:prstGeom prst="rect">
              <a:avLst/>
            </a:prstGeom>
          </p:spPr>
        </p:pic>
        <p:sp>
          <p:nvSpPr>
            <p:cNvPr id="35" name="object 35" descr=""/>
            <p:cNvSpPr/>
            <p:nvPr/>
          </p:nvSpPr>
          <p:spPr>
            <a:xfrm>
              <a:off x="838199" y="6476999"/>
              <a:ext cx="1914525" cy="381000"/>
            </a:xfrm>
            <a:custGeom>
              <a:avLst/>
              <a:gdLst/>
              <a:ahLst/>
              <a:cxnLst/>
              <a:rect l="l" t="t" r="r" b="b"/>
              <a:pathLst>
                <a:path w="1914525" h="381000">
                  <a:moveTo>
                    <a:pt x="1914524" y="380999"/>
                  </a:moveTo>
                  <a:lnTo>
                    <a:pt x="0" y="380999"/>
                  </a:lnTo>
                  <a:lnTo>
                    <a:pt x="0" y="71195"/>
                  </a:lnTo>
                  <a:lnTo>
                    <a:pt x="15621" y="29704"/>
                  </a:lnTo>
                  <a:lnTo>
                    <a:pt x="51661" y="3884"/>
                  </a:lnTo>
                  <a:lnTo>
                    <a:pt x="71196" y="0"/>
                  </a:lnTo>
                  <a:lnTo>
                    <a:pt x="1843328" y="0"/>
                  </a:lnTo>
                  <a:lnTo>
                    <a:pt x="1884819" y="15621"/>
                  </a:lnTo>
                  <a:lnTo>
                    <a:pt x="1910638" y="51660"/>
                  </a:lnTo>
                  <a:lnTo>
                    <a:pt x="1914524" y="380999"/>
                  </a:lnTo>
                  <a:close/>
                </a:path>
              </a:pathLst>
            </a:custGeom>
            <a:solidFill>
              <a:srgbClr val="EFF5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6" name="object 36" descr=""/>
          <p:cNvSpPr txBox="1"/>
          <p:nvPr/>
        </p:nvSpPr>
        <p:spPr>
          <a:xfrm>
            <a:off x="939800" y="6565874"/>
            <a:ext cx="635000" cy="2355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350" spc="-145">
                <a:solidFill>
                  <a:srgbClr val="1F2937"/>
                </a:solidFill>
                <a:latin typeface="SimSun"/>
                <a:cs typeface="SimSun"/>
              </a:rPr>
              <a:t>短期效益</a:t>
            </a:r>
            <a:endParaRPr sz="1350">
              <a:latin typeface="SimSun"/>
              <a:cs typeface="SimSun"/>
            </a:endParaRPr>
          </a:p>
        </p:txBody>
      </p:sp>
      <p:sp>
        <p:nvSpPr>
          <p:cNvPr id="37" name="object 37" descr=""/>
          <p:cNvSpPr/>
          <p:nvPr/>
        </p:nvSpPr>
        <p:spPr>
          <a:xfrm>
            <a:off x="2905124" y="6476999"/>
            <a:ext cx="1914525" cy="381000"/>
          </a:xfrm>
          <a:custGeom>
            <a:avLst/>
            <a:gdLst/>
            <a:ahLst/>
            <a:cxnLst/>
            <a:rect l="l" t="t" r="r" b="b"/>
            <a:pathLst>
              <a:path w="1914525" h="381000">
                <a:moveTo>
                  <a:pt x="1914524" y="380999"/>
                </a:moveTo>
                <a:lnTo>
                  <a:pt x="0" y="380999"/>
                </a:lnTo>
                <a:lnTo>
                  <a:pt x="0" y="71195"/>
                </a:lnTo>
                <a:lnTo>
                  <a:pt x="15621" y="29704"/>
                </a:lnTo>
                <a:lnTo>
                  <a:pt x="51661" y="3884"/>
                </a:lnTo>
                <a:lnTo>
                  <a:pt x="71196" y="0"/>
                </a:lnTo>
                <a:lnTo>
                  <a:pt x="1843327" y="0"/>
                </a:lnTo>
                <a:lnTo>
                  <a:pt x="1884819" y="15621"/>
                </a:lnTo>
                <a:lnTo>
                  <a:pt x="1910638" y="51660"/>
                </a:lnTo>
                <a:lnTo>
                  <a:pt x="1914524" y="71195"/>
                </a:lnTo>
                <a:lnTo>
                  <a:pt x="1914524" y="380999"/>
                </a:lnTo>
                <a:close/>
              </a:path>
            </a:pathLst>
          </a:custGeom>
          <a:solidFill>
            <a:srgbClr val="F5F2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 descr=""/>
          <p:cNvSpPr txBox="1"/>
          <p:nvPr/>
        </p:nvSpPr>
        <p:spPr>
          <a:xfrm>
            <a:off x="3006724" y="6565874"/>
            <a:ext cx="635000" cy="2355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350" spc="-170">
                <a:solidFill>
                  <a:srgbClr val="1F2937"/>
                </a:solidFill>
                <a:latin typeface="Meiryo"/>
                <a:cs typeface="Meiryo"/>
              </a:rPr>
              <a:t>⻓</a:t>
            </a:r>
            <a:r>
              <a:rPr dirty="0" sz="1350" spc="-140">
                <a:solidFill>
                  <a:srgbClr val="1F2937"/>
                </a:solidFill>
                <a:latin typeface="SimSun"/>
                <a:cs typeface="SimSun"/>
              </a:rPr>
              <a:t>期效益</a:t>
            </a:r>
            <a:endParaRPr sz="1350">
              <a:latin typeface="SimSun"/>
              <a:cs typeface="SimSun"/>
            </a:endParaRPr>
          </a:p>
        </p:txBody>
      </p:sp>
      <p:sp>
        <p:nvSpPr>
          <p:cNvPr id="39" name="object 39" descr=""/>
          <p:cNvSpPr txBox="1"/>
          <p:nvPr/>
        </p:nvSpPr>
        <p:spPr>
          <a:xfrm>
            <a:off x="901700" y="5859381"/>
            <a:ext cx="1778000" cy="618490"/>
          </a:xfrm>
          <a:prstGeom prst="rect">
            <a:avLst/>
          </a:prstGeom>
        </p:spPr>
        <p:txBody>
          <a:bodyPr wrap="square" lIns="0" tIns="125095" rIns="0" bIns="0" rtlCol="0" vert="horz">
            <a:spAutoFit/>
          </a:bodyPr>
          <a:lstStyle/>
          <a:p>
            <a:pPr marL="431165">
              <a:lnSpc>
                <a:spcPct val="100000"/>
              </a:lnSpc>
              <a:spcBef>
                <a:spcPts val="985"/>
              </a:spcBef>
            </a:pPr>
            <a:r>
              <a:rPr dirty="0" sz="1700" spc="-210">
                <a:solidFill>
                  <a:srgbClr val="1F2937"/>
                </a:solidFill>
                <a:latin typeface="Meiryo"/>
                <a:cs typeface="Meiryo"/>
              </a:rPr>
              <a:t>⻓</a:t>
            </a:r>
            <a:r>
              <a:rPr dirty="0" sz="1700" spc="-200">
                <a:solidFill>
                  <a:srgbClr val="1F2937"/>
                </a:solidFill>
                <a:latin typeface="SimSun"/>
                <a:cs typeface="SimSun"/>
              </a:rPr>
              <a:t>短期效益分析</a:t>
            </a:r>
            <a:endParaRPr sz="170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535"/>
              </a:spcBef>
            </a:pPr>
            <a:r>
              <a:rPr dirty="0" sz="1000" spc="-100">
                <a:solidFill>
                  <a:srgbClr val="6A7280"/>
                </a:solidFill>
                <a:latin typeface="SimSun"/>
                <a:cs typeface="SimSun"/>
              </a:rPr>
              <a:t>园区价值阶梯增</a:t>
            </a:r>
            <a:r>
              <a:rPr dirty="0" sz="1000" spc="-100">
                <a:solidFill>
                  <a:srgbClr val="6A7280"/>
                </a:solidFill>
                <a:latin typeface="Meiryo"/>
                <a:cs typeface="Meiryo"/>
              </a:rPr>
              <a:t>⻓</a:t>
            </a:r>
            <a:r>
              <a:rPr dirty="0" sz="1000" spc="-75">
                <a:solidFill>
                  <a:srgbClr val="6A7280"/>
                </a:solidFill>
                <a:latin typeface="SimSun"/>
                <a:cs typeface="SimSun"/>
              </a:rPr>
              <a:t>模型</a:t>
            </a:r>
            <a:endParaRPr sz="1000">
              <a:latin typeface="SimSun"/>
              <a:cs typeface="SimSun"/>
            </a:endParaRPr>
          </a:p>
        </p:txBody>
      </p:sp>
      <p:pic>
        <p:nvPicPr>
          <p:cNvPr id="40" name="object 40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439397" y="6476999"/>
            <a:ext cx="76201" cy="76199"/>
          </a:xfrm>
          <a:prstGeom prst="rect">
            <a:avLst/>
          </a:prstGeom>
        </p:spPr>
      </p:pic>
      <p:grpSp>
        <p:nvGrpSpPr>
          <p:cNvPr id="41" name="object 41" descr=""/>
          <p:cNvGrpSpPr/>
          <p:nvPr/>
        </p:nvGrpSpPr>
        <p:grpSpPr>
          <a:xfrm>
            <a:off x="10591797" y="6343649"/>
            <a:ext cx="1409700" cy="323850"/>
            <a:chOff x="10591797" y="6343649"/>
            <a:chExt cx="1409700" cy="323850"/>
          </a:xfrm>
        </p:grpSpPr>
        <p:sp>
          <p:nvSpPr>
            <p:cNvPr id="42" name="object 42" descr=""/>
            <p:cNvSpPr/>
            <p:nvPr/>
          </p:nvSpPr>
          <p:spPr>
            <a:xfrm>
              <a:off x="10591797" y="6476999"/>
              <a:ext cx="304800" cy="76200"/>
            </a:xfrm>
            <a:custGeom>
              <a:avLst/>
              <a:gdLst/>
              <a:ahLst/>
              <a:cxnLst/>
              <a:rect l="l" t="t" r="r" b="b"/>
              <a:pathLst>
                <a:path w="304800" h="76200">
                  <a:moveTo>
                    <a:pt x="271753" y="76199"/>
                  </a:moveTo>
                  <a:lnTo>
                    <a:pt x="33047" y="76199"/>
                  </a:lnTo>
                  <a:lnTo>
                    <a:pt x="28187" y="75232"/>
                  </a:lnTo>
                  <a:lnTo>
                    <a:pt x="966" y="48012"/>
                  </a:lnTo>
                  <a:lnTo>
                    <a:pt x="0" y="43152"/>
                  </a:lnTo>
                  <a:lnTo>
                    <a:pt x="1" y="3809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271753" y="0"/>
                  </a:lnTo>
                  <a:lnTo>
                    <a:pt x="303833" y="28186"/>
                  </a:lnTo>
                  <a:lnTo>
                    <a:pt x="304799" y="33047"/>
                  </a:lnTo>
                  <a:lnTo>
                    <a:pt x="304799" y="43152"/>
                  </a:lnTo>
                  <a:lnTo>
                    <a:pt x="276612" y="75232"/>
                  </a:lnTo>
                  <a:lnTo>
                    <a:pt x="271753" y="76199"/>
                  </a:lnTo>
                  <a:close/>
                </a:path>
              </a:pathLst>
            </a:custGeom>
            <a:solidFill>
              <a:srgbClr val="60A5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 descr=""/>
            <p:cNvSpPr/>
            <p:nvPr/>
          </p:nvSpPr>
          <p:spPr>
            <a:xfrm>
              <a:off x="10972797" y="6476999"/>
              <a:ext cx="609600" cy="76200"/>
            </a:xfrm>
            <a:custGeom>
              <a:avLst/>
              <a:gdLst/>
              <a:ahLst/>
              <a:cxnLst/>
              <a:rect l="l" t="t" r="r" b="b"/>
              <a:pathLst>
                <a:path w="609600" h="76200">
                  <a:moveTo>
                    <a:pt x="576553" y="76199"/>
                  </a:moveTo>
                  <a:lnTo>
                    <a:pt x="33047" y="76199"/>
                  </a:lnTo>
                  <a:lnTo>
                    <a:pt x="28186" y="75232"/>
                  </a:lnTo>
                  <a:lnTo>
                    <a:pt x="967" y="48012"/>
                  </a:lnTo>
                  <a:lnTo>
                    <a:pt x="0" y="43152"/>
                  </a:lnTo>
                  <a:lnTo>
                    <a:pt x="1" y="38099"/>
                  </a:lnTo>
                  <a:lnTo>
                    <a:pt x="0" y="33047"/>
                  </a:lnTo>
                  <a:lnTo>
                    <a:pt x="28186" y="966"/>
                  </a:lnTo>
                  <a:lnTo>
                    <a:pt x="33047" y="0"/>
                  </a:lnTo>
                  <a:lnTo>
                    <a:pt x="576553" y="0"/>
                  </a:lnTo>
                  <a:lnTo>
                    <a:pt x="608632" y="28186"/>
                  </a:lnTo>
                  <a:lnTo>
                    <a:pt x="609599" y="33047"/>
                  </a:lnTo>
                  <a:lnTo>
                    <a:pt x="609599" y="43152"/>
                  </a:lnTo>
                  <a:lnTo>
                    <a:pt x="581412" y="75232"/>
                  </a:lnTo>
                  <a:lnTo>
                    <a:pt x="576553" y="76199"/>
                  </a:lnTo>
                  <a:close/>
                </a:path>
              </a:pathLst>
            </a:custGeom>
            <a:solidFill>
              <a:srgbClr val="93C4F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 descr=""/>
            <p:cNvSpPr/>
            <p:nvPr/>
          </p:nvSpPr>
          <p:spPr>
            <a:xfrm>
              <a:off x="10620374" y="6343649"/>
              <a:ext cx="1381125" cy="323850"/>
            </a:xfrm>
            <a:custGeom>
              <a:avLst/>
              <a:gdLst/>
              <a:ahLst/>
              <a:cxnLst/>
              <a:rect l="l" t="t" r="r" b="b"/>
              <a:pathLst>
                <a:path w="1381125" h="323850">
                  <a:moveTo>
                    <a:pt x="1348077" y="323849"/>
                  </a:moveTo>
                  <a:lnTo>
                    <a:pt x="33047" y="323849"/>
                  </a:lnTo>
                  <a:lnTo>
                    <a:pt x="28187" y="322883"/>
                  </a:lnTo>
                  <a:lnTo>
                    <a:pt x="966" y="295662"/>
                  </a:lnTo>
                  <a:lnTo>
                    <a:pt x="0" y="290802"/>
                  </a:lnTo>
                  <a:lnTo>
                    <a:pt x="0" y="28574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1348077" y="0"/>
                  </a:lnTo>
                  <a:lnTo>
                    <a:pt x="1380157" y="28187"/>
                  </a:lnTo>
                  <a:lnTo>
                    <a:pt x="1381124" y="33047"/>
                  </a:lnTo>
                  <a:lnTo>
                    <a:pt x="1381124" y="290802"/>
                  </a:lnTo>
                  <a:lnTo>
                    <a:pt x="1352937" y="322883"/>
                  </a:lnTo>
                  <a:lnTo>
                    <a:pt x="1348077" y="323849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5" name="object 45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734674" y="6438899"/>
              <a:ext cx="133349" cy="133349"/>
            </a:xfrm>
            <a:prstGeom prst="rect">
              <a:avLst/>
            </a:prstGeom>
          </p:spPr>
        </p:pic>
      </p:grpSp>
      <p:sp>
        <p:nvSpPr>
          <p:cNvPr id="46" name="object 46" descr=""/>
          <p:cNvSpPr txBox="1"/>
          <p:nvPr/>
        </p:nvSpPr>
        <p:spPr>
          <a:xfrm>
            <a:off x="10912176" y="6401815"/>
            <a:ext cx="988060" cy="18097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000" spc="-160">
                <a:solidFill>
                  <a:srgbClr val="FFFFFF"/>
                </a:solidFill>
                <a:latin typeface="SimSun"/>
                <a:cs typeface="SimSun"/>
              </a:rPr>
              <a:t>由 </a:t>
            </a:r>
            <a:r>
              <a:rPr dirty="0" sz="900">
                <a:solidFill>
                  <a:srgbClr val="FFFFFF"/>
                </a:solidFill>
                <a:latin typeface="DejaVu Sans"/>
                <a:cs typeface="DejaVu Sans"/>
              </a:rPr>
              <a:t>Genspark</a:t>
            </a:r>
            <a:r>
              <a:rPr dirty="0" sz="900" spc="-45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000" spc="-75">
                <a:solidFill>
                  <a:srgbClr val="FFFFFF"/>
                </a:solidFill>
                <a:latin typeface="SimSun"/>
                <a:cs typeface="SimSun"/>
              </a:rPr>
              <a:t>制作</a:t>
            </a:r>
            <a:endParaRPr sz="1000">
              <a:latin typeface="SimSun"/>
              <a:cs typeface="SimSu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609599" y="1066799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914399" y="38099"/>
                </a:moveTo>
                <a:lnTo>
                  <a:pt x="0" y="38099"/>
                </a:lnTo>
                <a:lnTo>
                  <a:pt x="0" y="0"/>
                </a:lnTo>
                <a:lnTo>
                  <a:pt x="914399" y="0"/>
                </a:lnTo>
                <a:lnTo>
                  <a:pt x="914399" y="38099"/>
                </a:lnTo>
                <a:close/>
              </a:path>
            </a:pathLst>
          </a:custGeom>
          <a:solidFill>
            <a:srgbClr val="3B81F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96899" y="552323"/>
            <a:ext cx="2425700" cy="4908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370"/>
              <a:t>项目展</a:t>
            </a:r>
            <a:r>
              <a:rPr dirty="0" spc="-370">
                <a:latin typeface="BIZ UDPGothic"/>
                <a:cs typeface="BIZ UDPGothic"/>
              </a:rPr>
              <a:t>望与</a:t>
            </a:r>
            <a:r>
              <a:rPr dirty="0" spc="-395"/>
              <a:t>总结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596899" y="1241361"/>
            <a:ext cx="2994660" cy="2584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00" spc="-150">
                <a:solidFill>
                  <a:srgbClr val="4A5462"/>
                </a:solidFill>
                <a:latin typeface="SimSun"/>
                <a:cs typeface="SimSun"/>
              </a:rPr>
              <a:t>智慧产业</a:t>
            </a:r>
            <a:r>
              <a:rPr dirty="0" sz="1500" spc="-150">
                <a:solidFill>
                  <a:srgbClr val="4A5462"/>
                </a:solidFill>
                <a:latin typeface="Meiryo"/>
                <a:cs typeface="Meiryo"/>
              </a:rPr>
              <a:t>⽣</a:t>
            </a:r>
            <a:r>
              <a:rPr dirty="0" sz="1500" spc="-150">
                <a:solidFill>
                  <a:srgbClr val="4A5462"/>
                </a:solidFill>
                <a:latin typeface="SimSun"/>
                <a:cs typeface="SimSun"/>
              </a:rPr>
              <a:t>态合作</a:t>
            </a:r>
            <a:r>
              <a:rPr dirty="0" sz="1350">
                <a:solidFill>
                  <a:srgbClr val="4A5462"/>
                </a:solidFill>
                <a:latin typeface="DejaVu Sans"/>
                <a:cs typeface="DejaVu Sans"/>
              </a:rPr>
              <a:t>·</a:t>
            </a:r>
            <a:r>
              <a:rPr dirty="0" sz="1500" spc="-145">
                <a:solidFill>
                  <a:srgbClr val="4A5462"/>
                </a:solidFill>
                <a:latin typeface="SimSun"/>
                <a:cs typeface="SimSun"/>
              </a:rPr>
              <a:t>共创数字化转型未来</a:t>
            </a:r>
            <a:endParaRPr sz="1500">
              <a:latin typeface="SimSun"/>
              <a:cs typeface="SimSun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609599" y="1828799"/>
            <a:ext cx="6305550" cy="3162300"/>
            <a:chOff x="609599" y="1828799"/>
            <a:chExt cx="6305550" cy="3162300"/>
          </a:xfrm>
        </p:grpSpPr>
        <p:sp>
          <p:nvSpPr>
            <p:cNvPr id="6" name="object 6" descr=""/>
            <p:cNvSpPr/>
            <p:nvPr/>
          </p:nvSpPr>
          <p:spPr>
            <a:xfrm>
              <a:off x="609599" y="1828799"/>
              <a:ext cx="6305550" cy="3162300"/>
            </a:xfrm>
            <a:custGeom>
              <a:avLst/>
              <a:gdLst/>
              <a:ahLst/>
              <a:cxnLst/>
              <a:rect l="l" t="t" r="r" b="b"/>
              <a:pathLst>
                <a:path w="6305550" h="3162300">
                  <a:moveTo>
                    <a:pt x="6198754" y="3162299"/>
                  </a:moveTo>
                  <a:lnTo>
                    <a:pt x="106795" y="3162299"/>
                  </a:lnTo>
                  <a:lnTo>
                    <a:pt x="99362" y="3161567"/>
                  </a:lnTo>
                  <a:lnTo>
                    <a:pt x="57038" y="3147205"/>
                  </a:lnTo>
                  <a:lnTo>
                    <a:pt x="23432" y="3117740"/>
                  </a:lnTo>
                  <a:lnTo>
                    <a:pt x="3660" y="3077658"/>
                  </a:lnTo>
                  <a:lnTo>
                    <a:pt x="0" y="3055504"/>
                  </a:lnTo>
                  <a:lnTo>
                    <a:pt x="0" y="3047999"/>
                  </a:lnTo>
                  <a:lnTo>
                    <a:pt x="0" y="106794"/>
                  </a:lnTo>
                  <a:lnTo>
                    <a:pt x="11572" y="63625"/>
                  </a:lnTo>
                  <a:lnTo>
                    <a:pt x="38784" y="28170"/>
                  </a:lnTo>
                  <a:lnTo>
                    <a:pt x="77493" y="5828"/>
                  </a:lnTo>
                  <a:lnTo>
                    <a:pt x="106795" y="0"/>
                  </a:lnTo>
                  <a:lnTo>
                    <a:pt x="6198754" y="0"/>
                  </a:lnTo>
                  <a:lnTo>
                    <a:pt x="6241923" y="11572"/>
                  </a:lnTo>
                  <a:lnTo>
                    <a:pt x="6277378" y="38784"/>
                  </a:lnTo>
                  <a:lnTo>
                    <a:pt x="6299720" y="77492"/>
                  </a:lnTo>
                  <a:lnTo>
                    <a:pt x="6305548" y="106794"/>
                  </a:lnTo>
                  <a:lnTo>
                    <a:pt x="6305548" y="3055504"/>
                  </a:lnTo>
                  <a:lnTo>
                    <a:pt x="6293976" y="3098673"/>
                  </a:lnTo>
                  <a:lnTo>
                    <a:pt x="6266764" y="3134127"/>
                  </a:lnTo>
                  <a:lnTo>
                    <a:pt x="6228056" y="3156470"/>
                  </a:lnTo>
                  <a:lnTo>
                    <a:pt x="6206187" y="3161567"/>
                  </a:lnTo>
                  <a:lnTo>
                    <a:pt x="6198754" y="31622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838199" y="3962399"/>
              <a:ext cx="5848350" cy="800100"/>
            </a:xfrm>
            <a:custGeom>
              <a:avLst/>
              <a:gdLst/>
              <a:ahLst/>
              <a:cxnLst/>
              <a:rect l="l" t="t" r="r" b="b"/>
              <a:pathLst>
                <a:path w="5848350" h="800100">
                  <a:moveTo>
                    <a:pt x="5777152" y="800099"/>
                  </a:moveTo>
                  <a:lnTo>
                    <a:pt x="71196" y="800099"/>
                  </a:lnTo>
                  <a:lnTo>
                    <a:pt x="66241" y="799611"/>
                  </a:lnTo>
                  <a:lnTo>
                    <a:pt x="29705" y="784477"/>
                  </a:lnTo>
                  <a:lnTo>
                    <a:pt x="3885" y="748437"/>
                  </a:lnTo>
                  <a:lnTo>
                    <a:pt x="0" y="728903"/>
                  </a:lnTo>
                  <a:lnTo>
                    <a:pt x="0" y="723899"/>
                  </a:lnTo>
                  <a:lnTo>
                    <a:pt x="0" y="71196"/>
                  </a:lnTo>
                  <a:lnTo>
                    <a:pt x="15621" y="29704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5777152" y="0"/>
                  </a:lnTo>
                  <a:lnTo>
                    <a:pt x="5818643" y="15621"/>
                  </a:lnTo>
                  <a:lnTo>
                    <a:pt x="5844463" y="51661"/>
                  </a:lnTo>
                  <a:lnTo>
                    <a:pt x="5848349" y="71196"/>
                  </a:lnTo>
                  <a:lnTo>
                    <a:pt x="5848349" y="728903"/>
                  </a:lnTo>
                  <a:lnTo>
                    <a:pt x="5832726" y="770393"/>
                  </a:lnTo>
                  <a:lnTo>
                    <a:pt x="5796687" y="796213"/>
                  </a:lnTo>
                  <a:lnTo>
                    <a:pt x="5782107" y="799611"/>
                  </a:lnTo>
                  <a:lnTo>
                    <a:pt x="5777152" y="800099"/>
                  </a:lnTo>
                  <a:close/>
                </a:path>
              </a:pathLst>
            </a:custGeom>
            <a:solidFill>
              <a:srgbClr val="EFF5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838199" y="2057399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36086" y="457199"/>
                  </a:moveTo>
                  <a:lnTo>
                    <a:pt x="221113" y="457199"/>
                  </a:lnTo>
                  <a:lnTo>
                    <a:pt x="213644" y="456832"/>
                  </a:lnTo>
                  <a:lnTo>
                    <a:pt x="169405" y="449529"/>
                  </a:lnTo>
                  <a:lnTo>
                    <a:pt x="127441" y="433736"/>
                  </a:lnTo>
                  <a:lnTo>
                    <a:pt x="89365" y="410059"/>
                  </a:lnTo>
                  <a:lnTo>
                    <a:pt x="56639" y="379409"/>
                  </a:lnTo>
                  <a:lnTo>
                    <a:pt x="30522" y="342963"/>
                  </a:lnTo>
                  <a:lnTo>
                    <a:pt x="12016" y="302123"/>
                  </a:lnTo>
                  <a:lnTo>
                    <a:pt x="1834" y="258457"/>
                  </a:lnTo>
                  <a:lnTo>
                    <a:pt x="0" y="236086"/>
                  </a:lnTo>
                  <a:lnTo>
                    <a:pt x="0" y="221112"/>
                  </a:lnTo>
                  <a:lnTo>
                    <a:pt x="5853" y="176659"/>
                  </a:lnTo>
                  <a:lnTo>
                    <a:pt x="20266" y="134201"/>
                  </a:lnTo>
                  <a:lnTo>
                    <a:pt x="42685" y="95371"/>
                  </a:lnTo>
                  <a:lnTo>
                    <a:pt x="72249" y="61661"/>
                  </a:lnTo>
                  <a:lnTo>
                    <a:pt x="107821" y="34366"/>
                  </a:lnTo>
                  <a:lnTo>
                    <a:pt x="148035" y="14535"/>
                  </a:lnTo>
                  <a:lnTo>
                    <a:pt x="191345" y="2931"/>
                  </a:lnTo>
                  <a:lnTo>
                    <a:pt x="221113" y="0"/>
                  </a:lnTo>
                  <a:lnTo>
                    <a:pt x="236086" y="0"/>
                  </a:lnTo>
                  <a:lnTo>
                    <a:pt x="280540" y="5853"/>
                  </a:lnTo>
                  <a:lnTo>
                    <a:pt x="322998" y="20265"/>
                  </a:lnTo>
                  <a:lnTo>
                    <a:pt x="361828" y="42685"/>
                  </a:lnTo>
                  <a:lnTo>
                    <a:pt x="395538" y="72249"/>
                  </a:lnTo>
                  <a:lnTo>
                    <a:pt x="422833" y="107821"/>
                  </a:lnTo>
                  <a:lnTo>
                    <a:pt x="442663" y="148035"/>
                  </a:lnTo>
                  <a:lnTo>
                    <a:pt x="454268" y="191345"/>
                  </a:lnTo>
                  <a:lnTo>
                    <a:pt x="457199" y="221112"/>
                  </a:lnTo>
                  <a:lnTo>
                    <a:pt x="457199" y="228599"/>
                  </a:lnTo>
                  <a:lnTo>
                    <a:pt x="457199" y="236086"/>
                  </a:lnTo>
                  <a:lnTo>
                    <a:pt x="451346" y="280540"/>
                  </a:lnTo>
                  <a:lnTo>
                    <a:pt x="436933" y="322998"/>
                  </a:lnTo>
                  <a:lnTo>
                    <a:pt x="414514" y="361828"/>
                  </a:lnTo>
                  <a:lnTo>
                    <a:pt x="384950" y="395538"/>
                  </a:lnTo>
                  <a:lnTo>
                    <a:pt x="349378" y="422833"/>
                  </a:lnTo>
                  <a:lnTo>
                    <a:pt x="309164" y="442663"/>
                  </a:lnTo>
                  <a:lnTo>
                    <a:pt x="265854" y="454267"/>
                  </a:lnTo>
                  <a:lnTo>
                    <a:pt x="243555" y="456832"/>
                  </a:lnTo>
                  <a:lnTo>
                    <a:pt x="236086" y="457199"/>
                  </a:lnTo>
                  <a:close/>
                </a:path>
              </a:pathLst>
            </a:custGeom>
            <a:solidFill>
              <a:srgbClr val="DAE9F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942974" y="2185987"/>
              <a:ext cx="257175" cy="200025"/>
            </a:xfrm>
            <a:custGeom>
              <a:avLst/>
              <a:gdLst/>
              <a:ahLst/>
              <a:cxnLst/>
              <a:rect l="l" t="t" r="r" b="b"/>
              <a:pathLst>
                <a:path w="257175" h="200025">
                  <a:moveTo>
                    <a:pt x="114300" y="200025"/>
                  </a:moveTo>
                  <a:lnTo>
                    <a:pt x="24378" y="200025"/>
                  </a:lnTo>
                  <a:lnTo>
                    <a:pt x="14899" y="198105"/>
                  </a:lnTo>
                  <a:lnTo>
                    <a:pt x="7149" y="192875"/>
                  </a:lnTo>
                  <a:lnTo>
                    <a:pt x="1919" y="185125"/>
                  </a:lnTo>
                  <a:lnTo>
                    <a:pt x="0" y="175646"/>
                  </a:lnTo>
                  <a:lnTo>
                    <a:pt x="0" y="172878"/>
                  </a:lnTo>
                  <a:lnTo>
                    <a:pt x="53979" y="19020"/>
                  </a:lnTo>
                  <a:lnTo>
                    <a:pt x="80902" y="0"/>
                  </a:lnTo>
                  <a:lnTo>
                    <a:pt x="114300" y="0"/>
                  </a:lnTo>
                  <a:lnTo>
                    <a:pt x="114300" y="36477"/>
                  </a:lnTo>
                  <a:lnTo>
                    <a:pt x="120684" y="42862"/>
                  </a:lnTo>
                  <a:lnTo>
                    <a:pt x="211639" y="42862"/>
                  </a:lnTo>
                  <a:lnTo>
                    <a:pt x="221760" y="71437"/>
                  </a:lnTo>
                  <a:lnTo>
                    <a:pt x="120684" y="71437"/>
                  </a:lnTo>
                  <a:lnTo>
                    <a:pt x="114300" y="77822"/>
                  </a:lnTo>
                  <a:lnTo>
                    <a:pt x="114300" y="122202"/>
                  </a:lnTo>
                  <a:lnTo>
                    <a:pt x="120684" y="128587"/>
                  </a:lnTo>
                  <a:lnTo>
                    <a:pt x="242001" y="128587"/>
                  </a:lnTo>
                  <a:lnTo>
                    <a:pt x="252122" y="157162"/>
                  </a:lnTo>
                  <a:lnTo>
                    <a:pt x="120684" y="157162"/>
                  </a:lnTo>
                  <a:lnTo>
                    <a:pt x="114300" y="163547"/>
                  </a:lnTo>
                  <a:lnTo>
                    <a:pt x="114300" y="200025"/>
                  </a:lnTo>
                  <a:close/>
                </a:path>
                <a:path w="257175" h="200025">
                  <a:moveTo>
                    <a:pt x="211639" y="42862"/>
                  </a:moveTo>
                  <a:lnTo>
                    <a:pt x="136490" y="42862"/>
                  </a:lnTo>
                  <a:lnTo>
                    <a:pt x="142875" y="36477"/>
                  </a:lnTo>
                  <a:lnTo>
                    <a:pt x="142875" y="0"/>
                  </a:lnTo>
                  <a:lnTo>
                    <a:pt x="176272" y="0"/>
                  </a:lnTo>
                  <a:lnTo>
                    <a:pt x="185011" y="1370"/>
                  </a:lnTo>
                  <a:lnTo>
                    <a:pt x="192747" y="5240"/>
                  </a:lnTo>
                  <a:lnTo>
                    <a:pt x="198975" y="11245"/>
                  </a:lnTo>
                  <a:lnTo>
                    <a:pt x="203195" y="19020"/>
                  </a:lnTo>
                  <a:lnTo>
                    <a:pt x="211639" y="42862"/>
                  </a:lnTo>
                  <a:close/>
                </a:path>
                <a:path w="257175" h="200025">
                  <a:moveTo>
                    <a:pt x="242001" y="128587"/>
                  </a:moveTo>
                  <a:lnTo>
                    <a:pt x="136490" y="128587"/>
                  </a:lnTo>
                  <a:lnTo>
                    <a:pt x="142875" y="122202"/>
                  </a:lnTo>
                  <a:lnTo>
                    <a:pt x="142875" y="77822"/>
                  </a:lnTo>
                  <a:lnTo>
                    <a:pt x="136490" y="71437"/>
                  </a:lnTo>
                  <a:lnTo>
                    <a:pt x="221760" y="71437"/>
                  </a:lnTo>
                  <a:lnTo>
                    <a:pt x="242001" y="128587"/>
                  </a:lnTo>
                  <a:close/>
                </a:path>
                <a:path w="257175" h="200025">
                  <a:moveTo>
                    <a:pt x="232796" y="200025"/>
                  </a:moveTo>
                  <a:lnTo>
                    <a:pt x="142875" y="200025"/>
                  </a:lnTo>
                  <a:lnTo>
                    <a:pt x="142875" y="163547"/>
                  </a:lnTo>
                  <a:lnTo>
                    <a:pt x="136490" y="157162"/>
                  </a:lnTo>
                  <a:lnTo>
                    <a:pt x="252122" y="157162"/>
                  </a:lnTo>
                  <a:lnTo>
                    <a:pt x="255790" y="167520"/>
                  </a:lnTo>
                  <a:lnTo>
                    <a:pt x="256683" y="170110"/>
                  </a:lnTo>
                  <a:lnTo>
                    <a:pt x="257175" y="172878"/>
                  </a:lnTo>
                  <a:lnTo>
                    <a:pt x="257175" y="175646"/>
                  </a:lnTo>
                  <a:lnTo>
                    <a:pt x="255262" y="185125"/>
                  </a:lnTo>
                  <a:lnTo>
                    <a:pt x="250042" y="192875"/>
                  </a:lnTo>
                  <a:lnTo>
                    <a:pt x="242294" y="198105"/>
                  </a:lnTo>
                  <a:lnTo>
                    <a:pt x="232796" y="200025"/>
                  </a:lnTo>
                  <a:close/>
                </a:path>
              </a:pathLst>
            </a:custGeom>
            <a:solidFill>
              <a:srgbClr val="2562E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"/>
          <p:cNvSpPr txBox="1"/>
          <p:nvPr/>
        </p:nvSpPr>
        <p:spPr>
          <a:xfrm>
            <a:off x="1435099" y="2087524"/>
            <a:ext cx="1168400" cy="34036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050" spc="-280">
                <a:solidFill>
                  <a:srgbClr val="1F2937"/>
                </a:solidFill>
                <a:latin typeface="SimSun"/>
                <a:cs typeface="SimSun"/>
              </a:rPr>
              <a:t>发展路线图</a:t>
            </a:r>
            <a:endParaRPr sz="2050">
              <a:latin typeface="SimSun"/>
              <a:cs typeface="SimSun"/>
            </a:endParaRPr>
          </a:p>
        </p:txBody>
      </p:sp>
      <p:pic>
        <p:nvPicPr>
          <p:cNvPr id="11" name="object 11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43749" y="1233487"/>
            <a:ext cx="4438649" cy="3757611"/>
          </a:xfrm>
          <a:prstGeom prst="rect">
            <a:avLst/>
          </a:prstGeom>
        </p:spPr>
      </p:pic>
      <p:sp>
        <p:nvSpPr>
          <p:cNvPr id="12" name="object 12" descr=""/>
          <p:cNvSpPr txBox="1"/>
          <p:nvPr/>
        </p:nvSpPr>
        <p:spPr>
          <a:xfrm>
            <a:off x="977900" y="4060342"/>
            <a:ext cx="5512435" cy="5207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20400"/>
              </a:lnSpc>
              <a:spcBef>
                <a:spcPts val="95"/>
              </a:spcBef>
            </a:pP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本项</a:t>
            </a:r>
            <a:r>
              <a:rPr dirty="0" sz="1350" spc="-170">
                <a:solidFill>
                  <a:srgbClr val="374050"/>
                </a:solidFill>
                <a:latin typeface="Meiryo"/>
                <a:cs typeface="Meiryo"/>
              </a:rPr>
              <a:t>⽬</a:t>
            </a: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将分阶段推进：</a:t>
            </a:r>
            <a:r>
              <a:rPr dirty="0" sz="1350" spc="-170">
                <a:solidFill>
                  <a:srgbClr val="374050"/>
                </a:solidFill>
                <a:latin typeface="Microsoft JhengHei"/>
                <a:cs typeface="Microsoft JhengHei"/>
              </a:rPr>
              <a:t>从</a:t>
            </a: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园区运营模式</a:t>
            </a:r>
            <a:r>
              <a:rPr dirty="0" sz="1350" spc="-170">
                <a:solidFill>
                  <a:srgbClr val="374050"/>
                </a:solidFill>
                <a:latin typeface="Meiryo"/>
                <a:cs typeface="Meiryo"/>
              </a:rPr>
              <a:t>改</a:t>
            </a: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造与系统开发开始，过渡到</a:t>
            </a:r>
            <a:r>
              <a:rPr dirty="0" sz="1350" spc="-170">
                <a:solidFill>
                  <a:srgbClr val="374050"/>
                </a:solidFill>
                <a:latin typeface="Meiryo"/>
                <a:cs typeface="Meiryo"/>
              </a:rPr>
              <a:t>⽰</a:t>
            </a: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范项</a:t>
            </a:r>
            <a:r>
              <a:rPr dirty="0" sz="1350" spc="-170">
                <a:solidFill>
                  <a:srgbClr val="374050"/>
                </a:solidFill>
                <a:latin typeface="Meiryo"/>
                <a:cs typeface="Meiryo"/>
              </a:rPr>
              <a:t>⽬</a:t>
            </a:r>
            <a:r>
              <a:rPr dirty="0" sz="1350" spc="-110">
                <a:solidFill>
                  <a:srgbClr val="374050"/>
                </a:solidFill>
                <a:latin typeface="SimSun"/>
                <a:cs typeface="SimSun"/>
              </a:rPr>
              <a:t>建设</a:t>
            </a: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与平台成熟，最终实现模式输出与品牌建</a:t>
            </a:r>
            <a:r>
              <a:rPr dirty="0" sz="1350" spc="-170">
                <a:solidFill>
                  <a:srgbClr val="374050"/>
                </a:solidFill>
                <a:latin typeface="Microsoft JhengHei"/>
                <a:cs typeface="Microsoft JhengHei"/>
              </a:rPr>
              <a:t>⽴</a:t>
            </a: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，形成可持续发展的智慧</a:t>
            </a:r>
            <a:r>
              <a:rPr dirty="0" sz="1350" spc="-170">
                <a:solidFill>
                  <a:srgbClr val="374050"/>
                </a:solidFill>
                <a:latin typeface="Microsoft JhengHei"/>
                <a:cs typeface="Microsoft JhengHei"/>
              </a:rPr>
              <a:t>产</a:t>
            </a: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业</a:t>
            </a:r>
            <a:r>
              <a:rPr dirty="0" sz="1350" spc="-170">
                <a:solidFill>
                  <a:srgbClr val="374050"/>
                </a:solidFill>
                <a:latin typeface="Meiryo"/>
                <a:cs typeface="Meiryo"/>
              </a:rPr>
              <a:t>⽣</a:t>
            </a:r>
            <a:r>
              <a:rPr dirty="0" sz="1350" spc="-170">
                <a:solidFill>
                  <a:srgbClr val="374050"/>
                </a:solidFill>
                <a:latin typeface="Microsoft JhengHei"/>
                <a:cs typeface="Microsoft JhengHei"/>
              </a:rPr>
              <a:t>态</a:t>
            </a:r>
            <a:r>
              <a:rPr dirty="0" sz="1350" spc="-50">
                <a:solidFill>
                  <a:srgbClr val="374050"/>
                </a:solidFill>
                <a:latin typeface="SimSun"/>
                <a:cs typeface="SimSun"/>
              </a:rPr>
              <a:t>。</a:t>
            </a:r>
            <a:endParaRPr sz="1350">
              <a:latin typeface="SimSun"/>
              <a:cs typeface="SimSun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7854950" y="2083561"/>
            <a:ext cx="1168400" cy="28765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700" spc="-200">
                <a:solidFill>
                  <a:srgbClr val="1F2937"/>
                </a:solidFill>
                <a:latin typeface="SimSun"/>
                <a:cs typeface="SimSun"/>
              </a:rPr>
              <a:t>合作共赢愿景</a:t>
            </a:r>
            <a:endParaRPr sz="1700">
              <a:latin typeface="SimSun"/>
              <a:cs typeface="SimSun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7778750" y="2543612"/>
            <a:ext cx="3531235" cy="485140"/>
          </a:xfrm>
          <a:prstGeom prst="rect">
            <a:avLst/>
          </a:prstGeom>
        </p:spPr>
        <p:txBody>
          <a:bodyPr wrap="square" lIns="0" tIns="374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95"/>
              </a:spcBef>
            </a:pP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能投光电：业</a:t>
            </a:r>
            <a:r>
              <a:rPr dirty="0" sz="1350" spc="-170">
                <a:solidFill>
                  <a:srgbClr val="374050"/>
                </a:solidFill>
                <a:latin typeface="Microsoft JhengHei"/>
                <a:cs typeface="Microsoft JhengHei"/>
              </a:rPr>
              <a:t>务</a:t>
            </a: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转型升级、资</a:t>
            </a:r>
            <a:r>
              <a:rPr dirty="0" sz="1350" spc="-170">
                <a:solidFill>
                  <a:srgbClr val="374050"/>
                </a:solidFill>
                <a:latin typeface="Microsoft JhengHei"/>
                <a:cs typeface="Microsoft JhengHei"/>
              </a:rPr>
              <a:t>产价</a:t>
            </a: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值提升、构建</a:t>
            </a:r>
            <a:r>
              <a:rPr dirty="0" sz="1350" spc="-170">
                <a:solidFill>
                  <a:srgbClr val="374050"/>
                </a:solidFill>
                <a:latin typeface="Meiryo"/>
                <a:cs typeface="Meiryo"/>
              </a:rPr>
              <a:t>新</a:t>
            </a:r>
            <a:r>
              <a:rPr dirty="0" sz="1350" spc="-50">
                <a:solidFill>
                  <a:srgbClr val="374050"/>
                </a:solidFill>
                <a:latin typeface="SimSun"/>
                <a:cs typeface="SimSun"/>
              </a:rPr>
              <a:t>核</a:t>
            </a:r>
            <a:endParaRPr sz="135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dirty="0" sz="1350" spc="-170">
                <a:solidFill>
                  <a:srgbClr val="374050"/>
                </a:solidFill>
                <a:latin typeface="Microsoft JhengHei"/>
                <a:cs typeface="Microsoft JhengHei"/>
              </a:rPr>
              <a:t>⼼竞</a:t>
            </a: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争</a:t>
            </a:r>
            <a:r>
              <a:rPr dirty="0" sz="1350" spc="-50">
                <a:solidFill>
                  <a:srgbClr val="374050"/>
                </a:solidFill>
                <a:latin typeface="Microsoft JhengHei"/>
                <a:cs typeface="Microsoft JhengHei"/>
              </a:rPr>
              <a:t>⼒</a:t>
            </a:r>
            <a:endParaRPr sz="1350">
              <a:latin typeface="Microsoft JhengHei"/>
              <a:cs typeface="Microsoft JhengHei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7778750" y="3153212"/>
            <a:ext cx="3531235" cy="48514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 marR="5080">
              <a:lnSpc>
                <a:spcPct val="111100"/>
              </a:lnSpc>
              <a:spcBef>
                <a:spcPts val="114"/>
              </a:spcBef>
            </a:pP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电</a:t>
            </a:r>
            <a:r>
              <a:rPr dirty="0" sz="1350" spc="-170">
                <a:solidFill>
                  <a:srgbClr val="374050"/>
                </a:solidFill>
                <a:latin typeface="Meiryo"/>
                <a:cs typeface="Meiryo"/>
              </a:rPr>
              <a:t>⼦</a:t>
            </a: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科</a:t>
            </a:r>
            <a:r>
              <a:rPr dirty="0" sz="1350" spc="-170">
                <a:solidFill>
                  <a:srgbClr val="374050"/>
                </a:solidFill>
                <a:latin typeface="Meiryo"/>
                <a:cs typeface="Meiryo"/>
              </a:rPr>
              <a:t>⼤</a:t>
            </a: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概验中</a:t>
            </a:r>
            <a:r>
              <a:rPr dirty="0" sz="1350" spc="-170">
                <a:solidFill>
                  <a:srgbClr val="374050"/>
                </a:solidFill>
                <a:latin typeface="Meiryo"/>
                <a:cs typeface="Meiryo"/>
              </a:rPr>
              <a:t>⼼</a:t>
            </a: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：场景落地、资源</a:t>
            </a:r>
            <a:r>
              <a:rPr dirty="0" sz="1350" spc="-170">
                <a:solidFill>
                  <a:srgbClr val="374050"/>
                </a:solidFill>
                <a:latin typeface="Meiryo"/>
                <a:cs typeface="Meiryo"/>
              </a:rPr>
              <a:t>整</a:t>
            </a:r>
            <a:r>
              <a:rPr dirty="0" sz="1350" spc="-150">
                <a:solidFill>
                  <a:srgbClr val="374050"/>
                </a:solidFill>
                <a:latin typeface="SimSun"/>
                <a:cs typeface="SimSun"/>
              </a:rPr>
              <a:t>合、科研成果</a:t>
            </a:r>
            <a:r>
              <a:rPr dirty="0" sz="1350" spc="-110">
                <a:solidFill>
                  <a:srgbClr val="374050"/>
                </a:solidFill>
                <a:latin typeface="SimSun"/>
                <a:cs typeface="SimSun"/>
              </a:rPr>
              <a:t>转化</a:t>
            </a:r>
            <a:endParaRPr sz="1350">
              <a:latin typeface="SimSun"/>
              <a:cs typeface="SimSun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7778750" y="3784574"/>
            <a:ext cx="3378835" cy="2355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园区企业：获</a:t>
            </a:r>
            <a:r>
              <a:rPr dirty="0" sz="1350" spc="-170">
                <a:solidFill>
                  <a:srgbClr val="374050"/>
                </a:solidFill>
                <a:latin typeface="Microsoft JhengHei"/>
                <a:cs typeface="Microsoft JhengHei"/>
              </a:rPr>
              <a:t>得</a:t>
            </a:r>
            <a:r>
              <a:rPr dirty="0" sz="1350" spc="-170">
                <a:solidFill>
                  <a:srgbClr val="374050"/>
                </a:solidFill>
                <a:latin typeface="Meiryo"/>
                <a:cs typeface="Meiryo"/>
              </a:rPr>
              <a:t>⾼</a:t>
            </a:r>
            <a:r>
              <a:rPr dirty="0" sz="1350" spc="-170">
                <a:solidFill>
                  <a:srgbClr val="374050"/>
                </a:solidFill>
                <a:latin typeface="Microsoft JhengHei"/>
                <a:cs typeface="Microsoft JhengHei"/>
              </a:rPr>
              <a:t>价</a:t>
            </a: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值服</a:t>
            </a:r>
            <a:r>
              <a:rPr dirty="0" sz="1350" spc="-170">
                <a:solidFill>
                  <a:srgbClr val="374050"/>
                </a:solidFill>
                <a:latin typeface="Microsoft JhengHei"/>
                <a:cs typeface="Microsoft JhengHei"/>
              </a:rPr>
              <a:t>务</a:t>
            </a: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、</a:t>
            </a:r>
            <a:r>
              <a:rPr dirty="0" sz="1350" spc="-170">
                <a:solidFill>
                  <a:srgbClr val="374050"/>
                </a:solidFill>
                <a:latin typeface="Meiryo"/>
                <a:cs typeface="Meiryo"/>
              </a:rPr>
              <a:t>⽣</a:t>
            </a:r>
            <a:r>
              <a:rPr dirty="0" sz="1350" spc="-170">
                <a:solidFill>
                  <a:srgbClr val="374050"/>
                </a:solidFill>
                <a:latin typeface="Microsoft JhengHei"/>
                <a:cs typeface="Microsoft JhengHei"/>
              </a:rPr>
              <a:t>态</a:t>
            </a: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赋能、降本增</a:t>
            </a:r>
            <a:r>
              <a:rPr dirty="0" sz="1350" spc="-60">
                <a:solidFill>
                  <a:srgbClr val="374050"/>
                </a:solidFill>
                <a:latin typeface="Meiryo"/>
                <a:cs typeface="Meiryo"/>
              </a:rPr>
              <a:t>效</a:t>
            </a:r>
            <a:endParaRPr sz="1350">
              <a:latin typeface="Meiryo"/>
              <a:cs typeface="Meiryo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7778750" y="4279874"/>
            <a:ext cx="2921635" cy="2355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城市发展：</a:t>
            </a:r>
            <a:r>
              <a:rPr dirty="0" sz="1350" spc="-170">
                <a:solidFill>
                  <a:srgbClr val="374050"/>
                </a:solidFill>
                <a:latin typeface="Microsoft JhengHei"/>
                <a:cs typeface="Microsoft JhengHei"/>
              </a:rPr>
              <a:t>产</a:t>
            </a: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业升级、</a:t>
            </a:r>
            <a:r>
              <a:rPr dirty="0" sz="1350" spc="-170">
                <a:solidFill>
                  <a:srgbClr val="374050"/>
                </a:solidFill>
                <a:latin typeface="Microsoft JhengHei"/>
                <a:cs typeface="Microsoft JhengHei"/>
              </a:rPr>
              <a:t>⼈</a:t>
            </a:r>
            <a:r>
              <a:rPr dirty="0" sz="1350" spc="-170">
                <a:solidFill>
                  <a:srgbClr val="374050"/>
                </a:solidFill>
                <a:latin typeface="SimSun"/>
                <a:cs typeface="SimSun"/>
              </a:rPr>
              <a:t>才聚集、创</a:t>
            </a:r>
            <a:r>
              <a:rPr dirty="0" sz="1350" spc="-170">
                <a:solidFill>
                  <a:srgbClr val="374050"/>
                </a:solidFill>
                <a:latin typeface="Meiryo"/>
                <a:cs typeface="Meiryo"/>
              </a:rPr>
              <a:t>新⽰</a:t>
            </a:r>
            <a:r>
              <a:rPr dirty="0" sz="1350" spc="-50">
                <a:solidFill>
                  <a:srgbClr val="374050"/>
                </a:solidFill>
                <a:latin typeface="SimSun"/>
                <a:cs typeface="SimSun"/>
              </a:rPr>
              <a:t>范</a:t>
            </a:r>
            <a:endParaRPr sz="1350">
              <a:latin typeface="SimSun"/>
              <a:cs typeface="SimSun"/>
            </a:endParaRPr>
          </a:p>
        </p:txBody>
      </p:sp>
      <p:grpSp>
        <p:nvGrpSpPr>
          <p:cNvPr id="18" name="object 18" descr=""/>
          <p:cNvGrpSpPr/>
          <p:nvPr/>
        </p:nvGrpSpPr>
        <p:grpSpPr>
          <a:xfrm>
            <a:off x="609599" y="5219699"/>
            <a:ext cx="4438650" cy="1638300"/>
            <a:chOff x="609599" y="5219699"/>
            <a:chExt cx="4438650" cy="1638300"/>
          </a:xfrm>
        </p:grpSpPr>
        <p:sp>
          <p:nvSpPr>
            <p:cNvPr id="19" name="object 19" descr=""/>
            <p:cNvSpPr/>
            <p:nvPr/>
          </p:nvSpPr>
          <p:spPr>
            <a:xfrm>
              <a:off x="609599" y="5219699"/>
              <a:ext cx="4438650" cy="1638300"/>
            </a:xfrm>
            <a:custGeom>
              <a:avLst/>
              <a:gdLst/>
              <a:ahLst/>
              <a:cxnLst/>
              <a:rect l="l" t="t" r="r" b="b"/>
              <a:pathLst>
                <a:path w="4438650" h="1638300">
                  <a:moveTo>
                    <a:pt x="4438649" y="1638300"/>
                  </a:moveTo>
                  <a:lnTo>
                    <a:pt x="0" y="1638300"/>
                  </a:lnTo>
                  <a:lnTo>
                    <a:pt x="0" y="106795"/>
                  </a:lnTo>
                  <a:lnTo>
                    <a:pt x="11572" y="63625"/>
                  </a:lnTo>
                  <a:lnTo>
                    <a:pt x="38784" y="28170"/>
                  </a:lnTo>
                  <a:lnTo>
                    <a:pt x="77493" y="5828"/>
                  </a:lnTo>
                  <a:lnTo>
                    <a:pt x="106795" y="0"/>
                  </a:lnTo>
                  <a:lnTo>
                    <a:pt x="4331854" y="0"/>
                  </a:lnTo>
                  <a:lnTo>
                    <a:pt x="4375023" y="11572"/>
                  </a:lnTo>
                  <a:lnTo>
                    <a:pt x="4410477" y="38784"/>
                  </a:lnTo>
                  <a:lnTo>
                    <a:pt x="4432820" y="77492"/>
                  </a:lnTo>
                  <a:lnTo>
                    <a:pt x="4438649" y="106795"/>
                  </a:lnTo>
                  <a:lnTo>
                    <a:pt x="4438649" y="16383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838199" y="5981699"/>
              <a:ext cx="3981450" cy="876300"/>
            </a:xfrm>
            <a:custGeom>
              <a:avLst/>
              <a:gdLst/>
              <a:ahLst/>
              <a:cxnLst/>
              <a:rect l="l" t="t" r="r" b="b"/>
              <a:pathLst>
                <a:path w="3981450" h="876300">
                  <a:moveTo>
                    <a:pt x="3981449" y="876300"/>
                  </a:moveTo>
                  <a:lnTo>
                    <a:pt x="0" y="876300"/>
                  </a:lnTo>
                  <a:lnTo>
                    <a:pt x="0" y="71196"/>
                  </a:lnTo>
                  <a:lnTo>
                    <a:pt x="15621" y="29703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3910252" y="0"/>
                  </a:lnTo>
                  <a:lnTo>
                    <a:pt x="3951743" y="15621"/>
                  </a:lnTo>
                  <a:lnTo>
                    <a:pt x="3977563" y="51660"/>
                  </a:lnTo>
                  <a:lnTo>
                    <a:pt x="3981449" y="71196"/>
                  </a:lnTo>
                  <a:lnTo>
                    <a:pt x="3981449" y="876300"/>
                  </a:lnTo>
                  <a:close/>
                </a:path>
              </a:pathLst>
            </a:custGeom>
            <a:solidFill>
              <a:srgbClr val="F5F2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838199" y="5448299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90499" y="380999"/>
                  </a:moveTo>
                  <a:lnTo>
                    <a:pt x="144200" y="375288"/>
                  </a:lnTo>
                  <a:lnTo>
                    <a:pt x="100697" y="358507"/>
                  </a:lnTo>
                  <a:lnTo>
                    <a:pt x="62575" y="331658"/>
                  </a:lnTo>
                  <a:lnTo>
                    <a:pt x="32105" y="296334"/>
                  </a:lnTo>
                  <a:lnTo>
                    <a:pt x="11130" y="254666"/>
                  </a:lnTo>
                  <a:lnTo>
                    <a:pt x="915" y="209172"/>
                  </a:lnTo>
                  <a:lnTo>
                    <a:pt x="0" y="190499"/>
                  </a:lnTo>
                  <a:lnTo>
                    <a:pt x="228" y="181141"/>
                  </a:lnTo>
                  <a:lnTo>
                    <a:pt x="8200" y="135199"/>
                  </a:lnTo>
                  <a:lnTo>
                    <a:pt x="27095" y="92571"/>
                  </a:lnTo>
                  <a:lnTo>
                    <a:pt x="55796" y="55796"/>
                  </a:lnTo>
                  <a:lnTo>
                    <a:pt x="92572" y="27095"/>
                  </a:lnTo>
                  <a:lnTo>
                    <a:pt x="135200" y="8200"/>
                  </a:lnTo>
                  <a:lnTo>
                    <a:pt x="181141" y="229"/>
                  </a:lnTo>
                  <a:lnTo>
                    <a:pt x="190499" y="0"/>
                  </a:lnTo>
                  <a:lnTo>
                    <a:pt x="199858" y="229"/>
                  </a:lnTo>
                  <a:lnTo>
                    <a:pt x="245799" y="8200"/>
                  </a:lnTo>
                  <a:lnTo>
                    <a:pt x="288427" y="27095"/>
                  </a:lnTo>
                  <a:lnTo>
                    <a:pt x="325203" y="55796"/>
                  </a:lnTo>
                  <a:lnTo>
                    <a:pt x="353904" y="92571"/>
                  </a:lnTo>
                  <a:lnTo>
                    <a:pt x="372799" y="135199"/>
                  </a:lnTo>
                  <a:lnTo>
                    <a:pt x="380771" y="181141"/>
                  </a:lnTo>
                  <a:lnTo>
                    <a:pt x="380999" y="190499"/>
                  </a:lnTo>
                  <a:lnTo>
                    <a:pt x="380771" y="199858"/>
                  </a:lnTo>
                  <a:lnTo>
                    <a:pt x="372799" y="245798"/>
                  </a:lnTo>
                  <a:lnTo>
                    <a:pt x="353904" y="288426"/>
                  </a:lnTo>
                  <a:lnTo>
                    <a:pt x="325203" y="325202"/>
                  </a:lnTo>
                  <a:lnTo>
                    <a:pt x="288427" y="353903"/>
                  </a:lnTo>
                  <a:lnTo>
                    <a:pt x="245799" y="372798"/>
                  </a:lnTo>
                  <a:lnTo>
                    <a:pt x="199858" y="380770"/>
                  </a:lnTo>
                  <a:lnTo>
                    <a:pt x="190499" y="380999"/>
                  </a:lnTo>
                  <a:close/>
                </a:path>
              </a:pathLst>
            </a:custGeom>
            <a:solidFill>
              <a:srgbClr val="ECE8F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2" name="object 22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33003" y="5543574"/>
              <a:ext cx="190916" cy="190884"/>
            </a:xfrm>
            <a:prstGeom prst="rect">
              <a:avLst/>
            </a:prstGeom>
          </p:spPr>
        </p:pic>
        <p:pic>
          <p:nvPicPr>
            <p:cNvPr id="23" name="object 23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90064" y="6171663"/>
              <a:ext cx="115401" cy="153054"/>
            </a:xfrm>
            <a:prstGeom prst="rect">
              <a:avLst/>
            </a:prstGeom>
          </p:spPr>
        </p:pic>
      </p:grpSp>
      <p:sp>
        <p:nvSpPr>
          <p:cNvPr id="24" name="object 24" descr=""/>
          <p:cNvSpPr txBox="1"/>
          <p:nvPr/>
        </p:nvSpPr>
        <p:spPr>
          <a:xfrm>
            <a:off x="1168399" y="5474461"/>
            <a:ext cx="1511300" cy="86931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64465">
              <a:lnSpc>
                <a:spcPct val="100000"/>
              </a:lnSpc>
              <a:spcBef>
                <a:spcPts val="114"/>
              </a:spcBef>
            </a:pPr>
            <a:r>
              <a:rPr dirty="0" sz="1700" spc="-200">
                <a:solidFill>
                  <a:srgbClr val="1F2937"/>
                </a:solidFill>
                <a:latin typeface="SimSun"/>
                <a:cs typeface="SimSun"/>
              </a:rPr>
              <a:t>合作价值与意义</a:t>
            </a:r>
            <a:endParaRPr sz="1700">
              <a:latin typeface="SimSun"/>
              <a:cs typeface="SimSun"/>
            </a:endParaRPr>
          </a:p>
          <a:p>
            <a:pPr>
              <a:lnSpc>
                <a:spcPct val="100000"/>
              </a:lnSpc>
              <a:spcBef>
                <a:spcPts val="1010"/>
              </a:spcBef>
            </a:pPr>
            <a:endParaRPr sz="150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</a:pPr>
            <a:r>
              <a:rPr dirty="0" sz="1350" spc="-140">
                <a:solidFill>
                  <a:srgbClr val="6D28D9"/>
                </a:solidFill>
                <a:latin typeface="SimSun"/>
                <a:cs typeface="SimSun"/>
              </a:rPr>
              <a:t>战略价值</a:t>
            </a:r>
            <a:endParaRPr sz="1350">
              <a:latin typeface="SimSun"/>
              <a:cs typeface="SimSun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977900" y="6408711"/>
            <a:ext cx="3492500" cy="40640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08700"/>
              </a:lnSpc>
              <a:spcBef>
                <a:spcPts val="90"/>
              </a:spcBef>
            </a:pPr>
            <a:r>
              <a:rPr dirty="0" sz="1150" spc="-110">
                <a:solidFill>
                  <a:srgbClr val="374050"/>
                </a:solidFill>
                <a:latin typeface="SimSun"/>
                <a:cs typeface="SimSun"/>
              </a:rPr>
              <a:t>打造</a:t>
            </a:r>
            <a:r>
              <a:rPr dirty="0" sz="1150" spc="-110">
                <a:solidFill>
                  <a:srgbClr val="374050"/>
                </a:solidFill>
                <a:latin typeface="Microsoft JhengHei"/>
                <a:cs typeface="Microsoft JhengHei"/>
              </a:rPr>
              <a:t>⼈</a:t>
            </a:r>
            <a:r>
              <a:rPr dirty="0" sz="1150" spc="-110">
                <a:solidFill>
                  <a:srgbClr val="374050"/>
                </a:solidFill>
                <a:latin typeface="Meiryo"/>
                <a:cs typeface="Meiryo"/>
              </a:rPr>
              <a:t>⼯</a:t>
            </a:r>
            <a:r>
              <a:rPr dirty="0" sz="1150" spc="-110">
                <a:solidFill>
                  <a:srgbClr val="374050"/>
                </a:solidFill>
                <a:latin typeface="SimSun"/>
                <a:cs typeface="SimSun"/>
              </a:rPr>
              <a:t>智能与智慧建筑领域的标杆项</a:t>
            </a:r>
            <a:r>
              <a:rPr dirty="0" sz="1150" spc="-110">
                <a:solidFill>
                  <a:srgbClr val="374050"/>
                </a:solidFill>
                <a:latin typeface="Meiryo"/>
                <a:cs typeface="Meiryo"/>
              </a:rPr>
              <a:t>⽬</a:t>
            </a:r>
            <a:r>
              <a:rPr dirty="0" sz="1150" spc="-110">
                <a:solidFill>
                  <a:srgbClr val="374050"/>
                </a:solidFill>
                <a:latin typeface="SimSun"/>
                <a:cs typeface="SimSun"/>
              </a:rPr>
              <a:t>，引领</a:t>
            </a:r>
            <a:r>
              <a:rPr dirty="0" sz="1150" spc="-110">
                <a:solidFill>
                  <a:srgbClr val="374050"/>
                </a:solidFill>
                <a:latin typeface="Meiryo"/>
                <a:cs typeface="Meiryo"/>
              </a:rPr>
              <a:t>⾏</a:t>
            </a:r>
            <a:r>
              <a:rPr dirty="0" sz="1150" spc="-110">
                <a:solidFill>
                  <a:srgbClr val="374050"/>
                </a:solidFill>
                <a:latin typeface="SimSun"/>
                <a:cs typeface="SimSun"/>
              </a:rPr>
              <a:t>业发展</a:t>
            </a:r>
            <a:r>
              <a:rPr dirty="0" sz="1150" spc="-60">
                <a:solidFill>
                  <a:srgbClr val="374050"/>
                </a:solidFill>
                <a:latin typeface="Meiryo"/>
                <a:cs typeface="Meiryo"/>
              </a:rPr>
              <a:t>⽅</a:t>
            </a:r>
            <a:r>
              <a:rPr dirty="0" sz="1150" spc="-110">
                <a:solidFill>
                  <a:srgbClr val="374050"/>
                </a:solidFill>
                <a:latin typeface="SimSun"/>
                <a:cs typeface="SimSun"/>
              </a:rPr>
              <a:t>向，</a:t>
            </a:r>
            <a:r>
              <a:rPr dirty="0" sz="1150" spc="-110">
                <a:solidFill>
                  <a:srgbClr val="374050"/>
                </a:solidFill>
                <a:latin typeface="Microsoft JhengHei"/>
                <a:cs typeface="Microsoft JhengHei"/>
              </a:rPr>
              <a:t>助⼒</a:t>
            </a:r>
            <a:r>
              <a:rPr dirty="0" sz="1150" spc="-110">
                <a:solidFill>
                  <a:srgbClr val="374050"/>
                </a:solidFill>
                <a:latin typeface="Meiryo"/>
                <a:cs typeface="Meiryo"/>
              </a:rPr>
              <a:t>数</a:t>
            </a:r>
            <a:r>
              <a:rPr dirty="0" sz="1150" spc="-100">
                <a:solidFill>
                  <a:srgbClr val="374050"/>
                </a:solidFill>
                <a:latin typeface="SimSun"/>
                <a:cs typeface="SimSun"/>
              </a:rPr>
              <a:t>字化转型</a:t>
            </a:r>
            <a:endParaRPr sz="1150">
              <a:latin typeface="SimSun"/>
              <a:cs typeface="SimSun"/>
            </a:endParaRPr>
          </a:p>
        </p:txBody>
      </p:sp>
      <p:grpSp>
        <p:nvGrpSpPr>
          <p:cNvPr id="26" name="object 26" descr=""/>
          <p:cNvGrpSpPr/>
          <p:nvPr/>
        </p:nvGrpSpPr>
        <p:grpSpPr>
          <a:xfrm>
            <a:off x="838199" y="2609849"/>
            <a:ext cx="1952625" cy="304800"/>
            <a:chOff x="838199" y="2609849"/>
            <a:chExt cx="1952625" cy="304800"/>
          </a:xfrm>
        </p:grpSpPr>
        <p:sp>
          <p:nvSpPr>
            <p:cNvPr id="27" name="object 27" descr=""/>
            <p:cNvSpPr/>
            <p:nvPr/>
          </p:nvSpPr>
          <p:spPr>
            <a:xfrm>
              <a:off x="838199" y="2743199"/>
              <a:ext cx="1952625" cy="38100"/>
            </a:xfrm>
            <a:custGeom>
              <a:avLst/>
              <a:gdLst/>
              <a:ahLst/>
              <a:cxnLst/>
              <a:rect l="l" t="t" r="r" b="b"/>
              <a:pathLst>
                <a:path w="1952625" h="38100">
                  <a:moveTo>
                    <a:pt x="1952624" y="38099"/>
                  </a:moveTo>
                  <a:lnTo>
                    <a:pt x="0" y="38099"/>
                  </a:lnTo>
                  <a:lnTo>
                    <a:pt x="0" y="0"/>
                  </a:lnTo>
                  <a:lnTo>
                    <a:pt x="1952624" y="0"/>
                  </a:lnTo>
                  <a:lnTo>
                    <a:pt x="1952624" y="38099"/>
                  </a:lnTo>
                  <a:close/>
                </a:path>
              </a:pathLst>
            </a:custGeom>
            <a:solidFill>
              <a:srgbClr val="BEDAF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838199" y="260984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399" y="304799"/>
                  </a:moveTo>
                  <a:lnTo>
                    <a:pt x="108159" y="298238"/>
                  </a:lnTo>
                  <a:lnTo>
                    <a:pt x="67730" y="279115"/>
                  </a:lnTo>
                  <a:lnTo>
                    <a:pt x="34591" y="249082"/>
                  </a:lnTo>
                  <a:lnTo>
                    <a:pt x="11600" y="210720"/>
                  </a:lnTo>
                  <a:lnTo>
                    <a:pt x="732" y="167337"/>
                  </a:lnTo>
                  <a:lnTo>
                    <a:pt x="0" y="152399"/>
                  </a:lnTo>
                  <a:lnTo>
                    <a:pt x="182" y="144912"/>
                  </a:lnTo>
                  <a:lnTo>
                    <a:pt x="8904" y="101066"/>
                  </a:lnTo>
                  <a:lnTo>
                    <a:pt x="29995" y="61607"/>
                  </a:lnTo>
                  <a:lnTo>
                    <a:pt x="61607" y="29995"/>
                  </a:lnTo>
                  <a:lnTo>
                    <a:pt x="101066" y="8904"/>
                  </a:lnTo>
                  <a:lnTo>
                    <a:pt x="144912" y="183"/>
                  </a:lnTo>
                  <a:lnTo>
                    <a:pt x="152399" y="0"/>
                  </a:lnTo>
                  <a:lnTo>
                    <a:pt x="159886" y="183"/>
                  </a:lnTo>
                  <a:lnTo>
                    <a:pt x="203733" y="8904"/>
                  </a:lnTo>
                  <a:lnTo>
                    <a:pt x="243192" y="29995"/>
                  </a:lnTo>
                  <a:lnTo>
                    <a:pt x="274804" y="61607"/>
                  </a:lnTo>
                  <a:lnTo>
                    <a:pt x="295895" y="101066"/>
                  </a:lnTo>
                  <a:lnTo>
                    <a:pt x="304616" y="144912"/>
                  </a:lnTo>
                  <a:lnTo>
                    <a:pt x="304799" y="152399"/>
                  </a:lnTo>
                  <a:lnTo>
                    <a:pt x="304616" y="159886"/>
                  </a:lnTo>
                  <a:lnTo>
                    <a:pt x="295895" y="203733"/>
                  </a:lnTo>
                  <a:lnTo>
                    <a:pt x="274804" y="243191"/>
                  </a:lnTo>
                  <a:lnTo>
                    <a:pt x="243192" y="274803"/>
                  </a:lnTo>
                  <a:lnTo>
                    <a:pt x="203733" y="295894"/>
                  </a:lnTo>
                  <a:lnTo>
                    <a:pt x="159886" y="304616"/>
                  </a:lnTo>
                  <a:lnTo>
                    <a:pt x="152399" y="304799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" name="object 29" descr=""/>
          <p:cNvSpPr txBox="1"/>
          <p:nvPr/>
        </p:nvSpPr>
        <p:spPr>
          <a:xfrm>
            <a:off x="929382" y="2644775"/>
            <a:ext cx="12255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solidFill>
                  <a:srgbClr val="FFFFFF"/>
                </a:solidFill>
                <a:latin typeface="DejaVu Sans"/>
                <a:cs typeface="DejaVu Sans"/>
              </a:rPr>
              <a:t>1</a:t>
            </a:r>
            <a:endParaRPr sz="1200">
              <a:latin typeface="DejaVu Sans"/>
              <a:cs typeface="DejaVu Sans"/>
            </a:endParaRPr>
          </a:p>
        </p:txBody>
      </p:sp>
      <p:sp>
        <p:nvSpPr>
          <p:cNvPr id="30" name="object 30" descr=""/>
          <p:cNvSpPr/>
          <p:nvPr/>
        </p:nvSpPr>
        <p:spPr>
          <a:xfrm>
            <a:off x="2790824" y="2743199"/>
            <a:ext cx="1943100" cy="38100"/>
          </a:xfrm>
          <a:custGeom>
            <a:avLst/>
            <a:gdLst/>
            <a:ahLst/>
            <a:cxnLst/>
            <a:rect l="l" t="t" r="r" b="b"/>
            <a:pathLst>
              <a:path w="1943100" h="38100">
                <a:moveTo>
                  <a:pt x="1943099" y="38099"/>
                </a:moveTo>
                <a:lnTo>
                  <a:pt x="0" y="38099"/>
                </a:lnTo>
                <a:lnTo>
                  <a:pt x="0" y="0"/>
                </a:lnTo>
                <a:lnTo>
                  <a:pt x="1943099" y="0"/>
                </a:lnTo>
                <a:lnTo>
                  <a:pt x="1943099" y="38099"/>
                </a:lnTo>
                <a:close/>
              </a:path>
            </a:pathLst>
          </a:custGeom>
          <a:solidFill>
            <a:srgbClr val="BEDAF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 descr=""/>
          <p:cNvSpPr txBox="1"/>
          <p:nvPr/>
        </p:nvSpPr>
        <p:spPr>
          <a:xfrm>
            <a:off x="825500" y="2853924"/>
            <a:ext cx="3883025" cy="875665"/>
          </a:xfrm>
          <a:prstGeom prst="rect">
            <a:avLst/>
          </a:prstGeom>
        </p:spPr>
        <p:txBody>
          <a:bodyPr wrap="square" lIns="0" tIns="1492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75"/>
              </a:spcBef>
              <a:tabLst>
                <a:tab pos="2207895" algn="l"/>
              </a:tabLst>
            </a:pPr>
            <a:r>
              <a:rPr dirty="0" sz="1550" spc="-210">
                <a:solidFill>
                  <a:srgbClr val="2562EB"/>
                </a:solidFill>
                <a:latin typeface="SimSun"/>
                <a:cs typeface="SimSun"/>
              </a:rPr>
              <a:t>近</a:t>
            </a:r>
            <a:r>
              <a:rPr dirty="0" sz="1550" spc="-210">
                <a:solidFill>
                  <a:srgbClr val="2562EB"/>
                </a:solidFill>
                <a:latin typeface="Meiryo"/>
                <a:cs typeface="Meiryo"/>
              </a:rPr>
              <a:t>期</a:t>
            </a:r>
            <a:r>
              <a:rPr dirty="0" sz="1550" spc="-75">
                <a:solidFill>
                  <a:srgbClr val="2562EB"/>
                </a:solidFill>
                <a:latin typeface="SimSun"/>
                <a:cs typeface="SimSun"/>
              </a:rPr>
              <a:t>（</a:t>
            </a:r>
            <a:r>
              <a:rPr dirty="0" sz="1350" spc="-75" b="1">
                <a:solidFill>
                  <a:srgbClr val="2562EB"/>
                </a:solidFill>
                <a:latin typeface="DejaVu Sans"/>
                <a:cs typeface="DejaVu Sans"/>
              </a:rPr>
              <a:t>0-</a:t>
            </a:r>
            <a:r>
              <a:rPr dirty="0" sz="1350" b="1">
                <a:solidFill>
                  <a:srgbClr val="2562EB"/>
                </a:solidFill>
                <a:latin typeface="DejaVu Sans"/>
                <a:cs typeface="DejaVu Sans"/>
              </a:rPr>
              <a:t>6</a:t>
            </a:r>
            <a:r>
              <a:rPr dirty="0" sz="1550" spc="-210">
                <a:solidFill>
                  <a:srgbClr val="2562EB"/>
                </a:solidFill>
                <a:latin typeface="SimSun"/>
                <a:cs typeface="SimSun"/>
              </a:rPr>
              <a:t>个</a:t>
            </a:r>
            <a:r>
              <a:rPr dirty="0" sz="1550" spc="-210">
                <a:solidFill>
                  <a:srgbClr val="2562EB"/>
                </a:solidFill>
                <a:latin typeface="Meiryo"/>
                <a:cs typeface="Meiryo"/>
              </a:rPr>
              <a:t>⽉</a:t>
            </a:r>
            <a:r>
              <a:rPr dirty="0" sz="1550" spc="-50">
                <a:solidFill>
                  <a:srgbClr val="2562EB"/>
                </a:solidFill>
                <a:latin typeface="SimSun"/>
                <a:cs typeface="SimSun"/>
              </a:rPr>
              <a:t>）</a:t>
            </a:r>
            <a:r>
              <a:rPr dirty="0" sz="1550">
                <a:solidFill>
                  <a:srgbClr val="2562EB"/>
                </a:solidFill>
                <a:latin typeface="SimSun"/>
                <a:cs typeface="SimSun"/>
              </a:rPr>
              <a:t>	</a:t>
            </a:r>
            <a:r>
              <a:rPr dirty="0" sz="1550" spc="-210">
                <a:solidFill>
                  <a:srgbClr val="2562EB"/>
                </a:solidFill>
                <a:latin typeface="SimSun"/>
                <a:cs typeface="SimSun"/>
              </a:rPr>
              <a:t>中</a:t>
            </a:r>
            <a:r>
              <a:rPr dirty="0" sz="1550" spc="-210">
                <a:solidFill>
                  <a:srgbClr val="2562EB"/>
                </a:solidFill>
                <a:latin typeface="Meiryo"/>
                <a:cs typeface="Meiryo"/>
              </a:rPr>
              <a:t>期</a:t>
            </a:r>
            <a:r>
              <a:rPr dirty="0" sz="1550" spc="-75">
                <a:solidFill>
                  <a:srgbClr val="2562EB"/>
                </a:solidFill>
                <a:latin typeface="SimSun"/>
                <a:cs typeface="SimSun"/>
              </a:rPr>
              <a:t>（</a:t>
            </a:r>
            <a:r>
              <a:rPr dirty="0" sz="1350" spc="-75" b="1">
                <a:solidFill>
                  <a:srgbClr val="2562EB"/>
                </a:solidFill>
                <a:latin typeface="DejaVu Sans"/>
                <a:cs typeface="DejaVu Sans"/>
              </a:rPr>
              <a:t>6-</a:t>
            </a:r>
            <a:r>
              <a:rPr dirty="0" sz="1350" b="1">
                <a:solidFill>
                  <a:srgbClr val="2562EB"/>
                </a:solidFill>
                <a:latin typeface="DejaVu Sans"/>
                <a:cs typeface="DejaVu Sans"/>
              </a:rPr>
              <a:t>18</a:t>
            </a:r>
            <a:r>
              <a:rPr dirty="0" sz="1550" spc="-210">
                <a:solidFill>
                  <a:srgbClr val="2562EB"/>
                </a:solidFill>
                <a:latin typeface="SimSun"/>
                <a:cs typeface="SimSun"/>
              </a:rPr>
              <a:t>个</a:t>
            </a:r>
            <a:r>
              <a:rPr dirty="0" sz="1550" spc="-210">
                <a:solidFill>
                  <a:srgbClr val="2562EB"/>
                </a:solidFill>
                <a:latin typeface="Meiryo"/>
                <a:cs typeface="Meiryo"/>
              </a:rPr>
              <a:t>⽉</a:t>
            </a:r>
            <a:r>
              <a:rPr dirty="0" sz="1550" spc="-50">
                <a:solidFill>
                  <a:srgbClr val="2562EB"/>
                </a:solidFill>
                <a:latin typeface="SimSun"/>
                <a:cs typeface="SimSun"/>
              </a:rPr>
              <a:t>）</a:t>
            </a:r>
            <a:endParaRPr sz="1550">
              <a:latin typeface="SimSun"/>
              <a:cs typeface="SimSun"/>
            </a:endParaRPr>
          </a:p>
          <a:p>
            <a:pPr marL="12700" marR="5080">
              <a:lnSpc>
                <a:spcPct val="108700"/>
              </a:lnSpc>
              <a:spcBef>
                <a:spcPts val="745"/>
              </a:spcBef>
              <a:tabLst>
                <a:tab pos="2869565" algn="l"/>
              </a:tabLst>
            </a:pPr>
            <a:r>
              <a:rPr dirty="0" sz="1150" spc="-110">
                <a:solidFill>
                  <a:srgbClr val="374050"/>
                </a:solidFill>
                <a:latin typeface="SimSun"/>
                <a:cs typeface="SimSun"/>
              </a:rPr>
              <a:t>完成园区定位、智慧</a:t>
            </a:r>
            <a:r>
              <a:rPr dirty="0" sz="1150" spc="-110">
                <a:solidFill>
                  <a:srgbClr val="374050"/>
                </a:solidFill>
                <a:latin typeface="Meiryo"/>
                <a:cs typeface="Meiryo"/>
              </a:rPr>
              <a:t>⼯</a:t>
            </a:r>
            <a:r>
              <a:rPr dirty="0" sz="1150" spc="-110">
                <a:solidFill>
                  <a:srgbClr val="374050"/>
                </a:solidFill>
                <a:latin typeface="SimSun"/>
                <a:cs typeface="SimSun"/>
              </a:rPr>
              <a:t>地系统</a:t>
            </a:r>
            <a:r>
              <a:rPr dirty="0" sz="1050">
                <a:solidFill>
                  <a:srgbClr val="374050"/>
                </a:solidFill>
                <a:latin typeface="DejaVu Sans"/>
                <a:cs typeface="DejaVu Sans"/>
              </a:rPr>
              <a:t>1.0 </a:t>
            </a:r>
            <a:r>
              <a:rPr dirty="0" sz="1150" spc="-110">
                <a:solidFill>
                  <a:srgbClr val="374050"/>
                </a:solidFill>
                <a:latin typeface="SimSun"/>
                <a:cs typeface="SimSun"/>
              </a:rPr>
              <a:t>储能</a:t>
            </a:r>
            <a:r>
              <a:rPr dirty="0" sz="1150" spc="-110">
                <a:solidFill>
                  <a:srgbClr val="374050"/>
                </a:solidFill>
                <a:latin typeface="Meiryo"/>
                <a:cs typeface="Meiryo"/>
              </a:rPr>
              <a:t>⽰</a:t>
            </a:r>
            <a:r>
              <a:rPr dirty="0" sz="1150" spc="-110">
                <a:solidFill>
                  <a:srgbClr val="374050"/>
                </a:solidFill>
                <a:latin typeface="SimSun"/>
                <a:cs typeface="SimSun"/>
              </a:rPr>
              <a:t>范项</a:t>
            </a:r>
            <a:r>
              <a:rPr dirty="0" sz="1150" spc="-110">
                <a:solidFill>
                  <a:srgbClr val="374050"/>
                </a:solidFill>
                <a:latin typeface="Meiryo"/>
                <a:cs typeface="Meiryo"/>
              </a:rPr>
              <a:t>⽬</a:t>
            </a:r>
            <a:r>
              <a:rPr dirty="0" sz="1150" spc="-110">
                <a:solidFill>
                  <a:srgbClr val="374050"/>
                </a:solidFill>
                <a:latin typeface="SimSun"/>
                <a:cs typeface="SimSun"/>
              </a:rPr>
              <a:t>建设、平台体系</a:t>
            </a:r>
            <a:r>
              <a:rPr dirty="0" sz="1150" spc="-50">
                <a:solidFill>
                  <a:srgbClr val="374050"/>
                </a:solidFill>
                <a:latin typeface="SimSun"/>
                <a:cs typeface="SimSun"/>
              </a:rPr>
              <a:t>成</a:t>
            </a:r>
            <a:r>
              <a:rPr dirty="0" sz="1150" spc="-110">
                <a:solidFill>
                  <a:srgbClr val="374050"/>
                </a:solidFill>
                <a:latin typeface="SimSun"/>
                <a:cs typeface="SimSun"/>
              </a:rPr>
              <a:t>开</a:t>
            </a:r>
            <a:r>
              <a:rPr dirty="0" sz="1150" spc="-50">
                <a:solidFill>
                  <a:srgbClr val="374050"/>
                </a:solidFill>
                <a:latin typeface="SimSun"/>
                <a:cs typeface="SimSun"/>
              </a:rPr>
              <a:t>发</a:t>
            </a:r>
            <a:r>
              <a:rPr dirty="0" sz="1150">
                <a:solidFill>
                  <a:srgbClr val="374050"/>
                </a:solidFill>
                <a:latin typeface="SimSun"/>
                <a:cs typeface="SimSun"/>
              </a:rPr>
              <a:t>	</a:t>
            </a:r>
            <a:r>
              <a:rPr dirty="0" sz="1150" spc="-50">
                <a:solidFill>
                  <a:srgbClr val="374050"/>
                </a:solidFill>
                <a:latin typeface="SimSun"/>
                <a:cs typeface="SimSun"/>
              </a:rPr>
              <a:t>熟</a:t>
            </a:r>
            <a:endParaRPr sz="1150">
              <a:latin typeface="SimSun"/>
              <a:cs typeface="SimSun"/>
            </a:endParaRPr>
          </a:p>
        </p:txBody>
      </p:sp>
      <p:sp>
        <p:nvSpPr>
          <p:cNvPr id="32" name="object 32" descr=""/>
          <p:cNvSpPr/>
          <p:nvPr/>
        </p:nvSpPr>
        <p:spPr>
          <a:xfrm>
            <a:off x="3609974" y="2609849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399" y="304799"/>
                </a:moveTo>
                <a:lnTo>
                  <a:pt x="108159" y="298238"/>
                </a:lnTo>
                <a:lnTo>
                  <a:pt x="67730" y="279115"/>
                </a:lnTo>
                <a:lnTo>
                  <a:pt x="34591" y="249082"/>
                </a:lnTo>
                <a:lnTo>
                  <a:pt x="11600" y="210720"/>
                </a:lnTo>
                <a:lnTo>
                  <a:pt x="731" y="167337"/>
                </a:lnTo>
                <a:lnTo>
                  <a:pt x="0" y="152399"/>
                </a:lnTo>
                <a:lnTo>
                  <a:pt x="182" y="144912"/>
                </a:lnTo>
                <a:lnTo>
                  <a:pt x="8904" y="101066"/>
                </a:lnTo>
                <a:lnTo>
                  <a:pt x="29995" y="61607"/>
                </a:lnTo>
                <a:lnTo>
                  <a:pt x="61606" y="29995"/>
                </a:lnTo>
                <a:lnTo>
                  <a:pt x="101065" y="8904"/>
                </a:lnTo>
                <a:lnTo>
                  <a:pt x="144912" y="183"/>
                </a:lnTo>
                <a:lnTo>
                  <a:pt x="152399" y="0"/>
                </a:lnTo>
                <a:lnTo>
                  <a:pt x="159886" y="183"/>
                </a:lnTo>
                <a:lnTo>
                  <a:pt x="203733" y="8904"/>
                </a:lnTo>
                <a:lnTo>
                  <a:pt x="243192" y="29995"/>
                </a:lnTo>
                <a:lnTo>
                  <a:pt x="274803" y="61607"/>
                </a:lnTo>
                <a:lnTo>
                  <a:pt x="295894" y="101066"/>
                </a:lnTo>
                <a:lnTo>
                  <a:pt x="304616" y="144912"/>
                </a:lnTo>
                <a:lnTo>
                  <a:pt x="304799" y="152399"/>
                </a:lnTo>
                <a:lnTo>
                  <a:pt x="304616" y="159886"/>
                </a:lnTo>
                <a:lnTo>
                  <a:pt x="295894" y="203733"/>
                </a:lnTo>
                <a:lnTo>
                  <a:pt x="274803" y="243191"/>
                </a:lnTo>
                <a:lnTo>
                  <a:pt x="243191" y="274803"/>
                </a:lnTo>
                <a:lnTo>
                  <a:pt x="203733" y="295894"/>
                </a:lnTo>
                <a:lnTo>
                  <a:pt x="159886" y="304616"/>
                </a:lnTo>
                <a:lnTo>
                  <a:pt x="152399" y="304799"/>
                </a:lnTo>
                <a:close/>
              </a:path>
            </a:pathLst>
          </a:custGeom>
          <a:solidFill>
            <a:srgbClr val="3B81F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 descr=""/>
          <p:cNvSpPr txBox="1"/>
          <p:nvPr/>
        </p:nvSpPr>
        <p:spPr>
          <a:xfrm>
            <a:off x="3701157" y="2644775"/>
            <a:ext cx="12255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solidFill>
                  <a:srgbClr val="FFFFFF"/>
                </a:solidFill>
                <a:latin typeface="DejaVu Sans"/>
                <a:cs typeface="DejaVu Sans"/>
              </a:rPr>
              <a:t>2</a:t>
            </a:r>
            <a:endParaRPr sz="1200">
              <a:latin typeface="DejaVu Sans"/>
              <a:cs typeface="DejaVu Sans"/>
            </a:endParaRPr>
          </a:p>
        </p:txBody>
      </p:sp>
      <p:sp>
        <p:nvSpPr>
          <p:cNvPr id="34" name="object 34" descr=""/>
          <p:cNvSpPr/>
          <p:nvPr/>
        </p:nvSpPr>
        <p:spPr>
          <a:xfrm>
            <a:off x="4733924" y="2838449"/>
            <a:ext cx="1952625" cy="38100"/>
          </a:xfrm>
          <a:custGeom>
            <a:avLst/>
            <a:gdLst/>
            <a:ahLst/>
            <a:cxnLst/>
            <a:rect l="l" t="t" r="r" b="b"/>
            <a:pathLst>
              <a:path w="1952625" h="38100">
                <a:moveTo>
                  <a:pt x="1952624" y="38099"/>
                </a:moveTo>
                <a:lnTo>
                  <a:pt x="0" y="38099"/>
                </a:lnTo>
                <a:lnTo>
                  <a:pt x="0" y="0"/>
                </a:lnTo>
                <a:lnTo>
                  <a:pt x="1952624" y="0"/>
                </a:lnTo>
                <a:lnTo>
                  <a:pt x="1952624" y="38099"/>
                </a:lnTo>
                <a:close/>
              </a:path>
            </a:pathLst>
          </a:custGeom>
          <a:solidFill>
            <a:srgbClr val="BEDAF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 descr=""/>
          <p:cNvSpPr txBox="1"/>
          <p:nvPr/>
        </p:nvSpPr>
        <p:spPr>
          <a:xfrm>
            <a:off x="4940448" y="2949174"/>
            <a:ext cx="1758950" cy="685165"/>
          </a:xfrm>
          <a:prstGeom prst="rect">
            <a:avLst/>
          </a:prstGeom>
        </p:spPr>
        <p:txBody>
          <a:bodyPr wrap="square" lIns="0" tIns="149225" rIns="0" bIns="0" rtlCol="0" vert="horz">
            <a:spAutoFit/>
          </a:bodyPr>
          <a:lstStyle/>
          <a:p>
            <a:pPr marL="334645">
              <a:lnSpc>
                <a:spcPct val="100000"/>
              </a:lnSpc>
              <a:spcBef>
                <a:spcPts val="1175"/>
              </a:spcBef>
            </a:pPr>
            <a:r>
              <a:rPr dirty="0" sz="1550" spc="-210">
                <a:solidFill>
                  <a:srgbClr val="2562EB"/>
                </a:solidFill>
                <a:latin typeface="SimSun"/>
                <a:cs typeface="SimSun"/>
              </a:rPr>
              <a:t>远</a:t>
            </a:r>
            <a:r>
              <a:rPr dirty="0" sz="1550" spc="-210">
                <a:solidFill>
                  <a:srgbClr val="2562EB"/>
                </a:solidFill>
                <a:latin typeface="Meiryo"/>
                <a:cs typeface="Meiryo"/>
              </a:rPr>
              <a:t>期</a:t>
            </a:r>
            <a:r>
              <a:rPr dirty="0" sz="1550" spc="-75">
                <a:solidFill>
                  <a:srgbClr val="2562EB"/>
                </a:solidFill>
                <a:latin typeface="SimSun"/>
                <a:cs typeface="SimSun"/>
              </a:rPr>
              <a:t>（</a:t>
            </a:r>
            <a:r>
              <a:rPr dirty="0" sz="1350" spc="-75" b="1">
                <a:solidFill>
                  <a:srgbClr val="2562EB"/>
                </a:solidFill>
                <a:latin typeface="DejaVu Sans"/>
                <a:cs typeface="DejaVu Sans"/>
              </a:rPr>
              <a:t>18</a:t>
            </a:r>
            <a:r>
              <a:rPr dirty="0" sz="1550" spc="-210">
                <a:solidFill>
                  <a:srgbClr val="2562EB"/>
                </a:solidFill>
                <a:latin typeface="SimSun"/>
                <a:cs typeface="SimSun"/>
              </a:rPr>
              <a:t>个</a:t>
            </a:r>
            <a:r>
              <a:rPr dirty="0" sz="1550" spc="-210">
                <a:solidFill>
                  <a:srgbClr val="2562EB"/>
                </a:solidFill>
                <a:latin typeface="Meiryo"/>
                <a:cs typeface="Meiryo"/>
              </a:rPr>
              <a:t>⽉</a:t>
            </a:r>
            <a:r>
              <a:rPr dirty="0" sz="1350" spc="-70" b="1">
                <a:solidFill>
                  <a:srgbClr val="2562EB"/>
                </a:solidFill>
                <a:latin typeface="DejaVu Sans"/>
                <a:cs typeface="DejaVu Sans"/>
              </a:rPr>
              <a:t>+</a:t>
            </a:r>
            <a:r>
              <a:rPr dirty="0" sz="1550" spc="-70">
                <a:solidFill>
                  <a:srgbClr val="2562EB"/>
                </a:solidFill>
                <a:latin typeface="SimSun"/>
                <a:cs typeface="SimSun"/>
              </a:rPr>
              <a:t>）</a:t>
            </a:r>
            <a:endParaRPr sz="155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dirty="0" sz="1150" spc="-110">
                <a:solidFill>
                  <a:srgbClr val="374050"/>
                </a:solidFill>
                <a:latin typeface="SimSun"/>
                <a:cs typeface="SimSun"/>
              </a:rPr>
              <a:t>输出模式复制、打造区域标杆</a:t>
            </a:r>
            <a:endParaRPr sz="1150">
              <a:latin typeface="SimSun"/>
              <a:cs typeface="SimSun"/>
            </a:endParaRPr>
          </a:p>
        </p:txBody>
      </p:sp>
      <p:sp>
        <p:nvSpPr>
          <p:cNvPr id="36" name="object 36" descr=""/>
          <p:cNvSpPr/>
          <p:nvPr/>
        </p:nvSpPr>
        <p:spPr>
          <a:xfrm>
            <a:off x="6381749" y="2705099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399" y="304799"/>
                </a:moveTo>
                <a:lnTo>
                  <a:pt x="108159" y="298239"/>
                </a:lnTo>
                <a:lnTo>
                  <a:pt x="67730" y="279115"/>
                </a:lnTo>
                <a:lnTo>
                  <a:pt x="34591" y="249082"/>
                </a:lnTo>
                <a:lnTo>
                  <a:pt x="11599" y="210720"/>
                </a:lnTo>
                <a:lnTo>
                  <a:pt x="731" y="167337"/>
                </a:lnTo>
                <a:lnTo>
                  <a:pt x="0" y="152399"/>
                </a:lnTo>
                <a:lnTo>
                  <a:pt x="182" y="144912"/>
                </a:lnTo>
                <a:lnTo>
                  <a:pt x="8903" y="101065"/>
                </a:lnTo>
                <a:lnTo>
                  <a:pt x="29995" y="61607"/>
                </a:lnTo>
                <a:lnTo>
                  <a:pt x="61606" y="29995"/>
                </a:lnTo>
                <a:lnTo>
                  <a:pt x="101065" y="8904"/>
                </a:lnTo>
                <a:lnTo>
                  <a:pt x="144912" y="183"/>
                </a:lnTo>
                <a:lnTo>
                  <a:pt x="152399" y="0"/>
                </a:lnTo>
                <a:lnTo>
                  <a:pt x="159887" y="183"/>
                </a:lnTo>
                <a:lnTo>
                  <a:pt x="203732" y="8904"/>
                </a:lnTo>
                <a:lnTo>
                  <a:pt x="243191" y="29995"/>
                </a:lnTo>
                <a:lnTo>
                  <a:pt x="274803" y="61607"/>
                </a:lnTo>
                <a:lnTo>
                  <a:pt x="295894" y="101065"/>
                </a:lnTo>
                <a:lnTo>
                  <a:pt x="304616" y="144912"/>
                </a:lnTo>
                <a:lnTo>
                  <a:pt x="304799" y="152399"/>
                </a:lnTo>
                <a:lnTo>
                  <a:pt x="304616" y="159886"/>
                </a:lnTo>
                <a:lnTo>
                  <a:pt x="295894" y="203733"/>
                </a:lnTo>
                <a:lnTo>
                  <a:pt x="274803" y="243191"/>
                </a:lnTo>
                <a:lnTo>
                  <a:pt x="243191" y="274803"/>
                </a:lnTo>
                <a:lnTo>
                  <a:pt x="203732" y="295894"/>
                </a:lnTo>
                <a:lnTo>
                  <a:pt x="159887" y="304616"/>
                </a:lnTo>
                <a:lnTo>
                  <a:pt x="152399" y="304799"/>
                </a:lnTo>
                <a:close/>
              </a:path>
            </a:pathLst>
          </a:custGeom>
          <a:solidFill>
            <a:srgbClr val="3B81F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 descr=""/>
          <p:cNvSpPr txBox="1"/>
          <p:nvPr/>
        </p:nvSpPr>
        <p:spPr>
          <a:xfrm>
            <a:off x="6473080" y="2740025"/>
            <a:ext cx="12255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solidFill>
                  <a:srgbClr val="FFFFFF"/>
                </a:solidFill>
                <a:latin typeface="DejaVu Sans"/>
                <a:cs typeface="DejaVu Sans"/>
              </a:rPr>
              <a:t>3</a:t>
            </a:r>
            <a:endParaRPr sz="1200">
              <a:latin typeface="DejaVu Sans"/>
              <a:cs typeface="DejaVu Sans"/>
            </a:endParaRPr>
          </a:p>
        </p:txBody>
      </p:sp>
      <p:pic>
        <p:nvPicPr>
          <p:cNvPr id="38" name="object 38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439397" y="6476999"/>
            <a:ext cx="76201" cy="76199"/>
          </a:xfrm>
          <a:prstGeom prst="rect">
            <a:avLst/>
          </a:prstGeom>
        </p:spPr>
      </p:pic>
      <p:grpSp>
        <p:nvGrpSpPr>
          <p:cNvPr id="39" name="object 39" descr=""/>
          <p:cNvGrpSpPr/>
          <p:nvPr/>
        </p:nvGrpSpPr>
        <p:grpSpPr>
          <a:xfrm>
            <a:off x="10591797" y="6343649"/>
            <a:ext cx="1409700" cy="323850"/>
            <a:chOff x="10591797" y="6343649"/>
            <a:chExt cx="1409700" cy="323850"/>
          </a:xfrm>
        </p:grpSpPr>
        <p:sp>
          <p:nvSpPr>
            <p:cNvPr id="40" name="object 40" descr=""/>
            <p:cNvSpPr/>
            <p:nvPr/>
          </p:nvSpPr>
          <p:spPr>
            <a:xfrm>
              <a:off x="10591797" y="6476999"/>
              <a:ext cx="304800" cy="76200"/>
            </a:xfrm>
            <a:custGeom>
              <a:avLst/>
              <a:gdLst/>
              <a:ahLst/>
              <a:cxnLst/>
              <a:rect l="l" t="t" r="r" b="b"/>
              <a:pathLst>
                <a:path w="304800" h="76200">
                  <a:moveTo>
                    <a:pt x="271753" y="76199"/>
                  </a:moveTo>
                  <a:lnTo>
                    <a:pt x="33047" y="76199"/>
                  </a:lnTo>
                  <a:lnTo>
                    <a:pt x="28187" y="75232"/>
                  </a:lnTo>
                  <a:lnTo>
                    <a:pt x="966" y="48012"/>
                  </a:lnTo>
                  <a:lnTo>
                    <a:pt x="0" y="43152"/>
                  </a:lnTo>
                  <a:lnTo>
                    <a:pt x="1" y="3809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271753" y="0"/>
                  </a:lnTo>
                  <a:lnTo>
                    <a:pt x="303833" y="28186"/>
                  </a:lnTo>
                  <a:lnTo>
                    <a:pt x="304799" y="33047"/>
                  </a:lnTo>
                  <a:lnTo>
                    <a:pt x="304799" y="43152"/>
                  </a:lnTo>
                  <a:lnTo>
                    <a:pt x="276612" y="75232"/>
                  </a:lnTo>
                  <a:lnTo>
                    <a:pt x="271753" y="76199"/>
                  </a:lnTo>
                  <a:close/>
                </a:path>
              </a:pathLst>
            </a:custGeom>
            <a:solidFill>
              <a:srgbClr val="60A5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10972797" y="6476999"/>
              <a:ext cx="609600" cy="76200"/>
            </a:xfrm>
            <a:custGeom>
              <a:avLst/>
              <a:gdLst/>
              <a:ahLst/>
              <a:cxnLst/>
              <a:rect l="l" t="t" r="r" b="b"/>
              <a:pathLst>
                <a:path w="609600" h="76200">
                  <a:moveTo>
                    <a:pt x="576553" y="76199"/>
                  </a:moveTo>
                  <a:lnTo>
                    <a:pt x="33047" y="76199"/>
                  </a:lnTo>
                  <a:lnTo>
                    <a:pt x="28186" y="75232"/>
                  </a:lnTo>
                  <a:lnTo>
                    <a:pt x="967" y="48012"/>
                  </a:lnTo>
                  <a:lnTo>
                    <a:pt x="0" y="43152"/>
                  </a:lnTo>
                  <a:lnTo>
                    <a:pt x="1" y="38099"/>
                  </a:lnTo>
                  <a:lnTo>
                    <a:pt x="0" y="33047"/>
                  </a:lnTo>
                  <a:lnTo>
                    <a:pt x="28186" y="966"/>
                  </a:lnTo>
                  <a:lnTo>
                    <a:pt x="33047" y="0"/>
                  </a:lnTo>
                  <a:lnTo>
                    <a:pt x="576553" y="0"/>
                  </a:lnTo>
                  <a:lnTo>
                    <a:pt x="608632" y="28186"/>
                  </a:lnTo>
                  <a:lnTo>
                    <a:pt x="609599" y="33047"/>
                  </a:lnTo>
                  <a:lnTo>
                    <a:pt x="609599" y="43152"/>
                  </a:lnTo>
                  <a:lnTo>
                    <a:pt x="581412" y="75232"/>
                  </a:lnTo>
                  <a:lnTo>
                    <a:pt x="576553" y="76199"/>
                  </a:lnTo>
                  <a:close/>
                </a:path>
              </a:pathLst>
            </a:custGeom>
            <a:solidFill>
              <a:srgbClr val="93C4F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 descr=""/>
            <p:cNvSpPr/>
            <p:nvPr/>
          </p:nvSpPr>
          <p:spPr>
            <a:xfrm>
              <a:off x="10620374" y="6343649"/>
              <a:ext cx="1381125" cy="323850"/>
            </a:xfrm>
            <a:custGeom>
              <a:avLst/>
              <a:gdLst/>
              <a:ahLst/>
              <a:cxnLst/>
              <a:rect l="l" t="t" r="r" b="b"/>
              <a:pathLst>
                <a:path w="1381125" h="323850">
                  <a:moveTo>
                    <a:pt x="1348077" y="323849"/>
                  </a:moveTo>
                  <a:lnTo>
                    <a:pt x="33047" y="323849"/>
                  </a:lnTo>
                  <a:lnTo>
                    <a:pt x="28187" y="322883"/>
                  </a:lnTo>
                  <a:lnTo>
                    <a:pt x="966" y="295662"/>
                  </a:lnTo>
                  <a:lnTo>
                    <a:pt x="0" y="290802"/>
                  </a:lnTo>
                  <a:lnTo>
                    <a:pt x="0" y="28574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1348077" y="0"/>
                  </a:lnTo>
                  <a:lnTo>
                    <a:pt x="1380157" y="28187"/>
                  </a:lnTo>
                  <a:lnTo>
                    <a:pt x="1381124" y="33047"/>
                  </a:lnTo>
                  <a:lnTo>
                    <a:pt x="1381124" y="290802"/>
                  </a:lnTo>
                  <a:lnTo>
                    <a:pt x="1352937" y="322883"/>
                  </a:lnTo>
                  <a:lnTo>
                    <a:pt x="1348077" y="323849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3" name="object 43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734674" y="6438899"/>
              <a:ext cx="133349" cy="133349"/>
            </a:xfrm>
            <a:prstGeom prst="rect">
              <a:avLst/>
            </a:prstGeom>
          </p:spPr>
        </p:pic>
      </p:grpSp>
      <p:sp>
        <p:nvSpPr>
          <p:cNvPr id="44" name="object 44" descr=""/>
          <p:cNvSpPr txBox="1"/>
          <p:nvPr/>
        </p:nvSpPr>
        <p:spPr>
          <a:xfrm>
            <a:off x="10912176" y="6401815"/>
            <a:ext cx="988060" cy="18097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000" spc="-160">
                <a:solidFill>
                  <a:srgbClr val="FFFFFF"/>
                </a:solidFill>
                <a:latin typeface="SimSun"/>
                <a:cs typeface="SimSun"/>
              </a:rPr>
              <a:t>由 </a:t>
            </a:r>
            <a:r>
              <a:rPr dirty="0" sz="900">
                <a:solidFill>
                  <a:srgbClr val="FFFFFF"/>
                </a:solidFill>
                <a:latin typeface="DejaVu Sans"/>
                <a:cs typeface="DejaVu Sans"/>
              </a:rPr>
              <a:t>Genspark</a:t>
            </a:r>
            <a:r>
              <a:rPr dirty="0" sz="900" spc="-45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000" spc="-75">
                <a:solidFill>
                  <a:srgbClr val="FFFFFF"/>
                </a:solidFill>
                <a:latin typeface="SimSun"/>
                <a:cs typeface="SimSun"/>
              </a:rPr>
              <a:t>制作</a:t>
            </a:r>
            <a:endParaRPr sz="1000">
              <a:latin typeface="SimSun"/>
              <a:cs typeface="SimSu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2025-08-20T16:04:15Z</dcterms:created>
  <dcterms:modified xsi:type="dcterms:W3CDTF">2025-08-20T16:04:15Z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2025-08-20T00:00:00Z</vt:filetime>
  </property>
  <property fmtid="{D5CDD505-2E9C-101B-9397-08002B2CF9AE}" pid="3" name="Producer">
    <vt:lpwstr>pypdf</vt:lpwstr>
  </property>
  <property fmtid="{D5CDD505-2E9C-101B-9397-08002B2CF9AE}" pid="4" name="LastSaved">
    <vt:filetime>2025-08-20T00:00:00Z</vt:filetime>
  </property>
</Properties>
</file>