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0"/>
            <a:ext cx="9144000" cy="1828800"/>
          </a:xfrm>
          <a:prstGeom prst="rect">
            <a:avLst/>
          </a:prstGeom>
          <a:noFill/>
        </p:spPr>
        <p:txBody>
          <a:bodyPr wrap="none">
            <a:spAutoFit/>
          </a:bodyPr>
          <a:lstStyle/>
          <a:p>
            <a:pPr algn="ctr">
              <a:defRPr sz="3200">
                <a:solidFill>
                  <a:srgbClr val="1E293B"/>
                </a:solidFill>
                <a:latin typeface="Noto Sans SC"/>
              </a:defRPr>
            </a:pPr>
            <a:r>
              <a:t>四川能投智慧光电有限公司</a:t>
            </a:r>
          </a:p>
          <a:p>
            <a:pPr algn="ctr">
              <a:defRPr sz="4000" b="1">
                <a:solidFill>
                  <a:srgbClr val="3B82F6"/>
                </a:solidFill>
                <a:latin typeface="Noto Sans SC"/>
              </a:defRPr>
            </a:pPr>
            <a:r>
              <a:t>智慧产业生态合作方案</a:t>
            </a:r>
          </a:p>
        </p:txBody>
      </p:sp>
      <p:sp>
        <p:nvSpPr>
          <p:cNvPr id="4" name="TextBox 3"/>
          <p:cNvSpPr txBox="1"/>
          <p:nvPr/>
        </p:nvSpPr>
        <p:spPr>
          <a:xfrm>
            <a:off x="7315200" y="5486400"/>
            <a:ext cx="3657600" cy="914400"/>
          </a:xfrm>
          <a:prstGeom prst="rect">
            <a:avLst/>
          </a:prstGeom>
          <a:noFill/>
        </p:spPr>
        <p:txBody>
          <a:bodyPr wrap="none">
            <a:spAutoFit/>
          </a:bodyPr>
          <a:lstStyle/>
          <a:p>
            <a:pPr algn="r">
              <a:defRPr sz="1400">
                <a:solidFill>
                  <a:srgbClr val="64748B"/>
                </a:solidFill>
                <a:latin typeface="Noto Sans SC"/>
              </a:defRPr>
            </a:pPr>
            <a:r>
              <a:t>2025年08月20日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7315200" cy="914400"/>
          </a:xfrm>
          <a:prstGeom prst="rect">
            <a:avLst/>
          </a:prstGeom>
          <a:noFill/>
        </p:spPr>
        <p:txBody>
          <a:bodyPr wrap="none">
            <a:spAutoFit/>
          </a:bodyPr>
          <a:lstStyle/>
          <a:p>
            <a:pPr>
              <a:defRPr sz="3600" b="1">
                <a:solidFill>
                  <a:srgbClr val="1E293B"/>
                </a:solidFill>
                <a:latin typeface="Noto Sans SC"/>
              </a:defRPr>
            </a:pPr>
            <a:r>
              <a:t>目录</a:t>
            </a:r>
          </a:p>
        </p:txBody>
      </p:sp>
      <p:sp>
        <p:nvSpPr>
          <p:cNvPr id="4" name="TextBox 3"/>
          <p:cNvSpPr txBox="1"/>
          <p:nvPr/>
        </p:nvSpPr>
        <p:spPr>
          <a:xfrm>
            <a:off x="914400" y="1371600"/>
            <a:ext cx="9144000" cy="4572000"/>
          </a:xfrm>
          <a:prstGeom prst="rect">
            <a:avLst/>
          </a:prstGeom>
          <a:noFill/>
        </p:spPr>
        <p:txBody>
          <a:bodyPr wrap="non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合作背景：数字经济与智慧产业发展新机遇</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人工智能作为驱动数字化转型的核心技术，被要求深度挖掘应用场景</a:t>
            </a:r>
          </a:p>
          <a:p>
            <a:pPr>
              <a:spcAft>
                <a:spcPts val="600"/>
              </a:spcAft>
              <a:defRPr sz="1600">
                <a:solidFill>
                  <a:srgbClr val="1E293B"/>
                </a:solidFill>
                <a:latin typeface="Noto Sans SC"/>
              </a:defRPr>
            </a:pPr>
            <a:r>
              <a:t>• 《2025年数字经济发展工作要点》中"人工智能+"等重大行动的部署</a:t>
            </a:r>
          </a:p>
          <a:p>
            <a:pPr>
              <a:spcAft>
                <a:spcPts val="600"/>
              </a:spcAft>
              <a:defRPr sz="1600">
                <a:solidFill>
                  <a:srgbClr val="1E293B"/>
                </a:solidFill>
                <a:latin typeface="Noto Sans SC"/>
              </a:defRPr>
            </a:pPr>
            <a:r>
              <a:t>• 四川省明确提出到2027年人工智能产业规模将突破2000亿元</a:t>
            </a:r>
          </a:p>
          <a:p>
            <a:pPr>
              <a:spcAft>
                <a:spcPts val="600"/>
              </a:spcAft>
              <a:defRPr sz="1600">
                <a:solidFill>
                  <a:srgbClr val="1E293B"/>
                </a:solidFill>
                <a:latin typeface="Noto Sans SC"/>
              </a:defRPr>
            </a:pPr>
            <a:r>
              <a:t>• 到2025年，成都市将基本实现数字基础设施集约共享、智慧蓉城运行中枢高效运转</a:t>
            </a:r>
          </a:p>
          <a:p>
            <a:pPr>
              <a:spcAft>
                <a:spcPts val="600"/>
              </a:spcAft>
              <a:defRPr sz="1600">
                <a:solidFill>
                  <a:srgbClr val="1E293B"/>
                </a:solidFill>
                <a:latin typeface="Noto Sans SC"/>
              </a:defRPr>
            </a:pPr>
            <a:r>
              <a:t>• 智慧蓉城建设强调构建城市运行和治理智能中枢</a:t>
            </a:r>
          </a:p>
          <a:p>
            <a:pPr>
              <a:spcAft>
                <a:spcPts val="600"/>
              </a:spcAft>
              <a:defRPr sz="1600">
                <a:solidFill>
                  <a:srgbClr val="1E293B"/>
                </a:solidFill>
                <a:latin typeface="Noto Sans SC"/>
              </a:defRPr>
            </a:pPr>
            <a:r>
              <a:t>• 鼓励发展基于人工智能的智能分析、调度、监管和辅助决策</a:t>
            </a:r>
          </a:p>
          <a:p>
            <a:pPr>
              <a:spcAft>
                <a:spcPts val="600"/>
              </a:spcAft>
              <a:defRPr sz="1600">
                <a:solidFill>
                  <a:srgbClr val="1E293B"/>
                </a:solidFill>
                <a:latin typeface="Noto Sans SC"/>
              </a:defRPr>
            </a:pPr>
            <a:r>
              <a:t>• 建筑业面临节能减排和用工成本提升的双重压力</a:t>
            </a:r>
          </a:p>
          <a:p>
            <a:pPr>
              <a:spcAft>
                <a:spcPts val="600"/>
              </a:spcAft>
              <a:defRPr sz="1600">
                <a:solidFill>
                  <a:srgbClr val="1E293B"/>
                </a:solidFill>
                <a:latin typeface="Noto Sans SC"/>
              </a:defRPr>
            </a:pPr>
            <a:r>
              <a:t>• 国家政策明确提出到2025年，将基本建立智能建造与建筑工业化协同发展的政策体系</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3/30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国家及地方政策导向</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数字经济战略定位</a:t>
            </a:r>
          </a:p>
          <a:p>
            <a:pPr>
              <a:defRPr sz="1200">
                <a:solidFill>
                  <a:srgbClr val="64748B"/>
                </a:solidFill>
                <a:latin typeface="Noto Sans SC"/>
              </a:defRPr>
            </a:pPr>
            <a:r>
              <a:t>数字经济提升至国家战略层面，强调释放数据要素价值、强化数字基础设施建设、提升数字经济核心竞争力</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"人工智能+"行动计划</a:t>
            </a:r>
          </a:p>
          <a:p>
            <a:pPr>
              <a:defRPr sz="1200">
                <a:solidFill>
                  <a:srgbClr val="64748B"/>
                </a:solidFill>
                <a:latin typeface="Noto Sans SC"/>
              </a:defRPr>
            </a:pPr>
            <a:r>
              <a:t>《2025年数字经济发展工作要点》中部署"人工智能+"等重大行动，培育数字领域新质生产力</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智慧城市建设</a:t>
            </a:r>
          </a:p>
          <a:p>
            <a:pPr>
              <a:defRPr sz="1200">
                <a:solidFill>
                  <a:srgbClr val="64748B"/>
                </a:solidFill>
                <a:latin typeface="Noto Sans SC"/>
              </a:defRPr>
            </a:pPr>
            <a:r>
              <a:t>推动数字经济与实体经济深度融合，建设智慧城市，提升城市运行效率和居民生活质量</a:t>
            </a:r>
          </a:p>
        </p:txBody>
      </p:sp>
      <p:sp>
        <p:nvSpPr>
          <p:cNvPr id="7" name="TextBox 6"/>
          <p:cNvSpPr txBox="1"/>
          <p:nvPr/>
        </p:nvSpPr>
        <p:spPr>
          <a:xfrm>
            <a:off x="914400" y="3017520"/>
            <a:ext cx="2865120" cy="1371600"/>
          </a:xfrm>
          <a:prstGeom prst="rect">
            <a:avLst/>
          </a:prstGeom>
          <a:noFill/>
        </p:spPr>
        <p:txBody>
          <a:bodyPr wrap="none">
            <a:spAutoFit/>
          </a:bodyPr>
          <a:lstStyle/>
          <a:p>
            <a:pPr>
              <a:defRPr sz="1400" b="1">
                <a:solidFill>
                  <a:srgbClr val="3B82F6"/>
                </a:solidFill>
                <a:latin typeface="Noto Sans SC"/>
              </a:defRPr>
            </a:pPr>
            <a:r>
              <a:t>人工智能产业链工作方案</a:t>
            </a:r>
          </a:p>
          <a:p>
            <a:pPr>
              <a:defRPr sz="1200">
                <a:solidFill>
                  <a:srgbClr val="64748B"/>
                </a:solidFill>
                <a:latin typeface="Noto Sans SC"/>
              </a:defRPr>
            </a:pPr>
            <a:r>
              <a:t>《四川省人工智能产业链总体工作方案（2024—2027年）》，明确提出到2027年人工智能产业规模将突破2000亿元</a:t>
            </a:r>
          </a:p>
        </p:txBody>
      </p:sp>
      <p:sp>
        <p:nvSpPr>
          <p:cNvPr id="8" name="TextBox 7"/>
          <p:cNvSpPr txBox="1"/>
          <p:nvPr/>
        </p:nvSpPr>
        <p:spPr>
          <a:xfrm>
            <a:off x="3962400" y="3017520"/>
            <a:ext cx="2865120" cy="1371600"/>
          </a:xfrm>
          <a:prstGeom prst="rect">
            <a:avLst/>
          </a:prstGeom>
          <a:noFill/>
        </p:spPr>
        <p:txBody>
          <a:bodyPr wrap="none">
            <a:spAutoFit/>
          </a:bodyPr>
          <a:lstStyle/>
          <a:p>
            <a:pPr>
              <a:defRPr sz="1400" b="1">
                <a:solidFill>
                  <a:srgbClr val="3B82F6"/>
                </a:solidFill>
                <a:latin typeface="Noto Sans SC"/>
              </a:defRPr>
            </a:pPr>
            <a:r>
              <a:t>25条具体政策支持</a:t>
            </a:r>
          </a:p>
          <a:p>
            <a:pPr>
              <a:defRPr sz="1200">
                <a:solidFill>
                  <a:srgbClr val="64748B"/>
                </a:solidFill>
                <a:latin typeface="Noto Sans SC"/>
              </a:defRPr>
            </a:pPr>
            <a:r>
              <a:t>涵盖技术攻关、产业发展、终端应用、算力数据供给及要素保障体系建设等多个方面</a:t>
            </a:r>
          </a:p>
        </p:txBody>
      </p:sp>
      <p:sp>
        <p:nvSpPr>
          <p:cNvPr id="9" name="TextBox 8"/>
          <p:cNvSpPr txBox="1"/>
          <p:nvPr/>
        </p:nvSpPr>
        <p:spPr>
          <a:xfrm>
            <a:off x="7010400" y="3017520"/>
            <a:ext cx="2865120" cy="1371600"/>
          </a:xfrm>
          <a:prstGeom prst="rect">
            <a:avLst/>
          </a:prstGeom>
          <a:noFill/>
        </p:spPr>
        <p:txBody>
          <a:bodyPr wrap="none">
            <a:spAutoFit/>
          </a:bodyPr>
          <a:lstStyle/>
          <a:p>
            <a:pPr>
              <a:defRPr sz="1400" b="1">
                <a:solidFill>
                  <a:srgbClr val="3B82F6"/>
                </a:solidFill>
                <a:latin typeface="Noto Sans SC"/>
              </a:defRPr>
            </a:pPr>
            <a:r>
              <a:t>政策红利</a:t>
            </a:r>
          </a:p>
          <a:p>
            <a:pPr>
              <a:defRPr sz="1200">
                <a:solidFill>
                  <a:srgbClr val="64748B"/>
                </a:solidFill>
                <a:latin typeface="Noto Sans SC"/>
              </a:defRPr>
            </a:pPr>
            <a:r>
              <a:t>争取超长期特别国债、省级重大科技专项支持、分担中试费用以及主动开放应用场景等政策红利</a:t>
            </a:r>
          </a:p>
        </p:txBody>
      </p:sp>
      <p:sp>
        <p:nvSpPr>
          <p:cNvPr id="10" name="TextBox 9"/>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4/30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建筑行业与园区智能化转型趋势</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双重压力</a:t>
            </a:r>
          </a:p>
          <a:p>
            <a:pPr>
              <a:defRPr sz="1200">
                <a:solidFill>
                  <a:srgbClr val="64748B"/>
                </a:solidFill>
                <a:latin typeface="Noto Sans SC"/>
              </a:defRPr>
            </a:pPr>
            <a:r>
              <a:t>"双碳"目标（碳达峰、碳中和）和人口老龄化背景下，建筑业面临节能减排和用工成本提升的双重压力</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政策推动</a:t>
            </a:r>
          </a:p>
          <a:p>
            <a:pPr>
              <a:defRPr sz="1200">
                <a:solidFill>
                  <a:srgbClr val="64748B"/>
                </a:solidFill>
                <a:latin typeface="Noto Sans SC"/>
              </a:defRPr>
            </a:pPr>
            <a:r>
              <a:t>国家政策明确提出，到2025年，中国将基本建立智能建造与建筑工业化协同发展的政策体系和产业体系</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市场前景</a:t>
            </a:r>
          </a:p>
          <a:p>
            <a:pPr>
              <a:defRPr sz="1200">
                <a:solidFill>
                  <a:srgbClr val="64748B"/>
                </a:solidFill>
                <a:latin typeface="Noto Sans SC"/>
              </a:defRPr>
            </a:pPr>
            <a:r>
              <a:t>智慧建筑通过复杂的控制系统，如通风、空调、供暖和照明，能够有效降低运营成本、提升管理效率和安全性</a:t>
            </a:r>
          </a:p>
        </p:txBody>
      </p:sp>
      <p:sp>
        <p:nvSpPr>
          <p:cNvPr id="7" name="TextBox 6"/>
          <p:cNvSpPr txBox="1"/>
          <p:nvPr/>
        </p:nvSpPr>
        <p:spPr>
          <a:xfrm>
            <a:off x="914400" y="3017520"/>
            <a:ext cx="2865120" cy="1371600"/>
          </a:xfrm>
          <a:prstGeom prst="rect">
            <a:avLst/>
          </a:prstGeom>
          <a:noFill/>
        </p:spPr>
        <p:txBody>
          <a:bodyPr wrap="none">
            <a:spAutoFit/>
          </a:bodyPr>
          <a:lstStyle/>
          <a:p>
            <a:pPr>
              <a:defRPr sz="1400" b="1">
                <a:solidFill>
                  <a:srgbClr val="3B82F6"/>
                </a:solidFill>
                <a:latin typeface="Noto Sans SC"/>
              </a:defRPr>
            </a:pPr>
            <a:r>
              <a:t>技术赋能</a:t>
            </a:r>
          </a:p>
          <a:p>
            <a:pPr>
              <a:defRPr sz="1200">
                <a:solidFill>
                  <a:srgbClr val="64748B"/>
                </a:solidFill>
                <a:latin typeface="Noto Sans SC"/>
              </a:defRPr>
            </a:pPr>
            <a:r>
              <a:t>5G技术的普及和智慧城市项目的增长将进一步加速智慧建筑市场的发展</a:t>
            </a:r>
          </a:p>
        </p:txBody>
      </p:sp>
      <p:sp>
        <p:nvSpPr>
          <p:cNvPr id="8" name="TextBox 7"/>
          <p:cNvSpPr txBox="1"/>
          <p:nvPr/>
        </p:nvSpPr>
        <p:spPr>
          <a:xfrm>
            <a:off x="3962400" y="3017520"/>
            <a:ext cx="2865120" cy="1371600"/>
          </a:xfrm>
          <a:prstGeom prst="rect">
            <a:avLst/>
          </a:prstGeom>
          <a:noFill/>
        </p:spPr>
        <p:txBody>
          <a:bodyPr wrap="none">
            <a:spAutoFit/>
          </a:bodyPr>
          <a:lstStyle/>
          <a:p>
            <a:pPr>
              <a:defRPr sz="1400" b="1">
                <a:solidFill>
                  <a:srgbClr val="3B82F6"/>
                </a:solidFill>
                <a:latin typeface="Noto Sans SC"/>
              </a:defRPr>
            </a:pPr>
            <a:r>
              <a:t>统一标准</a:t>
            </a:r>
          </a:p>
          <a:p>
            <a:pPr>
              <a:defRPr sz="1200">
                <a:solidFill>
                  <a:srgbClr val="64748B"/>
                </a:solidFill>
                <a:latin typeface="Noto Sans SC"/>
              </a:defRPr>
            </a:pPr>
            <a:r>
              <a:t>智慧园区建设强调"统一规划、统一标准、统一平台、统一管理"，全面提升园区管理和运营效率</a:t>
            </a:r>
          </a:p>
        </p:txBody>
      </p:sp>
      <p:sp>
        <p:nvSpPr>
          <p:cNvPr id="9" name="TextBox 8"/>
          <p:cNvSpPr txBox="1"/>
          <p:nvPr/>
        </p:nvSpPr>
        <p:spPr>
          <a:xfrm>
            <a:off x="7010400" y="3017520"/>
            <a:ext cx="2865120" cy="1371600"/>
          </a:xfrm>
          <a:prstGeom prst="rect">
            <a:avLst/>
          </a:prstGeom>
          <a:noFill/>
        </p:spPr>
        <p:txBody>
          <a:bodyPr wrap="none">
            <a:spAutoFit/>
          </a:bodyPr>
          <a:lstStyle/>
          <a:p>
            <a:pPr>
              <a:defRPr sz="1400" b="1">
                <a:solidFill>
                  <a:srgbClr val="3B82F6"/>
                </a:solidFill>
                <a:latin typeface="Noto Sans SC"/>
              </a:defRPr>
            </a:pPr>
            <a:r>
              <a:t>先进基础设施</a:t>
            </a:r>
          </a:p>
          <a:p>
            <a:pPr>
              <a:defRPr sz="1200">
                <a:solidFill>
                  <a:srgbClr val="64748B"/>
                </a:solidFill>
                <a:latin typeface="Noto Sans SC"/>
              </a:defRPr>
            </a:pPr>
            <a:r>
              <a:t>通过智能运营中心、移动/PC应用、光纤网络、无线网络（5G/Wi-Fi）和感知网络等先进基础设施，提升园区智慧化水平</a:t>
            </a:r>
          </a:p>
        </p:txBody>
      </p:sp>
      <p:sp>
        <p:nvSpPr>
          <p:cNvPr id="10" name="TextBox 9"/>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5/30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能源与算力融合发展前景</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显著的节能效益储能技术在园区和商业建筑中展现出显著的节能效果，有效降低运营成本</a:t>
            </a:r>
          </a:p>
          <a:p>
            <a:pPr>
              <a:spcAft>
                <a:spcPts val="600"/>
              </a:spcAft>
              <a:defRPr sz="1600">
                <a:solidFill>
                  <a:srgbClr val="1E293B"/>
                </a:solidFill>
                <a:latin typeface="Noto Sans SC"/>
              </a:defRPr>
            </a:pPr>
            <a:r>
              <a:t>• 经济效益提升通过智能能源管理，提高负荷利用率，降低园区运营成本</a:t>
            </a:r>
          </a:p>
          <a:p>
            <a:pPr>
              <a:spcAft>
                <a:spcPts val="600"/>
              </a:spcAft>
              <a:defRPr sz="1600">
                <a:solidFill>
                  <a:srgbClr val="1E293B"/>
                </a:solidFill>
                <a:latin typeface="Noto Sans SC"/>
              </a:defRPr>
            </a:pPr>
            <a:r>
              <a:t>• 集团战略支持四川能源发展集团战略目标为"源网荷储一体、水风光氢天然气（页岩气）等多能互补的国内领先、世界一流新型能源企业"</a:t>
            </a:r>
          </a:p>
          <a:p>
            <a:pPr>
              <a:spcAft>
                <a:spcPts val="600"/>
              </a:spcAft>
              <a:defRPr sz="1600">
                <a:solidFill>
                  <a:srgbClr val="1E293B"/>
                </a:solidFill>
                <a:latin typeface="Noto Sans SC"/>
              </a:defRPr>
            </a:pPr>
            <a:r>
              <a:t>• 示范项目价值在园区内建设储能示范项目，不仅是业务拓展，更是对母集团核心战略的积极响应和实践</a:t>
            </a:r>
          </a:p>
          <a:p>
            <a:pPr>
              <a:spcAft>
                <a:spcPts val="600"/>
              </a:spcAft>
              <a:defRPr sz="1600">
                <a:solidFill>
                  <a:srgbClr val="1E293B"/>
                </a:solidFill>
                <a:latin typeface="Noto Sans SC"/>
              </a:defRPr>
            </a:pPr>
            <a:r>
              <a:t>• 政策鼓励与支持国家鼓励在靠近用户侧、网络边缘侧建设单体规模较小、存算一体的边缘计算中心，支持实时性要求高、极低时延的业务需求</a:t>
            </a:r>
          </a:p>
          <a:p>
            <a:pPr>
              <a:spcAft>
                <a:spcPts val="600"/>
              </a:spcAft>
              <a:defRPr sz="1600">
                <a:solidFill>
                  <a:srgbClr val="1E293B"/>
                </a:solidFill>
                <a:latin typeface="Noto Sans SC"/>
              </a:defRPr>
            </a:pPr>
            <a:r>
              <a:t>• 技术价值与应用边缘计算可为人工智能应用提供本地算力支撑，满足企业对高性能计算的需求，实现实时数据采集、分析、控制和调度</a:t>
            </a:r>
          </a:p>
          <a:p>
            <a:pPr>
              <a:spcAft>
                <a:spcPts val="600"/>
              </a:spcAft>
              <a:defRPr sz="1600">
                <a:solidFill>
                  <a:srgbClr val="1E293B"/>
                </a:solidFill>
                <a:latin typeface="Noto Sans SC"/>
              </a:defRPr>
            </a:pPr>
            <a:r>
              <a:t>• 园区升级价值通过将储能与边缘计算相结合，园区将从单纯的物理空间租赁模式，升级为具备高附加值能源和算力服务能力的创新载体</a:t>
            </a:r>
          </a:p>
          <a:p>
            <a:pPr>
              <a:spcAft>
                <a:spcPts val="600"/>
              </a:spcAft>
              <a:defRPr sz="1600">
                <a:solidFill>
                  <a:srgbClr val="1E293B"/>
                </a:solidFill>
                <a:latin typeface="Noto Sans SC"/>
              </a:defRPr>
            </a:pPr>
            <a:r>
              <a:t>• 战略转型机遇为能投光电孵化出新的业务模式和能力，使其能够将园区内的成功经验和技术积累，对外输出到更广阔的市场，实现从"运营载体"到"服务提供商"的战略转型</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显著的节能效益</a:t>
            </a:r>
          </a:p>
          <a:p>
            <a:pPr>
              <a:defRPr sz="1200">
                <a:solidFill>
                  <a:srgbClr val="64748B"/>
                </a:solidFill>
                <a:latin typeface="Noto Sans SC"/>
              </a:defRPr>
            </a:pPr>
            <a:r>
              <a:t>储能技术在园区和商业建筑中展现出显著的节能效果，有效降低运营成本</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经济效益提升</a:t>
            </a:r>
          </a:p>
          <a:p>
            <a:pPr>
              <a:defRPr sz="1200">
                <a:solidFill>
                  <a:srgbClr val="64748B"/>
                </a:solidFill>
                <a:latin typeface="Noto Sans SC"/>
              </a:defRPr>
            </a:pPr>
            <a:r>
              <a:t>通过智能能源管理，提高负荷利用率，降低园区运营成本</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集团战略支持</a:t>
            </a:r>
          </a:p>
          <a:p>
            <a:pPr>
              <a:defRPr sz="1200">
                <a:solidFill>
                  <a:srgbClr val="64748B"/>
                </a:solidFill>
                <a:latin typeface="Noto Sans SC"/>
              </a:defRPr>
            </a:pPr>
            <a:r>
              <a:t>四川能源发展集团战略目标为"源网荷储一体、水风光氢天然气（页岩气）等多能互补的国内领先、世界一流新型能源企业"</a:t>
            </a:r>
          </a:p>
        </p:txBody>
      </p:sp>
      <p:sp>
        <p:nvSpPr>
          <p:cNvPr id="8" name="TextBox 7"/>
          <p:cNvSpPr txBox="1"/>
          <p:nvPr/>
        </p:nvSpPr>
        <p:spPr>
          <a:xfrm>
            <a:off x="914400" y="5760720"/>
            <a:ext cx="2865120" cy="1371600"/>
          </a:xfrm>
          <a:prstGeom prst="rect">
            <a:avLst/>
          </a:prstGeom>
          <a:noFill/>
        </p:spPr>
        <p:txBody>
          <a:bodyPr wrap="none">
            <a:spAutoFit/>
          </a:bodyPr>
          <a:lstStyle/>
          <a:p>
            <a:pPr>
              <a:defRPr sz="1400" b="1">
                <a:solidFill>
                  <a:srgbClr val="3B82F6"/>
                </a:solidFill>
                <a:latin typeface="Noto Sans SC"/>
              </a:defRPr>
            </a:pPr>
            <a:r>
              <a:t>示范项目价值</a:t>
            </a:r>
          </a:p>
          <a:p>
            <a:pPr>
              <a:defRPr sz="1200">
                <a:solidFill>
                  <a:srgbClr val="64748B"/>
                </a:solidFill>
                <a:latin typeface="Noto Sans SC"/>
              </a:defRPr>
            </a:pPr>
            <a:r>
              <a:t>在园区内建设储能示范项目，不仅是业务拓展，更是对母集团核心战略的积极响应和实践</a:t>
            </a:r>
          </a:p>
        </p:txBody>
      </p:sp>
      <p:sp>
        <p:nvSpPr>
          <p:cNvPr id="9" name="TextBox 8"/>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6/30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合作主体介绍</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资源禀赋位于高新西区西芯大道的园区，约1万平米面积已出租，1-2万平米清水房待租</a:t>
            </a:r>
          </a:p>
          <a:p>
            <a:pPr>
              <a:spcAft>
                <a:spcPts val="600"/>
              </a:spcAft>
              <a:defRPr sz="1600">
                <a:solidFill>
                  <a:srgbClr val="1E293B"/>
                </a:solidFill>
                <a:latin typeface="Noto Sans SC"/>
              </a:defRPr>
            </a:pPr>
            <a:r>
              <a:t>• 面临挑战传统"亮化"业务日渐式微，新项目锐减，迫切需要寻找新的业务方向</a:t>
            </a:r>
          </a:p>
          <a:p>
            <a:pPr>
              <a:spcAft>
                <a:spcPts val="600"/>
              </a:spcAft>
              <a:defRPr sz="1600">
                <a:solidFill>
                  <a:srgbClr val="1E293B"/>
                </a:solidFill>
                <a:latin typeface="Noto Sans SC"/>
              </a:defRPr>
            </a:pPr>
            <a:r>
              <a:t>• 战略转型受城市化进程放缓和财政吃紧影响，亟需业务创新和转型</a:t>
            </a:r>
          </a:p>
          <a:p>
            <a:pPr>
              <a:spcAft>
                <a:spcPts val="600"/>
              </a:spcAft>
              <a:defRPr sz="1600">
                <a:solidFill>
                  <a:srgbClr val="1E293B"/>
                </a:solidFill>
                <a:latin typeface="Noto Sans SC"/>
              </a:defRPr>
            </a:pPr>
            <a:r>
              <a:t>• 集团背景隶属于能投建工集团，与建筑行业有着天然联系，为智慧建筑业务提供便利</a:t>
            </a:r>
          </a:p>
          <a:p>
            <a:pPr>
              <a:spcAft>
                <a:spcPts val="600"/>
              </a:spcAft>
              <a:defRPr sz="1600">
                <a:solidFill>
                  <a:srgbClr val="1E293B"/>
                </a:solidFill>
                <a:latin typeface="Noto Sans SC"/>
              </a:defRPr>
            </a:pPr>
            <a:r>
              <a:t>• 核心使命解决企业在AI应用中面临的关键挑战，包括人才缺口、应用场景识别和运营模式转型</a:t>
            </a:r>
          </a:p>
          <a:p>
            <a:pPr>
              <a:spcAft>
                <a:spcPts val="600"/>
              </a:spcAft>
              <a:defRPr sz="1600">
                <a:solidFill>
                  <a:srgbClr val="1E293B"/>
                </a:solidFill>
                <a:latin typeface="Noto Sans SC"/>
              </a:defRPr>
            </a:pPr>
            <a:r>
              <a:t>• 价值主张降低企业AI应用成本和风险，促进创新，培养AI人才，构建协作式AI生态系统</a:t>
            </a:r>
          </a:p>
          <a:p>
            <a:pPr>
              <a:spcAft>
                <a:spcPts val="600"/>
              </a:spcAft>
              <a:defRPr sz="1600">
                <a:solidFill>
                  <a:srgbClr val="1E293B"/>
                </a:solidFill>
                <a:latin typeface="Noto Sans SC"/>
              </a:defRPr>
            </a:pPr>
            <a:r>
              <a:t>• 核心服务AI应用能力培训、AI部署辅助服务、AI运行系统开发，采用系统化六步法</a:t>
            </a:r>
          </a:p>
          <a:p>
            <a:pPr>
              <a:spcAft>
                <a:spcPts val="600"/>
              </a:spcAft>
              <a:defRPr sz="1600">
                <a:solidFill>
                  <a:srgbClr val="1E293B"/>
                </a:solidFill>
                <a:latin typeface="Noto Sans SC"/>
              </a:defRPr>
            </a:pPr>
            <a:r>
              <a:t>• 合作优势专业团队支持、先进技术资源、灵活合作模式、快速成果转化能力、产学研深度融合</a:t>
            </a:r>
          </a:p>
        </p:txBody>
      </p:sp>
      <p:sp>
        <p:nvSpPr>
          <p:cNvPr id="5" name="TextBox 4"/>
          <p:cNvSpPr txBox="1"/>
          <p:nvPr/>
        </p:nvSpPr>
        <p:spPr>
          <a:xfrm>
            <a:off x="914400" y="4114800"/>
            <a:ext cx="4389120" cy="1371600"/>
          </a:xfrm>
          <a:prstGeom prst="rect">
            <a:avLst/>
          </a:prstGeom>
          <a:noFill/>
        </p:spPr>
        <p:txBody>
          <a:bodyPr wrap="none">
            <a:spAutoFit/>
          </a:bodyPr>
          <a:lstStyle/>
          <a:p>
            <a:pPr>
              <a:defRPr sz="1400" b="1">
                <a:solidFill>
                  <a:srgbClr val="3B82F6"/>
                </a:solidFill>
                <a:latin typeface="Noto Sans SC"/>
              </a:defRPr>
            </a:pPr>
            <a:r>
              <a:t>四川能投智慧光电有限公司</a:t>
            </a:r>
          </a:p>
          <a:p>
            <a:pPr>
              <a:defRPr sz="1200">
                <a:solidFill>
                  <a:srgbClr val="64748B"/>
                </a:solidFill>
                <a:latin typeface="Noto Sans SC"/>
              </a:defRPr>
            </a:pPr>
            <a:r>
              <a:t>四川能源发展集团三级子公司，主营弱电工程，尤其在照明亮化工程领域具有显著优势。</a:t>
            </a:r>
          </a:p>
        </p:txBody>
      </p:sp>
      <p:sp>
        <p:nvSpPr>
          <p:cNvPr id="6" name="TextBox 5"/>
          <p:cNvSpPr txBox="1"/>
          <p:nvPr/>
        </p:nvSpPr>
        <p:spPr>
          <a:xfrm>
            <a:off x="5486400" y="4114800"/>
            <a:ext cx="4389120" cy="1371600"/>
          </a:xfrm>
          <a:prstGeom prst="rect">
            <a:avLst/>
          </a:prstGeom>
          <a:noFill/>
        </p:spPr>
        <p:txBody>
          <a:bodyPr wrap="none">
            <a:spAutoFit/>
          </a:bodyPr>
          <a:lstStyle/>
          <a:p>
            <a:pPr>
              <a:defRPr sz="1400" b="1">
                <a:solidFill>
                  <a:srgbClr val="3B82F6"/>
                </a:solidFill>
                <a:latin typeface="Noto Sans SC"/>
              </a:defRPr>
            </a:pPr>
            <a:r>
              <a:t>电子科大科技园人工智能概念验证中心</a:t>
            </a:r>
          </a:p>
          <a:p>
            <a:pPr>
              <a:defRPr sz="1200">
                <a:solidFill>
                  <a:srgbClr val="64748B"/>
                </a:solidFill>
                <a:latin typeface="Noto Sans SC"/>
              </a:defRPr>
            </a:pPr>
            <a:r>
              <a:t>由电子科大菁蓉逆向创新孵化基地与成都合知于行数字科技有限公司联合运营。</a:t>
            </a:r>
          </a:p>
        </p:txBody>
      </p:sp>
      <p:sp>
        <p:nvSpPr>
          <p:cNvPr id="7" name="TextBox 6"/>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7/30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四川能投智慧光电有限公司</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四川能源发展集团三级子公司</a:t>
            </a:r>
          </a:p>
          <a:p>
            <a:pPr>
              <a:spcAft>
                <a:spcPts val="600"/>
              </a:spcAft>
              <a:defRPr sz="1600">
                <a:solidFill>
                  <a:srgbClr val="1E293B"/>
                </a:solidFill>
                <a:latin typeface="Noto Sans SC"/>
              </a:defRPr>
            </a:pPr>
            <a:r>
              <a:t>• 四川能投建工集团二级子公司</a:t>
            </a:r>
          </a:p>
          <a:p>
            <a:pPr>
              <a:spcAft>
                <a:spcPts val="600"/>
              </a:spcAft>
              <a:defRPr sz="1600">
                <a:solidFill>
                  <a:srgbClr val="1E293B"/>
                </a:solidFill>
                <a:latin typeface="Noto Sans SC"/>
              </a:defRPr>
            </a:pPr>
            <a:r>
              <a:t>• 主营各类弱电工程，尤其在照明亮化工程领域具有显著优势</a:t>
            </a:r>
          </a:p>
          <a:p>
            <a:pPr>
              <a:spcAft>
                <a:spcPts val="600"/>
              </a:spcAft>
              <a:defRPr sz="1600">
                <a:solidFill>
                  <a:srgbClr val="1E293B"/>
                </a:solidFill>
                <a:latin typeface="Noto Sans SC"/>
              </a:defRPr>
            </a:pPr>
            <a:r>
              <a:t>• 隶属于能投建工集团，与建筑行业有着天然联系</a:t>
            </a:r>
          </a:p>
          <a:p>
            <a:pPr>
              <a:spcAft>
                <a:spcPts val="600"/>
              </a:spcAft>
              <a:defRPr sz="1600">
                <a:solidFill>
                  <a:srgbClr val="1E293B"/>
                </a:solidFill>
                <a:latin typeface="Noto Sans SC"/>
              </a:defRPr>
            </a:pPr>
            <a:r>
              <a:t>• 在高新西区运营一处位于西芯大道的园区</a:t>
            </a:r>
          </a:p>
          <a:p>
            <a:pPr>
              <a:spcAft>
                <a:spcPts val="600"/>
              </a:spcAft>
              <a:defRPr sz="1600">
                <a:solidFill>
                  <a:srgbClr val="1E293B"/>
                </a:solidFill>
                <a:latin typeface="Noto Sans SC"/>
              </a:defRPr>
            </a:pPr>
            <a:r>
              <a:t>• 约有1万多平方米的面积已出租</a:t>
            </a:r>
          </a:p>
          <a:p>
            <a:pPr>
              <a:spcAft>
                <a:spcPts val="600"/>
              </a:spcAft>
              <a:defRPr sz="1600">
                <a:solidFill>
                  <a:srgbClr val="1E293B"/>
                </a:solidFill>
                <a:latin typeface="Noto Sans SC"/>
              </a:defRPr>
            </a:pPr>
            <a:r>
              <a:t>• 1万至2万平方米的清水房处于待租状态</a:t>
            </a:r>
          </a:p>
          <a:p>
            <a:pPr>
              <a:spcAft>
                <a:spcPts val="600"/>
              </a:spcAft>
              <a:defRPr sz="1600">
                <a:solidFill>
                  <a:srgbClr val="1E293B"/>
                </a:solidFill>
                <a:latin typeface="Noto Sans SC"/>
              </a:defRPr>
            </a:pPr>
            <a:r>
              <a:t>• 园区位于高新西区核心区域，地理位置优越</a:t>
            </a:r>
          </a:p>
        </p:txBody>
      </p:sp>
      <p:sp>
        <p:nvSpPr>
          <p:cNvPr id="5" name="TextBox 4"/>
          <p:cNvSpPr txBox="1"/>
          <p:nvPr/>
        </p:nvSpPr>
        <p:spPr>
          <a:xfrm>
            <a:off x="914400" y="4114800"/>
            <a:ext cx="8961120" cy="1371600"/>
          </a:xfrm>
          <a:prstGeom prst="rect">
            <a:avLst/>
          </a:prstGeom>
          <a:noFill/>
        </p:spPr>
        <p:txBody>
          <a:bodyPr wrap="none">
            <a:spAutoFit/>
          </a:bodyPr>
          <a:lstStyle/>
          <a:p>
            <a:pPr>
              <a:defRPr sz="1400" b="1">
                <a:solidFill>
                  <a:srgbClr val="3B82F6"/>
                </a:solidFill>
                <a:latin typeface="Noto Sans SC"/>
              </a:defRPr>
            </a:pPr>
            <a:r>
              <a:t>核心挑战</a:t>
            </a:r>
          </a:p>
          <a:p>
            <a:pPr>
              <a:defRPr sz="1200">
                <a:solidFill>
                  <a:srgbClr val="64748B"/>
                </a:solidFill>
                <a:latin typeface="Noto Sans SC"/>
              </a:defRPr>
            </a:pPr>
            <a:r>
              <a:t>如何将传统弱电工程和照明业务优势，结合园区资源优势，寻找新的业务增长点，实现从单一工程承包商向综合解决方案提供商的战略转型</a:t>
            </a:r>
          </a:p>
        </p:txBody>
      </p:sp>
      <p:sp>
        <p:nvSpPr>
          <p:cNvPr id="6" name="TextBox 5"/>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8/30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电子科大科技园人工智能概念验证中心</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人才缺口</a:t>
            </a:r>
          </a:p>
          <a:p>
            <a:pPr>
              <a:spcAft>
                <a:spcPts val="600"/>
              </a:spcAft>
              <a:defRPr sz="1600">
                <a:solidFill>
                  <a:srgbClr val="1E293B"/>
                </a:solidFill>
                <a:latin typeface="Noto Sans SC"/>
              </a:defRPr>
            </a:pPr>
            <a:r>
              <a:t>• 应用场景识别</a:t>
            </a:r>
          </a:p>
          <a:p>
            <a:pPr>
              <a:spcAft>
                <a:spcPts val="600"/>
              </a:spcAft>
              <a:defRPr sz="1600">
                <a:solidFill>
                  <a:srgbClr val="1E293B"/>
                </a:solidFill>
                <a:latin typeface="Noto Sans SC"/>
              </a:defRPr>
            </a:pPr>
            <a:r>
              <a:t>• 运营模式转型</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人工智能应用能力培训</a:t>
            </a:r>
          </a:p>
          <a:p>
            <a:pPr>
              <a:defRPr sz="1200">
                <a:solidFill>
                  <a:srgbClr val="64748B"/>
                </a:solidFill>
                <a:latin typeface="Noto Sans SC"/>
              </a:defRPr>
            </a:pPr>
            <a:r>
              <a:t>提升企业员工AI应用技能，筛选高价值场景，制定高效部署方案</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人工智能部署辅助服务</a:t>
            </a:r>
          </a:p>
          <a:p>
            <a:pPr>
              <a:defRPr sz="1200">
                <a:solidFill>
                  <a:srgbClr val="64748B"/>
                </a:solidFill>
                <a:latin typeface="Noto Sans SC"/>
              </a:defRPr>
            </a:pPr>
            <a:r>
              <a:t>协助企业将AI无缝集成到现有工作流程，开发最小可行应用系统（MVP）</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人工智能运行系统开发</a:t>
            </a:r>
          </a:p>
          <a:p>
            <a:pPr>
              <a:defRPr sz="1200">
                <a:solidFill>
                  <a:srgbClr val="64748B"/>
                </a:solidFill>
                <a:latin typeface="Noto Sans SC"/>
              </a:defRPr>
            </a:pPr>
            <a:r>
              <a:t>定制化AI运行软件系统开发、硬件环境搭建及持续运维服务</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9/30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合作内容：构建智慧产业生态</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利用高新西区西芯大道园区闲置空间，打造高品质科创载体</a:t>
            </a:r>
          </a:p>
          <a:p>
            <a:pPr>
              <a:spcAft>
                <a:spcPts val="600"/>
              </a:spcAft>
              <a:defRPr sz="1600">
                <a:solidFill>
                  <a:srgbClr val="1E293B"/>
                </a:solidFill>
                <a:latin typeface="Noto Sans SC"/>
              </a:defRPr>
            </a:pPr>
            <a:r>
              <a:t>• 聚焦"智慧照明/智慧能源/智慧建筑/智慧工地"产业方向</a:t>
            </a:r>
          </a:p>
          <a:p>
            <a:pPr>
              <a:spcAft>
                <a:spcPts val="600"/>
              </a:spcAft>
              <a:defRPr sz="1600">
                <a:solidFill>
                  <a:srgbClr val="1E293B"/>
                </a:solidFill>
                <a:latin typeface="Noto Sans SC"/>
              </a:defRPr>
            </a:pPr>
            <a:r>
              <a:t>• 吸引智慧工地产业链上下游企业，形成完整生态</a:t>
            </a:r>
          </a:p>
          <a:p>
            <a:pPr>
              <a:spcAft>
                <a:spcPts val="600"/>
              </a:spcAft>
              <a:defRPr sz="1600">
                <a:solidFill>
                  <a:srgbClr val="1E293B"/>
                </a:solidFill>
                <a:latin typeface="Noto Sans SC"/>
              </a:defRPr>
            </a:pPr>
            <a:r>
              <a:t>• 建设"国家级科技企业服务器"等专业化平台</a:t>
            </a:r>
          </a:p>
          <a:p>
            <a:pPr>
              <a:spcAft>
                <a:spcPts val="600"/>
              </a:spcAft>
              <a:defRPr sz="1600">
                <a:solidFill>
                  <a:srgbClr val="1E293B"/>
                </a:solidFill>
                <a:latin typeface="Noto Sans SC"/>
              </a:defRPr>
            </a:pPr>
            <a:r>
              <a:t>• 开发储能+边缘计算示范项目，提供增值服务</a:t>
            </a:r>
          </a:p>
          <a:p>
            <a:pPr>
              <a:spcAft>
                <a:spcPts val="600"/>
              </a:spcAft>
              <a:defRPr sz="1600">
                <a:solidFill>
                  <a:srgbClr val="1E293B"/>
                </a:solidFill>
                <a:latin typeface="Noto Sans SC"/>
              </a:defRPr>
            </a:pPr>
            <a:r>
              <a:t>• 开发以人工智能为核心的工地安全管理系统</a:t>
            </a:r>
          </a:p>
          <a:p>
            <a:pPr>
              <a:spcAft>
                <a:spcPts val="600"/>
              </a:spcAft>
              <a:defRPr sz="1600">
                <a:solidFill>
                  <a:srgbClr val="1E293B"/>
                </a:solidFill>
                <a:latin typeface="Noto Sans SC"/>
              </a:defRPr>
            </a:pPr>
            <a:r>
              <a:t>• 系统1.0版本：线上安全工地全景看板与多模态数据库</a:t>
            </a:r>
          </a:p>
          <a:p>
            <a:pPr>
              <a:spcAft>
                <a:spcPts val="600"/>
              </a:spcAft>
              <a:defRPr sz="1600">
                <a:solidFill>
                  <a:srgbClr val="1E293B"/>
                </a:solidFill>
                <a:latin typeface="Noto Sans SC"/>
              </a:defRPr>
            </a:pPr>
            <a:r>
              <a:t>• 后续版本：硬件集成、自动化数据采集与分析工具</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高品质科创空间联合运营</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智能照明与监控引入智能照明、监控和安防企业，提供全方位的智慧工地视觉解决方案</a:t>
            </a:r>
          </a:p>
          <a:p>
            <a:pPr>
              <a:spcAft>
                <a:spcPts val="600"/>
              </a:spcAft>
              <a:defRPr sz="1600">
                <a:solidFill>
                  <a:srgbClr val="1E293B"/>
                </a:solidFill>
                <a:latin typeface="Noto Sans SC"/>
              </a:defRPr>
            </a:pPr>
            <a:r>
              <a:t>• 能源管理与优化部署智慧能源管理系统，实现能源消耗优化和能源交易服务</a:t>
            </a:r>
          </a:p>
          <a:p>
            <a:pPr>
              <a:spcAft>
                <a:spcPts val="600"/>
              </a:spcAft>
              <a:defRPr sz="1600">
                <a:solidFill>
                  <a:srgbClr val="1E293B"/>
                </a:solidFill>
                <a:latin typeface="Noto Sans SC"/>
              </a:defRPr>
            </a:pPr>
            <a:r>
              <a:t>• 智能巡检与安全提供无人机、智能巡检机器人等设备，实现工地安全监管和巡检智能化</a:t>
            </a:r>
          </a:p>
          <a:p>
            <a:pPr>
              <a:spcAft>
                <a:spcPts val="600"/>
              </a:spcAft>
              <a:defRPr sz="1600">
                <a:solidFill>
                  <a:srgbClr val="1E293B"/>
                </a:solidFill>
                <a:latin typeface="Noto Sans SC"/>
              </a:defRPr>
            </a:pPr>
            <a:r>
              <a:t>• 建筑数字化引入BIM、数字孪生等技术企业，实现建筑全生命周期数字化管理</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智能照明与监控</a:t>
            </a:r>
          </a:p>
          <a:p>
            <a:pPr>
              <a:defRPr sz="1200">
                <a:solidFill>
                  <a:srgbClr val="64748B"/>
                </a:solidFill>
                <a:latin typeface="Noto Sans SC"/>
              </a:defRPr>
            </a:pPr>
            <a:r>
              <a:t>引入智能照明、监控和安防企业，提供全方位的智慧工地视觉解决方案</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能源管理与优化</a:t>
            </a:r>
          </a:p>
          <a:p>
            <a:pPr>
              <a:defRPr sz="1200">
                <a:solidFill>
                  <a:srgbClr val="64748B"/>
                </a:solidFill>
                <a:latin typeface="Noto Sans SC"/>
              </a:defRPr>
            </a:pPr>
            <a:r>
              <a:t>部署智慧能源管理系统，实现能源消耗优化和能源交易服务</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智能巡检与安全</a:t>
            </a:r>
          </a:p>
          <a:p>
            <a:pPr>
              <a:defRPr sz="1200">
                <a:solidFill>
                  <a:srgbClr val="64748B"/>
                </a:solidFill>
                <a:latin typeface="Noto Sans SC"/>
              </a:defRPr>
            </a:pPr>
            <a:r>
              <a:t>提供无人机、智能巡检机器人等设备，实现工地安全监管和巡检智能化</a:t>
            </a:r>
          </a:p>
        </p:txBody>
      </p:sp>
      <p:sp>
        <p:nvSpPr>
          <p:cNvPr id="8" name="TextBox 7"/>
          <p:cNvSpPr txBox="1"/>
          <p:nvPr/>
        </p:nvSpPr>
        <p:spPr>
          <a:xfrm>
            <a:off x="914400" y="5760720"/>
            <a:ext cx="2865120" cy="1371600"/>
          </a:xfrm>
          <a:prstGeom prst="rect">
            <a:avLst/>
          </a:prstGeom>
          <a:noFill/>
        </p:spPr>
        <p:txBody>
          <a:bodyPr wrap="none">
            <a:spAutoFit/>
          </a:bodyPr>
          <a:lstStyle/>
          <a:p>
            <a:pPr>
              <a:defRPr sz="1400" b="1">
                <a:solidFill>
                  <a:srgbClr val="3B82F6"/>
                </a:solidFill>
                <a:latin typeface="Noto Sans SC"/>
              </a:defRPr>
            </a:pPr>
            <a:r>
              <a:t>建筑数字化</a:t>
            </a:r>
          </a:p>
          <a:p>
            <a:pPr>
              <a:defRPr sz="1200">
                <a:solidFill>
                  <a:srgbClr val="64748B"/>
                </a:solidFill>
                <a:latin typeface="Noto Sans SC"/>
              </a:defRPr>
            </a:pPr>
            <a:r>
              <a:t>引入BIM、数字孪生等技术企业，实现建筑全生命周期数字化管理</a:t>
            </a:r>
          </a:p>
        </p:txBody>
      </p:sp>
      <p:sp>
        <p:nvSpPr>
          <p:cNvPr id="9" name="TextBox 8"/>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11/30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平台搭建与功能规划</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国家级科技企业服务器</a:t>
            </a:r>
          </a:p>
          <a:p>
            <a:pPr>
              <a:defRPr sz="1200">
                <a:solidFill>
                  <a:srgbClr val="64748B"/>
                </a:solidFill>
                <a:latin typeface="Noto Sans SC"/>
              </a:defRPr>
            </a:pPr>
            <a:r>
              <a:t>提供高性能计算和数据存储服务，满足高科技企业在人工智能、大数据分析等方面的研发需求。</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国家级中小企业创业基地</a:t>
            </a:r>
          </a:p>
          <a:p>
            <a:pPr>
              <a:defRPr sz="1200">
                <a:solidFill>
                  <a:srgbClr val="64748B"/>
                </a:solidFill>
                <a:latin typeface="Noto Sans SC"/>
              </a:defRPr>
            </a:pPr>
            <a:r>
              <a:t>为初创和成长型科技企业提供孵化、培育和政策辅导，降低其运营成本，助力其快速发展。</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人工智能概念验证中心</a:t>
            </a:r>
          </a:p>
          <a:p>
            <a:pPr>
              <a:defRPr sz="1200">
                <a:solidFill>
                  <a:srgbClr val="64748B"/>
                </a:solidFill>
                <a:latin typeface="Noto Sans SC"/>
              </a:defRPr>
            </a:pPr>
            <a:r>
              <a:t>由电子科大概验中心主导，为入驻企业提供人工智能技术验证、原型开发及应用场景落地服务，加速人工智能成果转化。</a:t>
            </a:r>
          </a:p>
        </p:txBody>
      </p:sp>
      <p:sp>
        <p:nvSpPr>
          <p:cNvPr id="7" name="TextBox 6"/>
          <p:cNvSpPr txBox="1"/>
          <p:nvPr/>
        </p:nvSpPr>
        <p:spPr>
          <a:xfrm>
            <a:off x="914400" y="3017520"/>
            <a:ext cx="2865120" cy="1371600"/>
          </a:xfrm>
          <a:prstGeom prst="rect">
            <a:avLst/>
          </a:prstGeom>
          <a:noFill/>
        </p:spPr>
        <p:txBody>
          <a:bodyPr wrap="none">
            <a:spAutoFit/>
          </a:bodyPr>
          <a:lstStyle/>
          <a:p>
            <a:pPr>
              <a:defRPr sz="1400" b="1">
                <a:solidFill>
                  <a:srgbClr val="3B82F6"/>
                </a:solidFill>
                <a:latin typeface="Noto Sans SC"/>
              </a:defRPr>
            </a:pPr>
            <a:r>
              <a:t>智慧工地产品中试基地</a:t>
            </a:r>
          </a:p>
          <a:p>
            <a:pPr>
              <a:defRPr sz="1200">
                <a:solidFill>
                  <a:srgbClr val="64748B"/>
                </a:solidFill>
                <a:latin typeface="Noto Sans SC"/>
              </a:defRPr>
            </a:pPr>
            <a:r>
              <a:t>吸引智慧工地领域的软硬件企业入驻，提供产品测试、中试环境和技术支持，加速产品成熟和市场化。</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12/30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招商运营策略与资源导入</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快速填补园区空置率</a:t>
            </a:r>
          </a:p>
          <a:p>
            <a:pPr>
              <a:spcAft>
                <a:spcPts val="600"/>
              </a:spcAft>
              <a:defRPr sz="1600">
                <a:solidFill>
                  <a:srgbClr val="1E293B"/>
                </a:solidFill>
                <a:latin typeface="Noto Sans SC"/>
              </a:defRPr>
            </a:pPr>
            <a:r>
              <a:t>• 形成智慧工地产业生态</a:t>
            </a:r>
          </a:p>
          <a:p>
            <a:pPr>
              <a:spcAft>
                <a:spcPts val="600"/>
              </a:spcAft>
              <a:defRPr sz="1600">
                <a:solidFill>
                  <a:srgbClr val="1E293B"/>
                </a:solidFill>
                <a:latin typeface="Noto Sans SC"/>
              </a:defRPr>
            </a:pPr>
            <a:r>
              <a:t>• 提升园区品牌影响力</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申报"园区服务型企业科协"</a:t>
            </a:r>
          </a:p>
          <a:p>
            <a:pPr>
              <a:defRPr sz="1200">
                <a:solidFill>
                  <a:srgbClr val="64748B"/>
                </a:solidFill>
                <a:latin typeface="Noto Sans SC"/>
              </a:defRPr>
            </a:pPr>
            <a:r>
              <a:t>链接高新西区乃至全市科技企业、高校资源</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链接高校资源</a:t>
            </a:r>
          </a:p>
          <a:p>
            <a:pPr>
              <a:defRPr sz="1200">
                <a:solidFill>
                  <a:srgbClr val="64748B"/>
                </a:solidFill>
                <a:latin typeface="Noto Sans SC"/>
              </a:defRPr>
            </a:pPr>
            <a:r>
              <a:t>借助电子科大等高校资源，解决技术与人才需求</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产业资源导入</a:t>
            </a:r>
          </a:p>
          <a:p>
            <a:pPr>
              <a:defRPr sz="1200">
                <a:solidFill>
                  <a:srgbClr val="64748B"/>
                </a:solidFill>
                <a:latin typeface="Noto Sans SC"/>
              </a:defRPr>
            </a:pPr>
            <a:r>
              <a:t>引进智慧工地产业链上下游企业，形成完整生态</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13/30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储能+边缘计算示范项目建设</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能源成本节约利用储能系统降低企业电费支出，实现显著的成本优化，特别是在高峰用电时段。</a:t>
            </a:r>
          </a:p>
          <a:p>
            <a:pPr>
              <a:spcAft>
                <a:spcPts val="600"/>
              </a:spcAft>
              <a:defRPr sz="1600">
                <a:solidFill>
                  <a:srgbClr val="1E293B"/>
                </a:solidFill>
                <a:latin typeface="Noto Sans SC"/>
              </a:defRPr>
            </a:pPr>
            <a:r>
              <a:t>• 低时延算力服务边缘计算提供本地化、低时延的人工智能算力服务，满足企业大模型运行、数据处理等需求。</a:t>
            </a:r>
          </a:p>
          <a:p>
            <a:pPr>
              <a:spcAft>
                <a:spcPts val="600"/>
              </a:spcAft>
              <a:defRPr sz="1600">
                <a:solidFill>
                  <a:srgbClr val="1E293B"/>
                </a:solidFill>
                <a:latin typeface="Noto Sans SC"/>
              </a:defRPr>
            </a:pPr>
            <a:r>
              <a:t>• 能源管理优化通过智能调度和优化控制，提高园区能源系统整体效率，降低能耗和碳排放。</a:t>
            </a:r>
          </a:p>
          <a:p>
            <a:pPr>
              <a:spcAft>
                <a:spcPts val="600"/>
              </a:spcAft>
              <a:defRPr sz="1600">
                <a:solidFill>
                  <a:srgbClr val="1E293B"/>
                </a:solidFill>
                <a:latin typeface="Noto Sans SC"/>
              </a:defRPr>
            </a:pPr>
            <a:r>
              <a:t>• 业务模式创新将园区从物理空间租赁模式，升级为具备高附加值能源和算力服务能力的创新载体。</a:t>
            </a:r>
          </a:p>
          <a:p>
            <a:pPr>
              <a:spcAft>
                <a:spcPts val="600"/>
              </a:spcAft>
              <a:defRPr sz="1600">
                <a:solidFill>
                  <a:srgbClr val="1E293B"/>
                </a:solidFill>
                <a:latin typeface="Noto Sans SC"/>
              </a:defRPr>
            </a:pPr>
            <a:r>
              <a:t>• 项目示范效应园区内的示范项目将作为能投光电在储能与边缘计算领域的"样板工程"，通过其示范效应，向外部工业园区、大型企业等输出相关服务和解决方案，拓展新的业务增长点，实现从"运营载体"到"服务提供商"的战略转型。</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能源成本节约</a:t>
            </a:r>
          </a:p>
          <a:p>
            <a:pPr>
              <a:defRPr sz="1200">
                <a:solidFill>
                  <a:srgbClr val="64748B"/>
                </a:solidFill>
                <a:latin typeface="Noto Sans SC"/>
              </a:defRPr>
            </a:pPr>
            <a:r>
              <a:t>利用储能系统降低企业电费支出，实现显著的成本优化，特别是在高峰用电时段。</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低时延算力服务</a:t>
            </a:r>
          </a:p>
          <a:p>
            <a:pPr>
              <a:defRPr sz="1200">
                <a:solidFill>
                  <a:srgbClr val="64748B"/>
                </a:solidFill>
                <a:latin typeface="Noto Sans SC"/>
              </a:defRPr>
            </a:pPr>
            <a:r>
              <a:t>边缘计算提供本地化、低时延的人工智能算力服务，满足企业大模型运行、数据处理等需求。</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能源管理优化</a:t>
            </a:r>
          </a:p>
          <a:p>
            <a:pPr>
              <a:defRPr sz="1200">
                <a:solidFill>
                  <a:srgbClr val="64748B"/>
                </a:solidFill>
                <a:latin typeface="Noto Sans SC"/>
              </a:defRPr>
            </a:pPr>
            <a:r>
              <a:t>通过智能调度和优化控制，提高园区能源系统整体效率，降低能耗和碳排放。</a:t>
            </a:r>
          </a:p>
        </p:txBody>
      </p:sp>
      <p:sp>
        <p:nvSpPr>
          <p:cNvPr id="8" name="TextBox 7"/>
          <p:cNvSpPr txBox="1"/>
          <p:nvPr/>
        </p:nvSpPr>
        <p:spPr>
          <a:xfrm>
            <a:off x="914400" y="5760720"/>
            <a:ext cx="2865120" cy="1371600"/>
          </a:xfrm>
          <a:prstGeom prst="rect">
            <a:avLst/>
          </a:prstGeom>
          <a:noFill/>
        </p:spPr>
        <p:txBody>
          <a:bodyPr wrap="none">
            <a:spAutoFit/>
          </a:bodyPr>
          <a:lstStyle/>
          <a:p>
            <a:pPr>
              <a:defRPr sz="1400" b="1">
                <a:solidFill>
                  <a:srgbClr val="3B82F6"/>
                </a:solidFill>
                <a:latin typeface="Noto Sans SC"/>
              </a:defRPr>
            </a:pPr>
            <a:r>
              <a:t>业务模式创新</a:t>
            </a:r>
          </a:p>
          <a:p>
            <a:pPr>
              <a:defRPr sz="1200">
                <a:solidFill>
                  <a:srgbClr val="64748B"/>
                </a:solidFill>
                <a:latin typeface="Noto Sans SC"/>
              </a:defRPr>
            </a:pPr>
            <a:r>
              <a:t>将园区从物理空间租赁模式，升级为具备高附加值能源和算力服务能力的创新载体。</a:t>
            </a:r>
          </a:p>
        </p:txBody>
      </p:sp>
      <p:sp>
        <p:nvSpPr>
          <p:cNvPr id="9" name="TextBox 8"/>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14/30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智慧工地安全管理系统</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电子科大科技园人工智能概念验证中心负责系统研发与概念验证</a:t>
            </a:r>
          </a:p>
          <a:p>
            <a:pPr>
              <a:spcAft>
                <a:spcPts val="600"/>
              </a:spcAft>
              <a:defRPr sz="1600">
                <a:solidFill>
                  <a:srgbClr val="1E293B"/>
                </a:solidFill>
                <a:latin typeface="Noto Sans SC"/>
              </a:defRPr>
            </a:pPr>
            <a:r>
              <a:t>• 能投光电提供需求与应用场景，提供内部试点工地</a:t>
            </a:r>
          </a:p>
          <a:p>
            <a:pPr>
              <a:spcAft>
                <a:spcPts val="600"/>
              </a:spcAft>
              <a:defRPr sz="1600">
                <a:solidFill>
                  <a:srgbClr val="1E293B"/>
                </a:solidFill>
                <a:latin typeface="Noto Sans SC"/>
              </a:defRPr>
            </a:pPr>
            <a:r>
              <a:t>• 系统将首先在能投建工集团内部试点应用，积累经验后向外部推广</a:t>
            </a:r>
          </a:p>
          <a:p>
            <a:pPr>
              <a:spcAft>
                <a:spcPts val="600"/>
              </a:spcAft>
              <a:defRPr sz="1600">
                <a:solidFill>
                  <a:srgbClr val="1E293B"/>
                </a:solidFill>
                <a:latin typeface="Noto Sans SC"/>
              </a:defRPr>
            </a:pPr>
            <a:r>
              <a:t>• 提升工地安全管理的科技含量，降低安全事故率</a:t>
            </a:r>
          </a:p>
          <a:p>
            <a:pPr>
              <a:spcAft>
                <a:spcPts val="600"/>
              </a:spcAft>
              <a:defRPr sz="1600">
                <a:solidFill>
                  <a:srgbClr val="1E293B"/>
                </a:solidFill>
                <a:latin typeface="Noto Sans SC"/>
              </a:defRPr>
            </a:pPr>
            <a:r>
              <a:t>• 通过知识产权形成（专利或软件著作权），保护核心技术成果</a:t>
            </a:r>
          </a:p>
          <a:p>
            <a:pPr>
              <a:spcAft>
                <a:spcPts val="600"/>
              </a:spcAft>
              <a:defRPr sz="1600">
                <a:solidFill>
                  <a:srgbClr val="1E293B"/>
                </a:solidFill>
                <a:latin typeface="Noto Sans SC"/>
              </a:defRPr>
            </a:pPr>
            <a:r>
              <a:t>• 打造能投光电在智慧工地领域的专业形象，拓展业务增长点</a:t>
            </a:r>
          </a:p>
          <a:p>
            <a:pPr>
              <a:spcAft>
                <a:spcPts val="600"/>
              </a:spcAft>
              <a:defRPr sz="1600">
                <a:solidFill>
                  <a:srgbClr val="1E293B"/>
                </a:solidFill>
                <a:latin typeface="Noto Sans SC"/>
              </a:defRPr>
            </a:pPr>
            <a:r>
              <a:t>• 为后续向外部市场推广提供可复制的成功案例和经验</a:t>
            </a:r>
          </a:p>
          <a:p>
            <a:pPr>
              <a:spcAft>
                <a:spcPts val="600"/>
              </a:spcAft>
              <a:defRPr sz="1600">
                <a:solidFill>
                  <a:srgbClr val="1E293B"/>
                </a:solidFill>
                <a:latin typeface="Noto Sans SC"/>
              </a:defRPr>
            </a:pPr>
            <a:r>
              <a:t>• 全景监控通过线上安全工地全景看板系统，实时监控施工场地安全状况，自动识别分析安全隐患。</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全景监控</a:t>
            </a:r>
          </a:p>
          <a:p>
            <a:pPr>
              <a:defRPr sz="1200">
                <a:solidFill>
                  <a:srgbClr val="64748B"/>
                </a:solidFill>
                <a:latin typeface="Noto Sans SC"/>
              </a:defRPr>
            </a:pPr>
            <a:r>
              <a:t>通过线上安全工地全景看板系统，实时监控施工场地安全状况，自动识别分析安全隐患。</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多模态数据库</a:t>
            </a:r>
          </a:p>
          <a:p>
            <a:pPr>
              <a:defRPr sz="1200">
                <a:solidFill>
                  <a:srgbClr val="64748B"/>
                </a:solidFill>
                <a:latin typeface="Noto Sans SC"/>
              </a:defRPr>
            </a:pPr>
            <a:r>
              <a:t>后端多模态数据库自动汇总分析现场上传的图片、视频等多模态数据，实现初步智能化安全监控。</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智能预警</a:t>
            </a:r>
          </a:p>
          <a:p>
            <a:pPr>
              <a:defRPr sz="1200">
                <a:solidFill>
                  <a:srgbClr val="64748B"/>
                </a:solidFill>
                <a:latin typeface="Noto Sans SC"/>
              </a:defRPr>
            </a:pPr>
            <a:r>
              <a:t>系统能够自动识别分析并汇总到看板系统中，实现对安全隐患的及时发现和预警，提高施工安全性。</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15/30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系统1.0版本开发与知识产权形成</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提升能投建工集团工地安全管理科技含量</a:t>
            </a:r>
          </a:p>
          <a:p>
            <a:pPr>
              <a:spcAft>
                <a:spcPts val="600"/>
              </a:spcAft>
              <a:defRPr sz="1600">
                <a:solidFill>
                  <a:srgbClr val="1E293B"/>
                </a:solidFill>
                <a:latin typeface="Noto Sans SC"/>
              </a:defRPr>
            </a:pPr>
            <a:r>
              <a:t>• 为能投光电拓展新的业务增长点</a:t>
            </a:r>
          </a:p>
          <a:p>
            <a:pPr>
              <a:spcAft>
                <a:spcPts val="600"/>
              </a:spcAft>
              <a:defRPr sz="1600">
                <a:solidFill>
                  <a:srgbClr val="1E293B"/>
                </a:solidFill>
                <a:latin typeface="Noto Sans SC"/>
              </a:defRPr>
            </a:pPr>
            <a:r>
              <a:t>• 通过小额投入解决安全管理痛点</a:t>
            </a:r>
          </a:p>
          <a:p>
            <a:pPr>
              <a:spcAft>
                <a:spcPts val="600"/>
              </a:spcAft>
              <a:defRPr sz="1600">
                <a:solidFill>
                  <a:srgbClr val="1E293B"/>
                </a:solidFill>
                <a:latin typeface="Noto Sans SC"/>
              </a:defRPr>
            </a:pPr>
            <a:r>
              <a:t>• 为后续系统优化迭代奠定基础</a:t>
            </a:r>
          </a:p>
          <a:p>
            <a:pPr>
              <a:spcAft>
                <a:spcPts val="600"/>
              </a:spcAft>
              <a:defRPr sz="1600">
                <a:solidFill>
                  <a:srgbClr val="1E293B"/>
                </a:solidFill>
                <a:latin typeface="Noto Sans SC"/>
              </a:defRPr>
            </a:pPr>
            <a:r>
              <a:t>• 安全工地全景看板实时监控与风险预警</a:t>
            </a:r>
          </a:p>
          <a:p>
            <a:pPr>
              <a:spcAft>
                <a:spcPts val="600"/>
              </a:spcAft>
              <a:defRPr sz="1600">
                <a:solidFill>
                  <a:srgbClr val="1E293B"/>
                </a:solidFill>
                <a:latin typeface="Noto Sans SC"/>
              </a:defRPr>
            </a:pPr>
            <a:r>
              <a:t>• 多模态数据库图片、视频自动分析</a:t>
            </a:r>
          </a:p>
          <a:p>
            <a:pPr>
              <a:spcAft>
                <a:spcPts val="600"/>
              </a:spcAft>
              <a:defRPr sz="1600">
                <a:solidFill>
                  <a:srgbClr val="1E293B"/>
                </a:solidFill>
                <a:latin typeface="Noto Sans SC"/>
              </a:defRPr>
            </a:pPr>
            <a:r>
              <a:t>• AI自动识别分析自动汇总到看板系统</a:t>
            </a:r>
          </a:p>
          <a:p>
            <a:pPr>
              <a:spcAft>
                <a:spcPts val="600"/>
              </a:spcAft>
              <a:defRPr sz="1600">
                <a:solidFill>
                  <a:srgbClr val="1E293B"/>
                </a:solidFill>
                <a:latin typeface="Noto Sans SC"/>
              </a:defRPr>
            </a:pPr>
            <a:r>
              <a:t>• 初步智能化安全监控提升工地安全管理</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安全工地全景看板</a:t>
            </a:r>
          </a:p>
          <a:p>
            <a:pPr>
              <a:defRPr sz="1200">
                <a:solidFill>
                  <a:srgbClr val="64748B"/>
                </a:solidFill>
                <a:latin typeface="Noto Sans SC"/>
              </a:defRPr>
            </a:pPr>
            <a:r>
              <a:t>实时监控与风险预警</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多模态数据库</a:t>
            </a:r>
          </a:p>
          <a:p>
            <a:pPr>
              <a:defRPr sz="1200">
                <a:solidFill>
                  <a:srgbClr val="64748B"/>
                </a:solidFill>
                <a:latin typeface="Noto Sans SC"/>
              </a:defRPr>
            </a:pPr>
            <a:r>
              <a:t>图片、视频自动分析</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AI自动识别分析</a:t>
            </a:r>
          </a:p>
          <a:p>
            <a:pPr>
              <a:defRPr sz="1200">
                <a:solidFill>
                  <a:srgbClr val="64748B"/>
                </a:solidFill>
                <a:latin typeface="Noto Sans SC"/>
              </a:defRPr>
            </a:pPr>
            <a:r>
              <a:t>自动汇总到看板系统</a:t>
            </a:r>
          </a:p>
        </p:txBody>
      </p:sp>
      <p:sp>
        <p:nvSpPr>
          <p:cNvPr id="8" name="TextBox 7"/>
          <p:cNvSpPr txBox="1"/>
          <p:nvPr/>
        </p:nvSpPr>
        <p:spPr>
          <a:xfrm>
            <a:off x="914400" y="5760720"/>
            <a:ext cx="2865120" cy="1371600"/>
          </a:xfrm>
          <a:prstGeom prst="rect">
            <a:avLst/>
          </a:prstGeom>
          <a:noFill/>
        </p:spPr>
        <p:txBody>
          <a:bodyPr wrap="none">
            <a:spAutoFit/>
          </a:bodyPr>
          <a:lstStyle/>
          <a:p>
            <a:pPr>
              <a:defRPr sz="1400" b="1">
                <a:solidFill>
                  <a:srgbClr val="3B82F6"/>
                </a:solidFill>
                <a:latin typeface="Noto Sans SC"/>
              </a:defRPr>
            </a:pPr>
            <a:r>
              <a:t>初步智能化安全监控</a:t>
            </a:r>
          </a:p>
          <a:p>
            <a:pPr>
              <a:defRPr sz="1200">
                <a:solidFill>
                  <a:srgbClr val="64748B"/>
                </a:solidFill>
                <a:latin typeface="Noto Sans SC"/>
              </a:defRPr>
            </a:pPr>
            <a:r>
              <a:t>提升工地安全管理</a:t>
            </a:r>
          </a:p>
        </p:txBody>
      </p:sp>
      <p:sp>
        <p:nvSpPr>
          <p:cNvPr id="9" name="TextBox 8"/>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16/30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后续版本迭代与功能拓展</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智能安全帽与传感器网络集成</a:t>
            </a:r>
          </a:p>
          <a:p>
            <a:pPr>
              <a:spcAft>
                <a:spcPts val="600"/>
              </a:spcAft>
              <a:defRPr sz="1600">
                <a:solidFill>
                  <a:srgbClr val="1E293B"/>
                </a:solidFill>
                <a:latin typeface="Noto Sans SC"/>
              </a:defRPr>
            </a:pPr>
            <a:r>
              <a:t>• 自动化数据采集与分析系统</a:t>
            </a:r>
          </a:p>
          <a:p>
            <a:pPr>
              <a:spcAft>
                <a:spcPts val="600"/>
              </a:spcAft>
              <a:defRPr sz="1600">
                <a:solidFill>
                  <a:srgbClr val="1E293B"/>
                </a:solidFill>
                <a:latin typeface="Noto Sans SC"/>
              </a:defRPr>
            </a:pPr>
            <a:r>
              <a:t>• 实时数据传输与预警机制</a:t>
            </a:r>
          </a:p>
          <a:p>
            <a:pPr>
              <a:spcAft>
                <a:spcPts val="600"/>
              </a:spcAft>
              <a:defRPr sz="1600">
                <a:solidFill>
                  <a:srgbClr val="1E293B"/>
                </a:solidFill>
                <a:latin typeface="Noto Sans SC"/>
              </a:defRPr>
            </a:pPr>
            <a:r>
              <a:t>• 多源数据融合与处理技术</a:t>
            </a:r>
          </a:p>
          <a:p>
            <a:pPr>
              <a:spcAft>
                <a:spcPts val="600"/>
              </a:spcAft>
              <a:defRPr sz="1600">
                <a:solidFill>
                  <a:srgbClr val="1E293B"/>
                </a:solidFill>
                <a:latin typeface="Noto Sans SC"/>
              </a:defRPr>
            </a:pPr>
            <a:r>
              <a:t>• 安全管理实时风险识别与预警</a:t>
            </a:r>
          </a:p>
          <a:p>
            <a:pPr>
              <a:spcAft>
                <a:spcPts val="600"/>
              </a:spcAft>
              <a:defRPr sz="1600">
                <a:solidFill>
                  <a:srgbClr val="1E293B"/>
                </a:solidFill>
                <a:latin typeface="Noto Sans SC"/>
              </a:defRPr>
            </a:pPr>
            <a:r>
              <a:t>• 进度管理工程进度实时监控</a:t>
            </a:r>
          </a:p>
          <a:p>
            <a:pPr>
              <a:spcAft>
                <a:spcPts val="600"/>
              </a:spcAft>
              <a:defRPr sz="1600">
                <a:solidFill>
                  <a:srgbClr val="1E293B"/>
                </a:solidFill>
                <a:latin typeface="Noto Sans SC"/>
              </a:defRPr>
            </a:pPr>
            <a:r>
              <a:t>• 质量控制施工质量评估系统</a:t>
            </a:r>
          </a:p>
          <a:p>
            <a:pPr>
              <a:spcAft>
                <a:spcPts val="600"/>
              </a:spcAft>
              <a:defRPr sz="1600">
                <a:solidFill>
                  <a:srgbClr val="1E293B"/>
                </a:solidFill>
                <a:latin typeface="Noto Sans SC"/>
              </a:defRPr>
            </a:pPr>
            <a:r>
              <a:t>• 成本优化资源使用与成本分析</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17/30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内部应用示范与外部市场推广</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利用集团内部工地作为天然试验场</a:t>
            </a:r>
          </a:p>
          <a:p>
            <a:pPr>
              <a:spcAft>
                <a:spcPts val="600"/>
              </a:spcAft>
              <a:defRPr sz="1600">
                <a:solidFill>
                  <a:srgbClr val="1E293B"/>
                </a:solidFill>
                <a:latin typeface="Noto Sans SC"/>
              </a:defRPr>
            </a:pPr>
            <a:r>
              <a:t>• 快速验证技术与积累经验</a:t>
            </a:r>
          </a:p>
          <a:p>
            <a:pPr>
              <a:spcAft>
                <a:spcPts val="600"/>
              </a:spcAft>
              <a:defRPr sz="1600">
                <a:solidFill>
                  <a:srgbClr val="1E293B"/>
                </a:solidFill>
                <a:latin typeface="Noto Sans SC"/>
              </a:defRPr>
            </a:pPr>
            <a:r>
              <a:t>• 形成可复制的成功案例</a:t>
            </a:r>
          </a:p>
          <a:p>
            <a:pPr>
              <a:spcAft>
                <a:spcPts val="600"/>
              </a:spcAft>
              <a:defRPr sz="1600">
                <a:solidFill>
                  <a:srgbClr val="1E293B"/>
                </a:solidFill>
                <a:latin typeface="Noto Sans SC"/>
              </a:defRPr>
            </a:pPr>
            <a:r>
              <a:t>• 向能投建工集团其他项目推广</a:t>
            </a:r>
          </a:p>
          <a:p>
            <a:pPr>
              <a:spcAft>
                <a:spcPts val="600"/>
              </a:spcAft>
              <a:defRPr sz="1600">
                <a:solidFill>
                  <a:srgbClr val="1E293B"/>
                </a:solidFill>
                <a:latin typeface="Noto Sans SC"/>
              </a:defRPr>
            </a:pPr>
            <a:r>
              <a:t>• 利用内部项目作为示范基地</a:t>
            </a:r>
          </a:p>
          <a:p>
            <a:pPr>
              <a:spcAft>
                <a:spcPts val="600"/>
              </a:spcAft>
              <a:defRPr sz="1600">
                <a:solidFill>
                  <a:srgbClr val="1E293B"/>
                </a:solidFill>
                <a:latin typeface="Noto Sans SC"/>
              </a:defRPr>
            </a:pPr>
            <a:r>
              <a:t>• 形成完整的解决方案</a:t>
            </a:r>
          </a:p>
          <a:p>
            <a:pPr>
              <a:spcAft>
                <a:spcPts val="600"/>
              </a:spcAft>
              <a:defRPr sz="1600">
                <a:solidFill>
                  <a:srgbClr val="1E293B"/>
                </a:solidFill>
                <a:latin typeface="Noto Sans SC"/>
              </a:defRPr>
            </a:pPr>
            <a:r>
              <a:t>• 向外部建筑企业推广</a:t>
            </a:r>
          </a:p>
          <a:p>
            <a:pPr>
              <a:spcAft>
                <a:spcPts val="600"/>
              </a:spcAft>
              <a:defRPr sz="1600">
                <a:solidFill>
                  <a:srgbClr val="1E293B"/>
                </a:solidFill>
                <a:latin typeface="Noto Sans SC"/>
              </a:defRPr>
            </a:pPr>
            <a:r>
              <a:t>• 向总包单位提供解决方案</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18/30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合作模式与运营策略</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职责分工与资源投入</a:t>
            </a:r>
          </a:p>
          <a:p>
            <a:pPr>
              <a:defRPr sz="1200">
                <a:solidFill>
                  <a:srgbClr val="64748B"/>
                </a:solidFill>
                <a:latin typeface="Noto Sans SC"/>
              </a:defRPr>
            </a:pPr>
            <a:r>
              <a:t>明确双方在园区运营、系统开发、项目实施等方面的具体职责，合理分配资源，确保合作高效推进。</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联合运营机制与沟通协调</a:t>
            </a:r>
          </a:p>
          <a:p>
            <a:pPr>
              <a:defRPr sz="1200">
                <a:solidFill>
                  <a:srgbClr val="64748B"/>
                </a:solidFill>
                <a:latin typeface="Noto Sans SC"/>
              </a:defRPr>
            </a:pPr>
            <a:r>
              <a:t>建立高效的联合工作组和沟通协调机制，确保信息畅通，决策高效，问题及时解决。</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收益分配原则</a:t>
            </a:r>
          </a:p>
          <a:p>
            <a:pPr>
              <a:defRPr sz="1200">
                <a:solidFill>
                  <a:srgbClr val="64748B"/>
                </a:solidFill>
                <a:latin typeface="Noto Sans SC"/>
              </a:defRPr>
            </a:pPr>
            <a:r>
              <a:t>制定公平合理的园区租金、增值服务及知识产权收益分配机制，确保合作的长期可持续性。</a:t>
            </a:r>
          </a:p>
        </p:txBody>
      </p:sp>
      <p:sp>
        <p:nvSpPr>
          <p:cNvPr id="7" name="TextBox 6"/>
          <p:cNvSpPr txBox="1"/>
          <p:nvPr/>
        </p:nvSpPr>
        <p:spPr>
          <a:xfrm>
            <a:off x="914400" y="3017520"/>
            <a:ext cx="2865120" cy="1371600"/>
          </a:xfrm>
          <a:prstGeom prst="rect">
            <a:avLst/>
          </a:prstGeom>
          <a:noFill/>
        </p:spPr>
        <p:txBody>
          <a:bodyPr wrap="none">
            <a:spAutoFit/>
          </a:bodyPr>
          <a:lstStyle/>
          <a:p>
            <a:pPr>
              <a:defRPr sz="1400" b="1">
                <a:solidFill>
                  <a:srgbClr val="3B82F6"/>
                </a:solidFill>
                <a:latin typeface="Noto Sans SC"/>
              </a:defRPr>
            </a:pPr>
            <a:r>
              <a:t>政策支持与资金争取</a:t>
            </a:r>
          </a:p>
          <a:p>
            <a:pPr>
              <a:defRPr sz="1200">
                <a:solidFill>
                  <a:srgbClr val="64748B"/>
                </a:solidFill>
                <a:latin typeface="Noto Sans SC"/>
              </a:defRPr>
            </a:pPr>
            <a:r>
              <a:t>共同研究并积极申报各级政府政策支持和资金补贴，探索多元化融资渠道，为项目提供充足资金保障。</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19/30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职责分工与资源投入</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高品质科创空间联合运营</a:t>
            </a:r>
          </a:p>
          <a:p>
            <a:pPr>
              <a:spcAft>
                <a:spcPts val="600"/>
              </a:spcAft>
              <a:defRPr sz="1600">
                <a:solidFill>
                  <a:srgbClr val="1E293B"/>
                </a:solidFill>
                <a:latin typeface="Noto Sans SC"/>
              </a:defRPr>
            </a:pPr>
            <a:r>
              <a:t>• 智慧工地系统V1.0开发</a:t>
            </a:r>
          </a:p>
          <a:p>
            <a:pPr>
              <a:spcAft>
                <a:spcPts val="600"/>
              </a:spcAft>
              <a:defRPr sz="1600">
                <a:solidFill>
                  <a:srgbClr val="1E293B"/>
                </a:solidFill>
                <a:latin typeface="Noto Sans SC"/>
              </a:defRPr>
            </a:pPr>
            <a:r>
              <a:t>• 储能+边缘计算示范项目</a:t>
            </a:r>
          </a:p>
          <a:p>
            <a:pPr>
              <a:spcAft>
                <a:spcPts val="600"/>
              </a:spcAft>
              <a:defRPr sz="1600">
                <a:solidFill>
                  <a:srgbClr val="1E293B"/>
                </a:solidFill>
                <a:latin typeface="Noto Sans SC"/>
              </a:defRPr>
            </a:pPr>
            <a:r>
              <a:t>• 园区招商引资</a:t>
            </a:r>
          </a:p>
          <a:p>
            <a:pPr>
              <a:spcAft>
                <a:spcPts val="600"/>
              </a:spcAft>
              <a:defRPr sz="1600">
                <a:solidFill>
                  <a:srgbClr val="1E293B"/>
                </a:solidFill>
                <a:latin typeface="Noto Sans SC"/>
              </a:defRPr>
            </a:pPr>
            <a:r>
              <a:t>• 产学研协同</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高品质科创空间联合运营</a:t>
            </a:r>
          </a:p>
          <a:p>
            <a:pPr>
              <a:defRPr sz="1200">
                <a:solidFill>
                  <a:srgbClr val="64748B"/>
                </a:solidFill>
                <a:latin typeface="Noto Sans SC"/>
              </a:defRPr>
            </a:pPr>
            <a:r>
              <a:t>提供园区载体及配套设施；内部资源协调；政策申报主体</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智慧工地系统V1.0开发</a:t>
            </a:r>
          </a:p>
          <a:p>
            <a:pPr>
              <a:defRPr sz="1200">
                <a:solidFill>
                  <a:srgbClr val="64748B"/>
                </a:solidFill>
                <a:latin typeface="Noto Sans SC"/>
              </a:defRPr>
            </a:pPr>
            <a:r>
              <a:t>提出需求与应用场景；提供内部试点工地；审批并提供研发资金</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储能+边缘计算示范项目</a:t>
            </a:r>
          </a:p>
          <a:p>
            <a:pPr>
              <a:defRPr sz="1200">
                <a:solidFill>
                  <a:srgbClr val="64748B"/>
                </a:solidFill>
                <a:latin typeface="Noto Sans SC"/>
              </a:defRPr>
            </a:pPr>
            <a:r>
              <a:t>提供场地与电力基础设施；内部审批与协调；作为示范项目业主方</a:t>
            </a:r>
          </a:p>
        </p:txBody>
      </p:sp>
      <p:sp>
        <p:nvSpPr>
          <p:cNvPr id="8" name="TextBox 7"/>
          <p:cNvSpPr txBox="1"/>
          <p:nvPr/>
        </p:nvSpPr>
        <p:spPr>
          <a:xfrm>
            <a:off x="914400" y="5760720"/>
            <a:ext cx="2865120" cy="1371600"/>
          </a:xfrm>
          <a:prstGeom prst="rect">
            <a:avLst/>
          </a:prstGeom>
          <a:noFill/>
        </p:spPr>
        <p:txBody>
          <a:bodyPr wrap="none">
            <a:spAutoFit/>
          </a:bodyPr>
          <a:lstStyle/>
          <a:p>
            <a:pPr>
              <a:defRPr sz="1400" b="1">
                <a:solidFill>
                  <a:srgbClr val="3B82F6"/>
                </a:solidFill>
                <a:latin typeface="Noto Sans SC"/>
              </a:defRPr>
            </a:pPr>
            <a:r>
              <a:t>园区招商引资</a:t>
            </a:r>
          </a:p>
          <a:p>
            <a:pPr>
              <a:defRPr sz="1200">
                <a:solidFill>
                  <a:srgbClr val="64748B"/>
                </a:solidFill>
                <a:latin typeface="Noto Sans SC"/>
              </a:defRPr>
            </a:pPr>
            <a:r>
              <a:t>制定租赁政策与价格；对接政府资源；提供招商支持</a:t>
            </a:r>
          </a:p>
        </p:txBody>
      </p:sp>
      <p:sp>
        <p:nvSpPr>
          <p:cNvPr id="9" name="TextBox 8"/>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20/30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联合运营机制与沟通协调</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由双方核心人员组成</a:t>
            </a:r>
          </a:p>
          <a:p>
            <a:pPr>
              <a:spcAft>
                <a:spcPts val="600"/>
              </a:spcAft>
              <a:defRPr sz="1600">
                <a:solidFill>
                  <a:srgbClr val="1E293B"/>
                </a:solidFill>
                <a:latin typeface="Noto Sans SC"/>
              </a:defRPr>
            </a:pPr>
            <a:r>
              <a:t>• 负责日常运营管理</a:t>
            </a:r>
          </a:p>
          <a:p>
            <a:pPr>
              <a:spcAft>
                <a:spcPts val="600"/>
              </a:spcAft>
              <a:defRPr sz="1600">
                <a:solidFill>
                  <a:srgbClr val="1E293B"/>
                </a:solidFill>
                <a:latin typeface="Noto Sans SC"/>
              </a:defRPr>
            </a:pPr>
            <a:r>
              <a:t>• 协调项目推进</a:t>
            </a:r>
          </a:p>
          <a:p>
            <a:pPr>
              <a:spcAft>
                <a:spcPts val="600"/>
              </a:spcAft>
              <a:defRPr sz="1600">
                <a:solidFill>
                  <a:srgbClr val="1E293B"/>
                </a:solidFill>
                <a:latin typeface="Noto Sans SC"/>
              </a:defRPr>
            </a:pPr>
            <a:r>
              <a:t>• 解决运营中出现的问题</a:t>
            </a:r>
          </a:p>
          <a:p>
            <a:pPr>
              <a:spcAft>
                <a:spcPts val="600"/>
              </a:spcAft>
              <a:defRPr sz="1600">
                <a:solidFill>
                  <a:srgbClr val="1E293B"/>
                </a:solidFill>
                <a:latin typeface="Noto Sans SC"/>
              </a:defRPr>
            </a:pPr>
            <a:r>
              <a:t>• 每周或双周例会</a:t>
            </a:r>
          </a:p>
          <a:p>
            <a:pPr>
              <a:spcAft>
                <a:spcPts val="600"/>
              </a:spcAft>
              <a:defRPr sz="1600">
                <a:solidFill>
                  <a:srgbClr val="1E293B"/>
                </a:solidFill>
                <a:latin typeface="Noto Sans SC"/>
              </a:defRPr>
            </a:pPr>
            <a:r>
              <a:t>• 汇报项目进展</a:t>
            </a:r>
          </a:p>
          <a:p>
            <a:pPr>
              <a:spcAft>
                <a:spcPts val="600"/>
              </a:spcAft>
              <a:defRPr sz="1600">
                <a:solidFill>
                  <a:srgbClr val="1E293B"/>
                </a:solidFill>
                <a:latin typeface="Noto Sans SC"/>
              </a:defRPr>
            </a:pPr>
            <a:r>
              <a:t>• 讨论并解决运营问题</a:t>
            </a:r>
          </a:p>
          <a:p>
            <a:pPr>
              <a:spcAft>
                <a:spcPts val="600"/>
              </a:spcAft>
              <a:defRPr sz="1600">
                <a:solidFill>
                  <a:srgbClr val="1E293B"/>
                </a:solidFill>
                <a:latin typeface="Noto Sans SC"/>
              </a:defRPr>
            </a:pPr>
            <a:r>
              <a:t>• 确保信息透明度</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21/30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收益分配原则</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园区租金收入</a:t>
            </a:r>
          </a:p>
          <a:p>
            <a:pPr>
              <a:defRPr sz="1200">
                <a:solidFill>
                  <a:srgbClr val="64748B"/>
                </a:solidFill>
                <a:latin typeface="Noto Sans SC"/>
              </a:defRPr>
            </a:pPr>
            <a:r>
              <a:t>园区租金收入将归四川能投智慧光电有限公司所有，作为其主要收益来源。</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增值服务收益</a:t>
            </a:r>
          </a:p>
          <a:p>
            <a:pPr>
              <a:defRPr sz="1200">
                <a:solidFill>
                  <a:srgbClr val="64748B"/>
                </a:solidFill>
                <a:latin typeface="Noto Sans SC"/>
              </a:defRPr>
            </a:pPr>
            <a:r>
              <a:t>储能电费收益、算力服务费、人工智能概念验证服务费等增值服务收益，将根据双方投入、贡献和市场情况，按约定比例进行分配。</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智慧工地系统收益</a:t>
            </a:r>
          </a:p>
          <a:p>
            <a:pPr>
              <a:defRPr sz="1200">
                <a:solidFill>
                  <a:srgbClr val="64748B"/>
                </a:solidFill>
                <a:latin typeface="Noto Sans SC"/>
              </a:defRPr>
            </a:pPr>
            <a:r>
              <a:t>智慧工地系统的知识产权将归四川能投智慧光电有限公司所有，电子科大科技园人工智能概念验证中心可按服务合同收取研发费用，并在未来系统对外商业化推广中，根据贡献协商收益分成。</a:t>
            </a:r>
          </a:p>
        </p:txBody>
      </p:sp>
      <p:sp>
        <p:nvSpPr>
          <p:cNvPr id="7" name="TextBox 6"/>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22/30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政策支持与资金争取</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国家政策支持</a:t>
            </a:r>
          </a:p>
          <a:p>
            <a:pPr>
              <a:defRPr sz="1200">
                <a:solidFill>
                  <a:srgbClr val="64748B"/>
                </a:solidFill>
                <a:latin typeface="Noto Sans SC"/>
              </a:defRPr>
            </a:pPr>
            <a:r>
              <a:t>积极申请国家新能源、人工智能、智慧城市等相关政策支持，争取专项资金和税收优惠。</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省市级政策</a:t>
            </a:r>
          </a:p>
          <a:p>
            <a:pPr>
              <a:defRPr sz="1200">
                <a:solidFill>
                  <a:srgbClr val="64748B"/>
                </a:solidFill>
                <a:latin typeface="Noto Sans SC"/>
              </a:defRPr>
            </a:pPr>
            <a:r>
              <a:t>争取四川省及成都市在产业发展、科技创新、人才引进等方面的政策扶持和资金支持。</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高校科研基金</a:t>
            </a:r>
          </a:p>
          <a:p>
            <a:pPr>
              <a:defRPr sz="1200">
                <a:solidFill>
                  <a:srgbClr val="64748B"/>
                </a:solidFill>
                <a:latin typeface="Noto Sans SC"/>
              </a:defRPr>
            </a:pPr>
            <a:r>
              <a:t>利用电子科技大学的科研优势，申请各类科研基金和产学研合作项目资金。</a:t>
            </a:r>
          </a:p>
        </p:txBody>
      </p:sp>
      <p:sp>
        <p:nvSpPr>
          <p:cNvPr id="7" name="TextBox 6"/>
          <p:cNvSpPr txBox="1"/>
          <p:nvPr/>
        </p:nvSpPr>
        <p:spPr>
          <a:xfrm>
            <a:off x="914400" y="3017520"/>
            <a:ext cx="2865120" cy="1371600"/>
          </a:xfrm>
          <a:prstGeom prst="rect">
            <a:avLst/>
          </a:prstGeom>
          <a:noFill/>
        </p:spPr>
        <p:txBody>
          <a:bodyPr wrap="none">
            <a:spAutoFit/>
          </a:bodyPr>
          <a:lstStyle/>
          <a:p>
            <a:pPr>
              <a:defRPr sz="1400" b="1">
                <a:solidFill>
                  <a:srgbClr val="3B82F6"/>
                </a:solidFill>
                <a:latin typeface="Noto Sans SC"/>
              </a:defRPr>
            </a:pPr>
            <a:r>
              <a:t>产业基金</a:t>
            </a:r>
          </a:p>
          <a:p>
            <a:pPr>
              <a:defRPr sz="1200">
                <a:solidFill>
                  <a:srgbClr val="64748B"/>
                </a:solidFill>
                <a:latin typeface="Noto Sans SC"/>
              </a:defRPr>
            </a:pPr>
            <a:r>
              <a:t>寻求产业投资基金、创投基金等社会资本的支持，加速项目发展。</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23/30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合作价值与远期展望</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 完成园区基础设施建设</a:t>
            </a:r>
          </a:p>
          <a:p>
            <a:pPr>
              <a:spcAft>
                <a:spcPts val="600"/>
              </a:spcAft>
              <a:defRPr sz="1600">
                <a:solidFill>
                  <a:srgbClr val="1E293B"/>
                </a:solidFill>
                <a:latin typeface="Noto Sans SC"/>
              </a:defRPr>
            </a:pPr>
            <a:r>
              <a:t>• • 智慧工地系统1.0版本上线</a:t>
            </a:r>
          </a:p>
          <a:p>
            <a:pPr>
              <a:spcAft>
                <a:spcPts val="600"/>
              </a:spcAft>
              <a:defRPr sz="1600">
                <a:solidFill>
                  <a:srgbClr val="1E293B"/>
                </a:solidFill>
                <a:latin typeface="Noto Sans SC"/>
              </a:defRPr>
            </a:pPr>
            <a:r>
              <a:t>• • 引入首批入驻企业</a:t>
            </a:r>
          </a:p>
          <a:p>
            <a:pPr>
              <a:spcAft>
                <a:spcPts val="600"/>
              </a:spcAft>
              <a:defRPr sz="1600">
                <a:solidFill>
                  <a:srgbClr val="1E293B"/>
                </a:solidFill>
                <a:latin typeface="Noto Sans SC"/>
              </a:defRPr>
            </a:pPr>
            <a:r>
              <a:t>• • 系统功能持续迭代升级</a:t>
            </a:r>
          </a:p>
          <a:p>
            <a:pPr>
              <a:spcAft>
                <a:spcPts val="600"/>
              </a:spcAft>
              <a:defRPr sz="1600">
                <a:solidFill>
                  <a:srgbClr val="1E293B"/>
                </a:solidFill>
                <a:latin typeface="Noto Sans SC"/>
              </a:defRPr>
            </a:pPr>
            <a:r>
              <a:t>• • 扩大市场推广范围</a:t>
            </a:r>
          </a:p>
          <a:p>
            <a:pPr>
              <a:spcAft>
                <a:spcPts val="600"/>
              </a:spcAft>
              <a:defRPr sz="1600">
                <a:solidFill>
                  <a:srgbClr val="1E293B"/>
                </a:solidFill>
                <a:latin typeface="Noto Sans SC"/>
              </a:defRPr>
            </a:pPr>
            <a:r>
              <a:t>• • 建立行业标准和规范</a:t>
            </a:r>
          </a:p>
          <a:p>
            <a:pPr>
              <a:spcAft>
                <a:spcPts val="600"/>
              </a:spcAft>
              <a:defRPr sz="1600">
                <a:solidFill>
                  <a:srgbClr val="1E293B"/>
                </a:solidFill>
                <a:latin typeface="Noto Sans SC"/>
              </a:defRPr>
            </a:pPr>
            <a:r>
              <a:t>• • 实现全国市场布局</a:t>
            </a:r>
          </a:p>
          <a:p>
            <a:pPr>
              <a:spcAft>
                <a:spcPts val="600"/>
              </a:spcAft>
              <a:defRPr sz="1600">
                <a:solidFill>
                  <a:srgbClr val="1E293B"/>
                </a:solidFill>
                <a:latin typeface="Noto Sans SC"/>
              </a:defRPr>
            </a:pPr>
            <a:r>
              <a:t>• • 技术输出和品牌授权</a:t>
            </a:r>
          </a:p>
        </p:txBody>
      </p:sp>
      <p:sp>
        <p:nvSpPr>
          <p:cNvPr id="5" name="TextBox 4"/>
          <p:cNvSpPr txBox="1"/>
          <p:nvPr/>
        </p:nvSpPr>
        <p:spPr>
          <a:xfrm>
            <a:off x="914400" y="4114800"/>
            <a:ext cx="2865120" cy="1371600"/>
          </a:xfrm>
          <a:prstGeom prst="rect">
            <a:avLst/>
          </a:prstGeom>
          <a:noFill/>
        </p:spPr>
        <p:txBody>
          <a:bodyPr wrap="none">
            <a:spAutoFit/>
          </a:bodyPr>
          <a:lstStyle/>
          <a:p>
            <a:pPr>
              <a:defRPr sz="1400" b="1">
                <a:solidFill>
                  <a:srgbClr val="3B82F6"/>
                </a:solidFill>
                <a:latin typeface="Noto Sans SC"/>
              </a:defRPr>
            </a:pPr>
            <a:r>
              <a:t>产业升级价值</a:t>
            </a:r>
          </a:p>
          <a:p>
            <a:pPr>
              <a:defRPr sz="1200">
                <a:solidFill>
                  <a:srgbClr val="64748B"/>
                </a:solidFill>
                <a:latin typeface="Noto Sans SC"/>
              </a:defRPr>
            </a:pPr>
            <a:r>
              <a:t>通过智慧化改造，推动传统建筑行业向数字化、智能化转型，提升行业整体竞争力和效率。</a:t>
            </a:r>
          </a:p>
        </p:txBody>
      </p:sp>
      <p:sp>
        <p:nvSpPr>
          <p:cNvPr id="6" name="TextBox 5"/>
          <p:cNvSpPr txBox="1"/>
          <p:nvPr/>
        </p:nvSpPr>
        <p:spPr>
          <a:xfrm>
            <a:off x="3962400" y="4114800"/>
            <a:ext cx="2865120" cy="1371600"/>
          </a:xfrm>
          <a:prstGeom prst="rect">
            <a:avLst/>
          </a:prstGeom>
          <a:noFill/>
        </p:spPr>
        <p:txBody>
          <a:bodyPr wrap="none">
            <a:spAutoFit/>
          </a:bodyPr>
          <a:lstStyle/>
          <a:p>
            <a:pPr>
              <a:defRPr sz="1400" b="1">
                <a:solidFill>
                  <a:srgbClr val="3B82F6"/>
                </a:solidFill>
                <a:latin typeface="Noto Sans SC"/>
              </a:defRPr>
            </a:pPr>
            <a:r>
              <a:t>技术创新价值</a:t>
            </a:r>
          </a:p>
          <a:p>
            <a:pPr>
              <a:defRPr sz="1200">
                <a:solidFill>
                  <a:srgbClr val="64748B"/>
                </a:solidFill>
                <a:latin typeface="Noto Sans SC"/>
              </a:defRPr>
            </a:pPr>
            <a:r>
              <a:t>结合人工智能、物联网、大数据等前沿技术，形成具有自主知识产权的智慧工地解决方案。</a:t>
            </a:r>
          </a:p>
        </p:txBody>
      </p:sp>
      <p:sp>
        <p:nvSpPr>
          <p:cNvPr id="7" name="TextBox 6"/>
          <p:cNvSpPr txBox="1"/>
          <p:nvPr/>
        </p:nvSpPr>
        <p:spPr>
          <a:xfrm>
            <a:off x="7010400" y="4114800"/>
            <a:ext cx="2865120" cy="1371600"/>
          </a:xfrm>
          <a:prstGeom prst="rect">
            <a:avLst/>
          </a:prstGeom>
          <a:noFill/>
        </p:spPr>
        <p:txBody>
          <a:bodyPr wrap="none">
            <a:spAutoFit/>
          </a:bodyPr>
          <a:lstStyle/>
          <a:p>
            <a:pPr>
              <a:defRPr sz="1400" b="1">
                <a:solidFill>
                  <a:srgbClr val="3B82F6"/>
                </a:solidFill>
                <a:latin typeface="Noto Sans SC"/>
              </a:defRPr>
            </a:pPr>
            <a:r>
              <a:t>产学研协同价值</a:t>
            </a:r>
          </a:p>
          <a:p>
            <a:pPr>
              <a:defRPr sz="1200">
                <a:solidFill>
                  <a:srgbClr val="64748B"/>
                </a:solidFill>
                <a:latin typeface="Noto Sans SC"/>
              </a:defRPr>
            </a:pPr>
            <a:r>
              <a:t>建立产学研深度融合的创新生态，促进科技成果转化，培养高端技术人才。</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24/30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经济效益分析</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直接经济收益</a:t>
            </a:r>
          </a:p>
          <a:p>
            <a:pPr>
              <a:defRPr sz="1200">
                <a:solidFill>
                  <a:srgbClr val="64748B"/>
                </a:solidFill>
                <a:latin typeface="Noto Sans SC"/>
              </a:defRPr>
            </a:pPr>
            <a:r>
              <a:t>园区租金、增值服务、系统销售等直接收入来源。</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成本节约效益</a:t>
            </a:r>
          </a:p>
          <a:p>
            <a:pPr>
              <a:defRPr sz="1200">
                <a:solidFill>
                  <a:srgbClr val="64748B"/>
                </a:solidFill>
                <a:latin typeface="Noto Sans SC"/>
              </a:defRPr>
            </a:pPr>
            <a:r>
              <a:t>通过智慧化管理实现的成本降低和效率提升。</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品牌价值提升</a:t>
            </a:r>
          </a:p>
          <a:p>
            <a:pPr>
              <a:defRPr sz="1200">
                <a:solidFill>
                  <a:srgbClr val="64748B"/>
                </a:solidFill>
                <a:latin typeface="Noto Sans SC"/>
              </a:defRPr>
            </a:pPr>
            <a:r>
              <a:t>技术领先地位带来的品牌溢价和市场竞争优势。</a:t>
            </a:r>
          </a:p>
        </p:txBody>
      </p:sp>
      <p:sp>
        <p:nvSpPr>
          <p:cNvPr id="7" name="TextBox 6"/>
          <p:cNvSpPr txBox="1"/>
          <p:nvPr/>
        </p:nvSpPr>
        <p:spPr>
          <a:xfrm>
            <a:off x="914400" y="3017520"/>
            <a:ext cx="2865120" cy="1371600"/>
          </a:xfrm>
          <a:prstGeom prst="rect">
            <a:avLst/>
          </a:prstGeom>
          <a:noFill/>
        </p:spPr>
        <p:txBody>
          <a:bodyPr wrap="none">
            <a:spAutoFit/>
          </a:bodyPr>
          <a:lstStyle/>
          <a:p>
            <a:pPr>
              <a:defRPr sz="1400" b="1">
                <a:solidFill>
                  <a:srgbClr val="3B82F6"/>
                </a:solidFill>
                <a:latin typeface="Noto Sans SC"/>
              </a:defRPr>
            </a:pPr>
            <a:r>
              <a:t>长期增长潜力</a:t>
            </a:r>
          </a:p>
          <a:p>
            <a:pPr>
              <a:defRPr sz="1200">
                <a:solidFill>
                  <a:srgbClr val="64748B"/>
                </a:solidFill>
                <a:latin typeface="Noto Sans SC"/>
              </a:defRPr>
            </a:pPr>
            <a:r>
              <a:t>技术积累和市场扩张带来的持续增长空间。</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25/30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社会效益与产业带动</a:t>
            </a:r>
          </a:p>
        </p:txBody>
      </p:sp>
      <p:sp>
        <p:nvSpPr>
          <p:cNvPr id="4" name="TextBox 3"/>
          <p:cNvSpPr txBox="1"/>
          <p:nvPr/>
        </p:nvSpPr>
        <p:spPr>
          <a:xfrm>
            <a:off x="914400" y="1371600"/>
            <a:ext cx="2865120" cy="1371600"/>
          </a:xfrm>
          <a:prstGeom prst="rect">
            <a:avLst/>
          </a:prstGeom>
          <a:noFill/>
        </p:spPr>
        <p:txBody>
          <a:bodyPr wrap="none">
            <a:spAutoFit/>
          </a:bodyPr>
          <a:lstStyle/>
          <a:p>
            <a:pPr>
              <a:defRPr sz="1400" b="1">
                <a:solidFill>
                  <a:srgbClr val="3B82F6"/>
                </a:solidFill>
                <a:latin typeface="Noto Sans SC"/>
              </a:defRPr>
            </a:pPr>
            <a:r>
              <a:t>高端人才培养</a:t>
            </a:r>
          </a:p>
          <a:p>
            <a:pPr>
              <a:defRPr sz="1200">
                <a:solidFill>
                  <a:srgbClr val="64748B"/>
                </a:solidFill>
                <a:latin typeface="Noto Sans SC"/>
              </a:defRPr>
            </a:pPr>
            <a:r>
              <a:t>通过产学研合作，培养智慧建筑、新能源、人工智能等领域的高端技术人才，提升区域人才竞争力</a:t>
            </a:r>
          </a:p>
        </p:txBody>
      </p:sp>
      <p:sp>
        <p:nvSpPr>
          <p:cNvPr id="5" name="TextBox 4"/>
          <p:cNvSpPr txBox="1"/>
          <p:nvPr/>
        </p:nvSpPr>
        <p:spPr>
          <a:xfrm>
            <a:off x="3962400" y="1371600"/>
            <a:ext cx="2865120" cy="1371600"/>
          </a:xfrm>
          <a:prstGeom prst="rect">
            <a:avLst/>
          </a:prstGeom>
          <a:noFill/>
        </p:spPr>
        <p:txBody>
          <a:bodyPr wrap="none">
            <a:spAutoFit/>
          </a:bodyPr>
          <a:lstStyle/>
          <a:p>
            <a:pPr>
              <a:defRPr sz="1400" b="1">
                <a:solidFill>
                  <a:srgbClr val="3B82F6"/>
                </a:solidFill>
                <a:latin typeface="Noto Sans SC"/>
              </a:defRPr>
            </a:pPr>
            <a:r>
              <a:t>就业岗位创造</a:t>
            </a:r>
          </a:p>
          <a:p>
            <a:pPr>
              <a:defRPr sz="1200">
                <a:solidFill>
                  <a:srgbClr val="64748B"/>
                </a:solidFill>
                <a:latin typeface="Noto Sans SC"/>
              </a:defRPr>
            </a:pPr>
            <a:r>
              <a:t>项目建设和运营将创造大量就业机会，包括技术研发、项目管理、运营维护等多个层次的岗位</a:t>
            </a:r>
          </a:p>
        </p:txBody>
      </p:sp>
      <p:sp>
        <p:nvSpPr>
          <p:cNvPr id="6" name="TextBox 5"/>
          <p:cNvSpPr txBox="1"/>
          <p:nvPr/>
        </p:nvSpPr>
        <p:spPr>
          <a:xfrm>
            <a:off x="7010400" y="1371600"/>
            <a:ext cx="2865120" cy="1371600"/>
          </a:xfrm>
          <a:prstGeom prst="rect">
            <a:avLst/>
          </a:prstGeom>
          <a:noFill/>
        </p:spPr>
        <p:txBody>
          <a:bodyPr wrap="none">
            <a:spAutoFit/>
          </a:bodyPr>
          <a:lstStyle/>
          <a:p>
            <a:pPr>
              <a:defRPr sz="1400" b="1">
                <a:solidFill>
                  <a:srgbClr val="3B82F6"/>
                </a:solidFill>
                <a:latin typeface="Noto Sans SC"/>
              </a:defRPr>
            </a:pPr>
            <a:r>
              <a:t>产业链升级</a:t>
            </a:r>
          </a:p>
          <a:p>
            <a:pPr>
              <a:defRPr sz="1200">
                <a:solidFill>
                  <a:srgbClr val="64748B"/>
                </a:solidFill>
                <a:latin typeface="Noto Sans SC"/>
              </a:defRPr>
            </a:pPr>
            <a:r>
              <a:t>推动传统建筑业向智慧建筑转型，带动上下游产业链协同发展，提升整体产业竞争力</a:t>
            </a:r>
          </a:p>
        </p:txBody>
      </p:sp>
      <p:sp>
        <p:nvSpPr>
          <p:cNvPr id="7" name="TextBox 6"/>
          <p:cNvSpPr txBox="1"/>
          <p:nvPr/>
        </p:nvSpPr>
        <p:spPr>
          <a:xfrm>
            <a:off x="914400" y="3017520"/>
            <a:ext cx="2865120" cy="1371600"/>
          </a:xfrm>
          <a:prstGeom prst="rect">
            <a:avLst/>
          </a:prstGeom>
          <a:noFill/>
        </p:spPr>
        <p:txBody>
          <a:bodyPr wrap="none">
            <a:spAutoFit/>
          </a:bodyPr>
          <a:lstStyle/>
          <a:p>
            <a:pPr>
              <a:defRPr sz="1400" b="1">
                <a:solidFill>
                  <a:srgbClr val="3B82F6"/>
                </a:solidFill>
                <a:latin typeface="Noto Sans SC"/>
              </a:defRPr>
            </a:pPr>
            <a:r>
              <a:t>技术创新推动</a:t>
            </a:r>
          </a:p>
          <a:p>
            <a:pPr>
              <a:defRPr sz="1200">
                <a:solidFill>
                  <a:srgbClr val="64748B"/>
                </a:solidFill>
                <a:latin typeface="Noto Sans SC"/>
              </a:defRPr>
            </a:pPr>
            <a:r>
              <a:t>促进新技术研发和应用，形成技术创新生态，推动相关产业技术进步和产品升级</a:t>
            </a:r>
          </a:p>
        </p:txBody>
      </p:sp>
      <p:sp>
        <p:nvSpPr>
          <p:cNvPr id="8" name="TextBox 7"/>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26/30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风险评估与应对措施</a:t>
            </a:r>
          </a:p>
        </p:txBody>
      </p:sp>
      <p:sp>
        <p:nvSpPr>
          <p:cNvPr id="4" name="TextBox 3"/>
          <p:cNvSpPr txBox="1"/>
          <p:nvPr/>
        </p:nvSpPr>
        <p:spPr>
          <a:xfrm>
            <a:off x="914400" y="1371600"/>
            <a:ext cx="9144000" cy="4114800"/>
          </a:xfrm>
          <a:prstGeom prst="rect">
            <a:avLst/>
          </a:prstGeom>
          <a:noFill/>
        </p:spPr>
        <p:txBody>
          <a:bodyPr wrap="none">
            <a:spAutoFit/>
          </a:bodyPr>
          <a:lstStyle/>
          <a:p>
            <a:pPr>
              <a:spcAft>
                <a:spcPts val="600"/>
              </a:spcAft>
              <a:defRPr sz="1400">
                <a:solidFill>
                  <a:srgbClr val="1E293B"/>
                </a:solidFill>
                <a:latin typeface="Noto Sans SC"/>
              </a:defRPr>
            </a:pPr>
            <a:r>
              <a:t>建立技术专家团队，制定详细测试方案，分阶段实施技术验证</a:t>
            </a:r>
          </a:p>
          <a:p>
            <a:pPr>
              <a:spcAft>
                <a:spcPts val="600"/>
              </a:spcAft>
              <a:defRPr sz="1400">
                <a:solidFill>
                  <a:srgbClr val="1E293B"/>
                </a:solidFill>
                <a:latin typeface="Noto Sans SC"/>
              </a:defRPr>
            </a:pPr>
            <a:r>
              <a:t>深入市场调研，建立灵活的商业模式，加强品牌建设和客户关系维护</a:t>
            </a:r>
          </a:p>
          <a:p>
            <a:pPr>
              <a:spcAft>
                <a:spcPts val="600"/>
              </a:spcAft>
              <a:defRPr sz="1400">
                <a:solidFill>
                  <a:srgbClr val="1E293B"/>
                </a:solidFill>
                <a:latin typeface="Noto Sans SC"/>
              </a:defRPr>
            </a:pPr>
            <a:r>
              <a:t>密切关注政策动向，建立政府沟通机制，确保项目符合政策导向</a:t>
            </a:r>
          </a:p>
          <a:p>
            <a:pPr>
              <a:spcAft>
                <a:spcPts val="600"/>
              </a:spcAft>
              <a:defRPr sz="1400">
                <a:solidFill>
                  <a:srgbClr val="1E293B"/>
                </a:solidFill>
                <a:latin typeface="Noto Sans SC"/>
              </a:defRPr>
            </a:pPr>
            <a:r>
              <a:t>多元化融资渠道，建立资金监控机制，制定应急资金预案</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27/30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实施时间表与里程碑</a:t>
            </a:r>
          </a:p>
        </p:txBody>
      </p:sp>
      <p:sp>
        <p:nvSpPr>
          <p:cNvPr id="4" name="TextBox 3"/>
          <p:cNvSpPr txBox="1"/>
          <p:nvPr/>
        </p:nvSpPr>
        <p:spPr>
          <a:xfrm>
            <a:off x="914400" y="1371600"/>
            <a:ext cx="9144000" cy="3657600"/>
          </a:xfrm>
          <a:prstGeom prst="rect">
            <a:avLst/>
          </a:prstGeom>
          <a:noFill/>
        </p:spPr>
        <p:txBody>
          <a:bodyPr wrap="none">
            <a:spAutoFit/>
          </a:bodyPr>
          <a:lstStyle/>
          <a:p>
            <a:pPr>
              <a:spcAft>
                <a:spcPts val="600"/>
              </a:spcAft>
              <a:defRPr sz="1600">
                <a:solidFill>
                  <a:srgbClr val="1E293B"/>
                </a:solidFill>
                <a:latin typeface="Noto Sans SC"/>
              </a:defRPr>
            </a:pPr>
            <a:r>
              <a:t>• • 签署合作协议（1月）</a:t>
            </a:r>
          </a:p>
          <a:p>
            <a:pPr>
              <a:spcAft>
                <a:spcPts val="600"/>
              </a:spcAft>
              <a:defRPr sz="1600">
                <a:solidFill>
                  <a:srgbClr val="1E293B"/>
                </a:solidFill>
                <a:latin typeface="Noto Sans SC"/>
              </a:defRPr>
            </a:pPr>
            <a:r>
              <a:t>• • 完成场地选址和规划（3月）</a:t>
            </a:r>
          </a:p>
          <a:p>
            <a:pPr>
              <a:spcAft>
                <a:spcPts val="600"/>
              </a:spcAft>
              <a:defRPr sz="1600">
                <a:solidFill>
                  <a:srgbClr val="1E293B"/>
                </a:solidFill>
                <a:latin typeface="Noto Sans SC"/>
              </a:defRPr>
            </a:pPr>
            <a:r>
              <a:t>• • 核心团队到位（4月）</a:t>
            </a:r>
          </a:p>
          <a:p>
            <a:pPr>
              <a:spcAft>
                <a:spcPts val="600"/>
              </a:spcAft>
              <a:defRPr sz="1600">
                <a:solidFill>
                  <a:srgbClr val="1E293B"/>
                </a:solidFill>
                <a:latin typeface="Noto Sans SC"/>
              </a:defRPr>
            </a:pPr>
            <a:r>
              <a:t>• • 基础设施建设启动（6月）</a:t>
            </a:r>
          </a:p>
          <a:p>
            <a:pPr>
              <a:spcAft>
                <a:spcPts val="600"/>
              </a:spcAft>
              <a:defRPr sz="1600">
                <a:solidFill>
                  <a:srgbClr val="1E293B"/>
                </a:solidFill>
                <a:latin typeface="Noto Sans SC"/>
              </a:defRPr>
            </a:pPr>
            <a:r>
              <a:t>• • 技术平台搭建完成（9月）</a:t>
            </a:r>
          </a:p>
          <a:p>
            <a:pPr>
              <a:spcAft>
                <a:spcPts val="600"/>
              </a:spcAft>
              <a:defRPr sz="1600">
                <a:solidFill>
                  <a:srgbClr val="1E293B"/>
                </a:solidFill>
                <a:latin typeface="Noto Sans SC"/>
              </a:defRPr>
            </a:pPr>
            <a:r>
              <a:t>• • 首个示范项目启动（10月）</a:t>
            </a:r>
          </a:p>
          <a:p>
            <a:pPr>
              <a:spcAft>
                <a:spcPts val="600"/>
              </a:spcAft>
              <a:defRPr sz="1600">
                <a:solidFill>
                  <a:srgbClr val="1E293B"/>
                </a:solidFill>
                <a:latin typeface="Noto Sans SC"/>
              </a:defRPr>
            </a:pPr>
            <a:r>
              <a:t>• • 产品原型开发完成（12月）</a:t>
            </a:r>
          </a:p>
          <a:p>
            <a:pPr>
              <a:spcAft>
                <a:spcPts val="600"/>
              </a:spcAft>
              <a:defRPr sz="1600">
                <a:solidFill>
                  <a:srgbClr val="1E293B"/>
                </a:solidFill>
                <a:latin typeface="Noto Sans SC"/>
              </a:defRPr>
            </a:pPr>
            <a:r>
              <a:t>• • 产品正式发布（3月）</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28/30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9144000" cy="914400"/>
          </a:xfrm>
          <a:prstGeom prst="rect">
            <a:avLst/>
          </a:prstGeom>
          <a:noFill/>
        </p:spPr>
        <p:txBody>
          <a:bodyPr wrap="none">
            <a:spAutoFit/>
          </a:bodyPr>
          <a:lstStyle/>
          <a:p>
            <a:pPr>
              <a:defRPr sz="2800" b="1">
                <a:solidFill>
                  <a:srgbClr val="1E293B"/>
                </a:solidFill>
                <a:latin typeface="Noto Sans SC"/>
              </a:defRPr>
            </a:pPr>
            <a:r>
              <a:t>结论与建议</a:t>
            </a:r>
          </a:p>
        </p:txBody>
      </p:sp>
      <p:sp>
        <p:nvSpPr>
          <p:cNvPr id="4" name="TextBox 3"/>
          <p:cNvSpPr txBox="1"/>
          <p:nvPr/>
        </p:nvSpPr>
        <p:spPr>
          <a:xfrm>
            <a:off x="914400" y="1371600"/>
            <a:ext cx="9144000" cy="4114800"/>
          </a:xfrm>
          <a:prstGeom prst="rect">
            <a:avLst/>
          </a:prstGeom>
          <a:noFill/>
        </p:spPr>
        <p:txBody>
          <a:bodyPr wrap="none">
            <a:spAutoFit/>
          </a:bodyPr>
          <a:lstStyle/>
          <a:p>
            <a:pPr>
              <a:spcAft>
                <a:spcPts val="600"/>
              </a:spcAft>
              <a:defRPr sz="1400">
                <a:solidFill>
                  <a:srgbClr val="1E293B"/>
                </a:solidFill>
                <a:latin typeface="Noto Sans SC"/>
              </a:defRPr>
            </a:pPr>
            <a:r>
              <a:t>建议在2025年第一季度正式启动合作，抢占市场先机</a:t>
            </a:r>
          </a:p>
          <a:p>
            <a:pPr>
              <a:spcAft>
                <a:spcPts val="600"/>
              </a:spcAft>
              <a:defRPr sz="1400">
                <a:solidFill>
                  <a:srgbClr val="1E293B"/>
                </a:solidFill>
                <a:latin typeface="Noto Sans SC"/>
              </a:defRPr>
            </a:pPr>
            <a:r>
              <a:t>成立专门的项目推进小组，确保高效协调和执行</a:t>
            </a:r>
          </a:p>
          <a:p>
            <a:pPr>
              <a:spcAft>
                <a:spcPts val="600"/>
              </a:spcAft>
              <a:defRPr sz="1400">
                <a:solidFill>
                  <a:srgbClr val="1E293B"/>
                </a:solidFill>
                <a:latin typeface="Noto Sans SC"/>
              </a:defRPr>
            </a:pPr>
            <a:r>
              <a:t>建立多元化融资机制，确保项目资金需求得到满足</a:t>
            </a:r>
          </a:p>
          <a:p>
            <a:pPr>
              <a:spcAft>
                <a:spcPts val="600"/>
              </a:spcAft>
              <a:defRPr sz="1400">
                <a:solidFill>
                  <a:srgbClr val="1E293B"/>
                </a:solidFill>
                <a:latin typeface="Noto Sans SC"/>
              </a:defRPr>
            </a:pPr>
            <a:r>
              <a:t>建立完善的风险评估和应对机制，确保项目稳健推进</a:t>
            </a:r>
          </a:p>
        </p:txBody>
      </p:sp>
      <p:sp>
        <p:nvSpPr>
          <p:cNvPr id="5" name="TextBox 4"/>
          <p:cNvSpPr txBox="1"/>
          <p:nvPr/>
        </p:nvSpPr>
        <p:spPr>
          <a:xfrm>
            <a:off x="9144000" y="5943600"/>
            <a:ext cx="1828800" cy="457200"/>
          </a:xfrm>
          <a:prstGeom prst="rect">
            <a:avLst/>
          </a:prstGeom>
          <a:noFill/>
        </p:spPr>
        <p:txBody>
          <a:bodyPr wrap="none">
            <a:spAutoFit/>
          </a:bodyPr>
          <a:lstStyle/>
          <a:p>
            <a:pPr algn="r">
              <a:defRPr sz="1200">
                <a:solidFill>
                  <a:srgbClr val="64748B"/>
                </a:solidFill>
                <a:latin typeface="Noto Sans SC"/>
              </a:defRPr>
            </a:pPr>
            <a:r>
              <a:t>29/30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0" y="2286000"/>
            <a:ext cx="3657600" cy="1371600"/>
          </a:xfrm>
          <a:prstGeom prst="rect">
            <a:avLst/>
          </a:prstGeom>
          <a:noFill/>
        </p:spPr>
        <p:txBody>
          <a:bodyPr wrap="none">
            <a:spAutoFit/>
          </a:bodyPr>
          <a:lstStyle/>
          <a:p>
            <a:pPr algn="ctr">
              <a:defRPr sz="4800" b="1">
                <a:solidFill>
                  <a:srgbClr val="3B82F6"/>
                </a:solidFill>
                <a:latin typeface="Noto Sans SC"/>
              </a:defRPr>
            </a:pPr>
            <a:r>
              <a:t>谢谢</a:t>
            </a:r>
          </a:p>
        </p:txBody>
      </p:sp>
      <p:sp>
        <p:nvSpPr>
          <p:cNvPr id="4" name="TextBox 3"/>
          <p:cNvSpPr txBox="1"/>
          <p:nvPr/>
        </p:nvSpPr>
        <p:spPr>
          <a:xfrm>
            <a:off x="2743200" y="3657600"/>
            <a:ext cx="5486400" cy="914400"/>
          </a:xfrm>
          <a:prstGeom prst="rect">
            <a:avLst/>
          </a:prstGeom>
          <a:noFill/>
        </p:spPr>
        <p:txBody>
          <a:bodyPr wrap="none">
            <a:spAutoFit/>
          </a:bodyPr>
          <a:lstStyle/>
          <a:p>
            <a:pPr algn="ctr">
              <a:defRPr sz="2000">
                <a:solidFill>
                  <a:srgbClr val="1E293B"/>
                </a:solidFill>
                <a:latin typeface="Noto Sans SC"/>
              </a:defRPr>
            </a:pPr>
            <a:r>
              <a:t>感谢您的关注与支持</a:t>
            </a:r>
          </a:p>
        </p:txBody>
      </p:sp>
      <p:sp>
        <p:nvSpPr>
          <p:cNvPr id="5" name="TextBox 4"/>
          <p:cNvSpPr txBox="1"/>
          <p:nvPr/>
        </p:nvSpPr>
        <p:spPr>
          <a:xfrm>
            <a:off x="1828800" y="4572000"/>
            <a:ext cx="7315200" cy="1371600"/>
          </a:xfrm>
          <a:prstGeom prst="rect">
            <a:avLst/>
          </a:prstGeom>
          <a:noFill/>
        </p:spPr>
        <p:txBody>
          <a:bodyPr wrap="none">
            <a:spAutoFit/>
          </a:bodyPr>
          <a:lstStyle/>
          <a:p>
            <a:pPr algn="ctr">
              <a:spcAft>
                <a:spcPts val="800"/>
              </a:spcAft>
              <a:defRPr sz="1600">
                <a:solidFill>
                  <a:srgbClr val="64748B"/>
                </a:solidFill>
                <a:latin typeface="Noto Sans SC"/>
              </a:defRPr>
            </a:pPr>
            <a:r>
              <a:t>四川能投智慧光电有限公司</a:t>
            </a:r>
          </a:p>
          <a:p>
            <a:pPr algn="ctr">
              <a:spcAft>
                <a:spcPts val="800"/>
              </a:spcAft>
              <a:defRPr sz="1600">
                <a:solidFill>
                  <a:srgbClr val="64748B"/>
                </a:solidFill>
                <a:latin typeface="Noto Sans SC"/>
              </a:defRPr>
            </a:pPr>
            <a:r>
              <a:t>电子科技大学</a:t>
            </a:r>
          </a:p>
          <a:p>
            <a:pPr algn="ctr">
              <a:spcAft>
                <a:spcPts val="800"/>
              </a:spcAft>
              <a:defRPr sz="1600">
                <a:solidFill>
                  <a:srgbClr val="64748B"/>
                </a:solidFill>
                <a:latin typeface="Noto Sans SC"/>
              </a:defRPr>
            </a:pPr>
            <a:r>
              <a:t>合作共赢 · 智创未来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